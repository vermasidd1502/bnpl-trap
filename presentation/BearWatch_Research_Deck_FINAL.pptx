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4" r:id="rId2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00" autoAdjust="0"/>
    <p:restoredTop sz="94660"/>
  </p:normalViewPr>
  <p:slideViewPr>
    <p:cSldViewPr snapToGrid="0" snapToObjects="1">
      <p:cViewPr varScale="1">
        <p:scale>
          <a:sx n="75" d="100"/>
          <a:sy n="75" d="100"/>
        </p:scale>
        <p:origin x="309" y="3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AF6EC"/>
              </a:gs>
              <a:gs pos="100000">
                <a:srgbClr val="E9DFC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llinois-Logo-No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1487" y="640080"/>
            <a:ext cx="1440180" cy="96012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77240" y="1965960"/>
            <a:ext cx="10637215" cy="36576"/>
          </a:xfrm>
          <a:prstGeom prst="rect">
            <a:avLst/>
          </a:prstGeom>
          <a:solidFill>
            <a:srgbClr val="E84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1063721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4800" b="1" i="0" dirty="0">
                <a:solidFill>
                  <a:srgbClr val="1F1B16"/>
                </a:solidFill>
                <a:latin typeface="Cambria"/>
              </a:rPr>
              <a:t>Alternative-Data Leading Indicators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108960"/>
            <a:ext cx="1063721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4800" b="1" i="0">
                <a:solidFill>
                  <a:srgbClr val="B83518"/>
                </a:solidFill>
                <a:latin typeface="Cambria"/>
              </a:rPr>
              <a:t>of Consumer-Credit Distress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>
                <a:solidFill>
                  <a:srgbClr val="E84A27"/>
                </a:solidFill>
                <a:latin typeface="Consolas"/>
              </a:rPr>
              <a:t>WORKING PAPER  ·  EMPIRICAL FINANCE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114800"/>
            <a:ext cx="10637215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1" i="0">
                <a:solidFill>
                  <a:srgbClr val="1F1B16"/>
                </a:solidFill>
                <a:latin typeface="Segoe UI"/>
              </a:rPr>
              <a:t>An empirical investigation of the Behavioural Stress Index across 27 consumer-credit issuers, 2019–2026.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34440" y="4754880"/>
            <a:ext cx="9722815" cy="914400"/>
          </a:xfrm>
          <a:prstGeom prst="roundRect">
            <a:avLst>
              <a:gd name="adj" fmla="val 3000"/>
            </a:avLst>
          </a:prstGeom>
          <a:solidFill>
            <a:srgbClr val="F4C0A8"/>
          </a:solidFill>
          <a:ln w="15240">
            <a:solidFill>
              <a:srgbClr val="E84A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234440" y="4864608"/>
            <a:ext cx="97228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1" i="0">
                <a:solidFill>
                  <a:srgbClr val="B83518"/>
                </a:solidFill>
                <a:latin typeface="Consolas"/>
              </a:rPr>
              <a:t>UNSECURED NON-BANK CONSUMER CREDIT  ·  installment lending / Buy Now, Pay Later (BNPL)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5257800"/>
            <a:ext cx="97228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>
                <a:solidFill>
                  <a:srgbClr val="B83518"/>
                </a:solidFill>
                <a:latin typeface="Segoe UI"/>
              </a:rPr>
              <a:t>BNPL  ·  Subprime Auto  ·  Marketplace Lending  ·  Consumer Finance  ·  Card Monolines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77240" y="5669280"/>
            <a:ext cx="10637215" cy="0"/>
          </a:xfrm>
          <a:prstGeom prst="line">
            <a:avLst/>
          </a:prstGeom>
          <a:ln w="15240">
            <a:solidFill>
              <a:srgbClr val="C0B1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77240" y="5897880"/>
            <a:ext cx="1063721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600" b="1" i="0">
                <a:solidFill>
                  <a:srgbClr val="1F1B16"/>
                </a:solidFill>
                <a:latin typeface="Segoe UI"/>
              </a:rPr>
              <a:t>Siddharth Verma</a:t>
            </a:r>
          </a:p>
          <a:p>
            <a:pPr algn="ctr">
              <a:lnSpc>
                <a:spcPct val="140000"/>
              </a:lnSpc>
            </a:pPr>
            <a:r>
              <a:rPr sz="1200" b="1" i="0">
                <a:solidFill>
                  <a:srgbClr val="5A5247"/>
                </a:solidFill>
                <a:latin typeface="Consolas"/>
              </a:rPr>
              <a:t>FIN 580  ·  University of Illinois Urbana-Champaign  ·  Spring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AF6EC"/>
              </a:gs>
              <a:gs pos="100000">
                <a:srgbClr val="E9DFC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4A6E8F"/>
                </a:solidFill>
                <a:latin typeface="Consolas"/>
              </a:rPr>
              <a:t>FOUNDATION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94360"/>
            <a:ext cx="502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4A6E8F"/>
                </a:solidFill>
                <a:latin typeface="Consolas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621792"/>
            <a:ext cx="10042855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RESEARCH MOTIVATION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960120"/>
            <a:ext cx="10637215" cy="0"/>
          </a:xfrm>
          <a:prstGeom prst="line">
            <a:avLst/>
          </a:prstGeom>
          <a:ln w="17780">
            <a:solidFill>
              <a:srgbClr val="4A6E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27590" y="1143000"/>
            <a:ext cx="11530874" cy="5932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 dirty="0">
                <a:solidFill>
                  <a:srgbClr val="1F1B16"/>
                </a:solidFill>
                <a:latin typeface="Cambria"/>
              </a:rPr>
              <a:t>An untested application of an established literature.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106372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5A5247"/>
                </a:solidFill>
                <a:latin typeface="Segoe UI"/>
              </a:rPr>
              <a:t>CFPB-as-distress-predictor exists for banks — not for unsecured non-bank consumer credit (installment lending / BNPL).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697480"/>
            <a:ext cx="2522143" cy="960120"/>
          </a:xfrm>
          <a:prstGeom prst="roundRect">
            <a:avLst>
              <a:gd name="adj" fmla="val 3000"/>
            </a:avLst>
          </a:prstGeom>
          <a:solidFill>
            <a:srgbClr val="F4C0A8"/>
          </a:solidFill>
          <a:ln w="15240">
            <a:solidFill>
              <a:srgbClr val="E84A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2788920"/>
            <a:ext cx="2522143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>
                <a:solidFill>
                  <a:srgbClr val="B83518"/>
                </a:solidFill>
                <a:latin typeface="Cambria"/>
              </a:rPr>
              <a:t>2.4×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200400"/>
            <a:ext cx="233926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F1B16"/>
                </a:solidFill>
                <a:latin typeface="Segoe UI"/>
              </a:rPr>
              <a:t>more likely subprime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410712"/>
            <a:ext cx="233926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>
                <a:solidFill>
                  <a:srgbClr val="5A5247"/>
                </a:solidFill>
                <a:latin typeface="Consolas"/>
              </a:rPr>
              <a:t>TransUnion 2024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82263" y="2697480"/>
            <a:ext cx="2522143" cy="960120"/>
          </a:xfrm>
          <a:prstGeom prst="roundRect">
            <a:avLst>
              <a:gd name="adj" fmla="val 3000"/>
            </a:avLst>
          </a:prstGeom>
          <a:solidFill>
            <a:srgbClr val="F4C0A8"/>
          </a:solidFill>
          <a:ln w="15240">
            <a:solidFill>
              <a:srgbClr val="E84A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482263" y="2788920"/>
            <a:ext cx="2522143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>
                <a:solidFill>
                  <a:srgbClr val="B83518"/>
                </a:solidFill>
                <a:latin typeface="Cambria"/>
              </a:rPr>
              <a:t>10.5%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73703" y="3200400"/>
            <a:ext cx="233926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F1B16"/>
                </a:solidFill>
                <a:latin typeface="Segoe UI"/>
              </a:rPr>
              <a:t>BNPL late-payment rate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73703" y="3410712"/>
            <a:ext cx="233926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>
                <a:solidFill>
                  <a:srgbClr val="5A5247"/>
                </a:solidFill>
                <a:latin typeface="Consolas"/>
              </a:rPr>
              <a:t>CFPB 2021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7287" y="2697480"/>
            <a:ext cx="2522143" cy="960120"/>
          </a:xfrm>
          <a:prstGeom prst="roundRect">
            <a:avLst>
              <a:gd name="adj" fmla="val 3000"/>
            </a:avLst>
          </a:prstGeom>
          <a:solidFill>
            <a:srgbClr val="F4C0A8"/>
          </a:solidFill>
          <a:ln w="15240">
            <a:solidFill>
              <a:srgbClr val="E84A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187287" y="2788920"/>
            <a:ext cx="2522143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>
                <a:solidFill>
                  <a:srgbClr val="B83518"/>
                </a:solidFill>
                <a:latin typeface="Cambria"/>
              </a:rPr>
              <a:t>34→39→42%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8727" y="3200400"/>
            <a:ext cx="233926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F1B16"/>
                </a:solidFill>
                <a:latin typeface="Segoe UI"/>
              </a:rPr>
              <a:t>industry late-pay traj.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8727" y="3410712"/>
            <a:ext cx="233926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>
                <a:solidFill>
                  <a:srgbClr val="5A5247"/>
                </a:solidFill>
                <a:latin typeface="Consolas"/>
              </a:rPr>
              <a:t>2023 → 2024 → 2025e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892311" y="2697480"/>
            <a:ext cx="2522143" cy="960120"/>
          </a:xfrm>
          <a:prstGeom prst="roundRect">
            <a:avLst>
              <a:gd name="adj" fmla="val 3000"/>
            </a:avLst>
          </a:prstGeom>
          <a:solidFill>
            <a:srgbClr val="F4C0A8"/>
          </a:solidFill>
          <a:ln w="15240">
            <a:solidFill>
              <a:srgbClr val="E84A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892311" y="2788920"/>
            <a:ext cx="2522143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>
                <a:solidFill>
                  <a:srgbClr val="B83518"/>
                </a:solidFill>
                <a:latin typeface="Cambria"/>
              </a:rPr>
              <a:t>Nov 2023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83751" y="3200400"/>
            <a:ext cx="233926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F1B16"/>
                </a:solidFill>
                <a:latin typeface="Segoe UI"/>
              </a:rPr>
              <a:t>Fed flagged segment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83751" y="3410712"/>
            <a:ext cx="233926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>
                <a:solidFill>
                  <a:srgbClr val="5A5247"/>
                </a:solidFill>
                <a:latin typeface="Consolas"/>
              </a:rPr>
              <a:t>Financial Stability Report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3886200"/>
            <a:ext cx="5135727" cy="219456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9525">
            <a:solidFill>
              <a:srgbClr val="D8CB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51560" y="3995928"/>
            <a:ext cx="513572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2D7A4F"/>
                </a:solidFill>
                <a:latin typeface="Consolas"/>
              </a:rPr>
              <a:t>ESTABLISHED  ·  CFPB → bank distress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" y="4343400"/>
            <a:ext cx="4587087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300" b="1" i="0">
                <a:solidFill>
                  <a:srgbClr val="1F1B16"/>
                </a:solidFill>
                <a:latin typeface="Segoe UI"/>
              </a:rPr>
              <a:t>Begley &amp; Purnanandam (2021, RFS)</a:t>
            </a:r>
          </a:p>
          <a:p>
            <a:pPr algn="l">
              <a:lnSpc>
                <a:spcPct val="140000"/>
              </a:lnSpc>
              <a:spcBef>
                <a:spcPts val="200"/>
              </a:spcBef>
            </a:pPr>
            <a:r>
              <a:rPr sz="1200" b="1" i="0">
                <a:solidFill>
                  <a:srgbClr val="5A5247"/>
                </a:solidFill>
                <a:latin typeface="Segoe UI"/>
              </a:rPr>
              <a:t>Complaint quality predicts regulatory action.</a:t>
            </a:r>
          </a:p>
          <a:p>
            <a:pPr algn="l">
              <a:lnSpc>
                <a:spcPct val="140000"/>
              </a:lnSpc>
              <a:spcBef>
                <a:spcPts val="800"/>
              </a:spcBef>
            </a:pPr>
            <a:r>
              <a:rPr sz="1300" b="1" i="0">
                <a:solidFill>
                  <a:srgbClr val="1F1B16"/>
                </a:solidFill>
                <a:latin typeface="Segoe UI"/>
              </a:rPr>
              <a:t>Dou &amp; Wang (2023)</a:t>
            </a:r>
          </a:p>
          <a:p>
            <a:pPr algn="l">
              <a:lnSpc>
                <a:spcPct val="140000"/>
              </a:lnSpc>
              <a:spcBef>
                <a:spcPts val="200"/>
              </a:spcBef>
            </a:pPr>
            <a:r>
              <a:rPr sz="1200" b="1" i="0">
                <a:solidFill>
                  <a:srgbClr val="5A5247"/>
                </a:solidFill>
                <a:latin typeface="Segoe UI"/>
              </a:rPr>
              <a:t>Complaint volume predicts bank loan losses 2-4 q ahead.</a:t>
            </a:r>
          </a:p>
          <a:p>
            <a:pPr algn="l">
              <a:lnSpc>
                <a:spcPct val="140000"/>
              </a:lnSpc>
              <a:spcBef>
                <a:spcPts val="800"/>
              </a:spcBef>
            </a:pPr>
            <a:r>
              <a:rPr sz="1300" b="1" i="0">
                <a:solidFill>
                  <a:srgbClr val="1F1B16"/>
                </a:solidFill>
                <a:latin typeface="Segoe UI"/>
              </a:rPr>
              <a:t>Hayes, Jiang &amp; Pan (2021)</a:t>
            </a:r>
          </a:p>
          <a:p>
            <a:pPr algn="l">
              <a:lnSpc>
                <a:spcPct val="140000"/>
              </a:lnSpc>
              <a:spcBef>
                <a:spcPts val="200"/>
              </a:spcBef>
            </a:pPr>
            <a:r>
              <a:rPr sz="1200" b="1" i="0">
                <a:solidFill>
                  <a:srgbClr val="5A5247"/>
                </a:solidFill>
                <a:latin typeface="Segoe UI"/>
              </a:rPr>
              <a:t>Complaint metadata predicts supervisory outcomes.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78727" y="3886200"/>
            <a:ext cx="5135727" cy="219456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19050">
            <a:solidFill>
              <a:srgbClr val="E84A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553047" y="3995928"/>
            <a:ext cx="513572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E84A27"/>
                </a:solidFill>
                <a:latin typeface="Consolas"/>
              </a:rPr>
              <a:t>OPEN QUESTION  ·  this paper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53047" y="4343400"/>
            <a:ext cx="4587087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1500" b="1" i="0">
                <a:solidFill>
                  <a:srgbClr val="1F1B16"/>
                </a:solidFill>
                <a:latin typeface="Segoe UI"/>
              </a:rPr>
              <a:t>Does the result generalise to non-bank consumer credit?</a:t>
            </a:r>
          </a:p>
          <a:p>
            <a:pPr algn="l">
              <a:lnSpc>
                <a:spcPct val="150000"/>
              </a:lnSpc>
              <a:spcBef>
                <a:spcPts val="1200"/>
              </a:spcBef>
            </a:pPr>
            <a:r>
              <a:rPr sz="1200" b="1" i="0">
                <a:solidFill>
                  <a:srgbClr val="5A5247"/>
                </a:solidFill>
                <a:latin typeface="Segoe UI"/>
              </a:rPr>
              <a:t>Methodological gap — no prior multi-pillar fusion.</a:t>
            </a:r>
          </a:p>
          <a:p>
            <a:pPr algn="l">
              <a:lnSpc>
                <a:spcPct val="150000"/>
              </a:lnSpc>
              <a:spcBef>
                <a:spcPts val="600"/>
              </a:spcBef>
            </a:pPr>
            <a:r>
              <a:rPr sz="1100" b="1" i="0">
                <a:solidFill>
                  <a:srgbClr val="5A5247"/>
                </a:solidFill>
                <a:latin typeface="Segoe UI"/>
              </a:rPr>
              <a:t>Published CFPB work uses one alt-data source at a time. We fuse CFPB with seven additional pillars under pre-registered weights.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644652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8C8476"/>
                </a:solidFill>
                <a:latin typeface="Consolas"/>
              </a:rPr>
              <a:t>BearWatch BSI  ·  FIN 580  ·  Spring 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62895" y="644652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8C8476"/>
                </a:solidFill>
                <a:latin typeface="Consolas"/>
              </a:rPr>
              <a:t>02 / 29</a:t>
            </a:r>
          </a:p>
        </p:txBody>
      </p:sp>
      <p:pic>
        <p:nvPicPr>
          <p:cNvPr id="33" name="Picture 32" descr="Illinois-Logo-No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1575" y="6355080"/>
            <a:ext cx="54864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AF6EC"/>
              </a:gs>
              <a:gs pos="100000">
                <a:srgbClr val="E9DFC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4A6E8F"/>
                </a:solidFill>
                <a:latin typeface="Consolas"/>
              </a:rPr>
              <a:t>FOUNDATION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94360"/>
            <a:ext cx="502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4A6E8F"/>
                </a:solidFill>
                <a:latin typeface="Consolas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621792"/>
            <a:ext cx="10042855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SECTOR GROWTH · BNPL TRANSACTION VOLUME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960120"/>
            <a:ext cx="10637215" cy="0"/>
          </a:xfrm>
          <a:prstGeom prst="line">
            <a:avLst/>
          </a:prstGeom>
          <a:ln w="17780">
            <a:solidFill>
              <a:srgbClr val="4A6E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1143000"/>
            <a:ext cx="10637215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1F1B16"/>
                </a:solidFill>
                <a:latin typeface="Cambria"/>
              </a:rPr>
              <a:t>The non-bank consumer-credit sector exploded post-COVID.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39" y="2294709"/>
            <a:ext cx="106372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 dirty="0">
                <a:solidFill>
                  <a:srgbClr val="5A5247"/>
                </a:solidFill>
                <a:latin typeface="Segoe UI"/>
              </a:rPr>
              <a:t>Buy Now, Pay Later (BNPL) transaction volume — US, $ billions, 2018 → 2025e.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280160" y="0"/>
            <a:ext cx="9585655" cy="0"/>
          </a:xfrm>
          <a:prstGeom prst="line">
            <a:avLst/>
          </a:prstGeom>
          <a:ln w="6350">
            <a:solidFill>
              <a:srgbClr val="D8CB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5687568"/>
            <a:ext cx="5029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A5247"/>
                </a:solidFill>
                <a:latin typeface="Consolas"/>
              </a:rPr>
              <a:t>$0B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280160" y="0"/>
            <a:ext cx="9585655" cy="0"/>
          </a:xfrm>
          <a:prstGeom prst="line">
            <a:avLst/>
          </a:prstGeom>
          <a:ln w="6350">
            <a:solidFill>
              <a:srgbClr val="D8CB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31520" y="4836264"/>
            <a:ext cx="5029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A5247"/>
                </a:solidFill>
                <a:latin typeface="Consolas"/>
              </a:rPr>
              <a:t>$100B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280160" y="0"/>
            <a:ext cx="9585655" cy="0"/>
          </a:xfrm>
          <a:prstGeom prst="line">
            <a:avLst/>
          </a:prstGeom>
          <a:ln w="6350">
            <a:solidFill>
              <a:srgbClr val="D8CB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3984961"/>
            <a:ext cx="5029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A5247"/>
                </a:solidFill>
                <a:latin typeface="Consolas"/>
              </a:rPr>
              <a:t>$200B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280160" y="0"/>
            <a:ext cx="9585655" cy="0"/>
          </a:xfrm>
          <a:prstGeom prst="line">
            <a:avLst/>
          </a:prstGeom>
          <a:ln w="6350">
            <a:solidFill>
              <a:srgbClr val="D8CB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31520" y="3133657"/>
            <a:ext cx="5029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A5247"/>
                </a:solidFill>
                <a:latin typeface="Consolas"/>
              </a:rPr>
              <a:t>$300B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325880" y="5806440"/>
            <a:ext cx="9539935" cy="0"/>
          </a:xfrm>
          <a:prstGeom prst="line">
            <a:avLst/>
          </a:prstGeom>
          <a:ln w="12700">
            <a:solidFill>
              <a:srgbClr val="C0B1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1325880" y="5551048"/>
            <a:ext cx="1048473" cy="255391"/>
          </a:xfrm>
          <a:prstGeom prst="roundRect">
            <a:avLst>
              <a:gd name="adj" fmla="val 10000"/>
            </a:avLst>
          </a:prstGeom>
          <a:solidFill>
            <a:srgbClr val="4A6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325880" y="5258440"/>
            <a:ext cx="1048473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4A6E8F"/>
                </a:solidFill>
                <a:latin typeface="Consolas"/>
              </a:rPr>
              <a:t>$30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5879592"/>
            <a:ext cx="1048473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F1B16"/>
                </a:solidFill>
                <a:latin typeface="Consolas"/>
              </a:rPr>
              <a:t>2018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538945" y="5448892"/>
            <a:ext cx="1048473" cy="357547"/>
          </a:xfrm>
          <a:prstGeom prst="roundRect">
            <a:avLst>
              <a:gd name="adj" fmla="val 10000"/>
            </a:avLst>
          </a:prstGeom>
          <a:solidFill>
            <a:srgbClr val="4A6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2538945" y="5156284"/>
            <a:ext cx="1048473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4A6E8F"/>
                </a:solidFill>
                <a:latin typeface="Consolas"/>
              </a:rPr>
              <a:t>$42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38945" y="5879592"/>
            <a:ext cx="1048473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F1B16"/>
                </a:solidFill>
                <a:latin typeface="Consolas"/>
              </a:rPr>
              <a:t>2019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752011" y="5338223"/>
            <a:ext cx="1048473" cy="468216"/>
          </a:xfrm>
          <a:prstGeom prst="roundRect">
            <a:avLst>
              <a:gd name="adj" fmla="val 10000"/>
            </a:avLst>
          </a:prstGeom>
          <a:solidFill>
            <a:srgbClr val="4A6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752011" y="5045615"/>
            <a:ext cx="1048473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4A6E8F"/>
                </a:solidFill>
                <a:latin typeface="Consolas"/>
              </a:rPr>
              <a:t>$55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52011" y="5879592"/>
            <a:ext cx="1048473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F1B16"/>
                </a:solidFill>
                <a:latin typeface="Consolas"/>
              </a:rPr>
              <a:t>2020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965077" y="4980675"/>
            <a:ext cx="1048473" cy="825764"/>
          </a:xfrm>
          <a:prstGeom prst="roundRect">
            <a:avLst>
              <a:gd name="adj" fmla="val 10000"/>
            </a:avLst>
          </a:prstGeom>
          <a:solidFill>
            <a:srgbClr val="E84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965077" y="4688067"/>
            <a:ext cx="1048473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E84A27"/>
                </a:solidFill>
                <a:latin typeface="Consolas"/>
              </a:rPr>
              <a:t>$97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65077" y="5879592"/>
            <a:ext cx="1048473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F1B16"/>
                </a:solidFill>
                <a:latin typeface="Consolas"/>
              </a:rPr>
              <a:t>2021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8143" y="4614615"/>
            <a:ext cx="1048473" cy="1191824"/>
          </a:xfrm>
          <a:prstGeom prst="roundRect">
            <a:avLst>
              <a:gd name="adj" fmla="val 10000"/>
            </a:avLst>
          </a:prstGeom>
          <a:solidFill>
            <a:srgbClr val="E84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178143" y="4322007"/>
            <a:ext cx="1048473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E84A27"/>
                </a:solidFill>
                <a:latin typeface="Consolas"/>
              </a:rPr>
              <a:t>$140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78143" y="5879592"/>
            <a:ext cx="1048473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F1B16"/>
                </a:solidFill>
                <a:latin typeface="Consolas"/>
              </a:rPr>
              <a:t>2022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91209" y="4146398"/>
            <a:ext cx="1048473" cy="1660041"/>
          </a:xfrm>
          <a:prstGeom prst="roundRect">
            <a:avLst>
              <a:gd name="adj" fmla="val 10000"/>
            </a:avLst>
          </a:prstGeom>
          <a:solidFill>
            <a:srgbClr val="E84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391209" y="3853790"/>
            <a:ext cx="1048473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E84A27"/>
                </a:solidFill>
                <a:latin typeface="Consolas"/>
              </a:rPr>
              <a:t>$195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91209" y="5879592"/>
            <a:ext cx="1048473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F1B16"/>
                </a:solidFill>
                <a:latin typeface="Consolas"/>
              </a:rPr>
              <a:t>2023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604275" y="3635616"/>
            <a:ext cx="1048473" cy="2170823"/>
          </a:xfrm>
          <a:prstGeom prst="roundRect">
            <a:avLst>
              <a:gd name="adj" fmla="val 10000"/>
            </a:avLst>
          </a:prstGeom>
          <a:solidFill>
            <a:srgbClr val="E84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604275" y="3343008"/>
            <a:ext cx="1048473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E84A27"/>
                </a:solidFill>
                <a:latin typeface="Consolas"/>
              </a:rPr>
              <a:t>$255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04275" y="5879592"/>
            <a:ext cx="1048473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F1B16"/>
                </a:solidFill>
                <a:latin typeface="Consolas"/>
              </a:rPr>
              <a:t>2024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817341" y="2980112"/>
            <a:ext cx="1048473" cy="2826327"/>
          </a:xfrm>
          <a:prstGeom prst="roundRect">
            <a:avLst>
              <a:gd name="adj" fmla="val 10000"/>
            </a:avLst>
          </a:prstGeom>
          <a:solidFill>
            <a:srgbClr val="E84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9817341" y="2687504"/>
            <a:ext cx="1048473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E84A27"/>
                </a:solidFill>
                <a:latin typeface="Consolas"/>
              </a:rPr>
              <a:t>$332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817341" y="5879592"/>
            <a:ext cx="1048473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F1B16"/>
                </a:solidFill>
                <a:latin typeface="Consolas"/>
              </a:rPr>
              <a:t>2025e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0" y="2788920"/>
            <a:ext cx="0" cy="2971800"/>
          </a:xfrm>
          <a:prstGeom prst="line">
            <a:avLst/>
          </a:prstGeom>
          <a:ln w="19050">
            <a:solidFill>
              <a:srgbClr val="B83518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3511181" y="2560320"/>
            <a:ext cx="1371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B83518"/>
                </a:solidFill>
                <a:latin typeface="Consolas"/>
              </a:rPr>
              <a:t>COVID inflection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083040" y="3721608"/>
            <a:ext cx="2377440" cy="1188720"/>
          </a:xfrm>
          <a:prstGeom prst="roundRect">
            <a:avLst>
              <a:gd name="adj" fmla="val 3000"/>
            </a:avLst>
          </a:prstGeom>
          <a:solidFill>
            <a:srgbClr val="F4C0A8"/>
          </a:solidFill>
          <a:ln w="15240">
            <a:solidFill>
              <a:srgbClr val="E84A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083040" y="3886200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1" i="0">
                <a:solidFill>
                  <a:srgbClr val="B83518"/>
                </a:solidFill>
                <a:latin typeface="Cambria"/>
              </a:rPr>
              <a:t>+1,007%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083040" y="4379976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B83518"/>
                </a:solidFill>
                <a:latin typeface="Consolas"/>
              </a:rPr>
              <a:t>growth 2018 → 2025e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083040" y="461772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F1B16"/>
                </a:solidFill>
                <a:latin typeface="Consolas"/>
              </a:rPr>
              <a:t>$30B → $332B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" y="5943600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8C8476"/>
                </a:solidFill>
                <a:latin typeface="Consolas"/>
              </a:rPr>
              <a:t>Sources: Consumer Financial Protection Bureau (CFPB) BNPL market report (2022), TransUnion (2024), Worldpay payments reports (2018–2024). 2025 figure is industry estimate.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77240" y="6263640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>
                <a:solidFill>
                  <a:srgbClr val="1F1B16"/>
                </a:solidFill>
                <a:latin typeface="Segoe UI"/>
              </a:rPr>
              <a:t>Pre-COVID (slate) → post-COVID (orange) — the inflection that motivates the paper.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77240" y="644652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8C8476"/>
                </a:solidFill>
                <a:latin typeface="Consolas"/>
              </a:rPr>
              <a:t>BearWatch BSI  ·  FIN 580  ·  Spring 2026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362895" y="644652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8C8476"/>
                </a:solidFill>
                <a:latin typeface="Consolas"/>
              </a:rPr>
              <a:t>03 / 29</a:t>
            </a:r>
          </a:p>
        </p:txBody>
      </p:sp>
      <p:pic>
        <p:nvPicPr>
          <p:cNvPr id="52" name="Picture 51" descr="Illinois-Logo-No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1575" y="6355080"/>
            <a:ext cx="54864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AF6EC"/>
              </a:gs>
              <a:gs pos="100000">
                <a:srgbClr val="E9DFC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4A6E8F"/>
                </a:solidFill>
                <a:latin typeface="Consolas"/>
              </a:rPr>
              <a:t>FOUNDATION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94360"/>
            <a:ext cx="502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4A6E8F"/>
                </a:solidFill>
                <a:latin typeface="Consolas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621792"/>
            <a:ext cx="10042855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WHAT IS BSI?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960120"/>
            <a:ext cx="10637215" cy="0"/>
          </a:xfrm>
          <a:prstGeom prst="line">
            <a:avLst/>
          </a:prstGeom>
          <a:ln w="17780">
            <a:solidFill>
              <a:srgbClr val="4A6E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1143000"/>
            <a:ext cx="10637215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1F1B16"/>
                </a:solidFill>
                <a:latin typeface="Cambria"/>
              </a:rPr>
              <a:t>Behavioural Stress Index  =  one number per firm per day.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372868"/>
            <a:ext cx="106372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 dirty="0">
                <a:solidFill>
                  <a:srgbClr val="5A5247"/>
                </a:solidFill>
                <a:latin typeface="Segoe UI"/>
              </a:rPr>
              <a:t>An 8-pillar composite z-score that detects spikes in customer-distress volume.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697480"/>
            <a:ext cx="3840480" cy="310896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9525">
            <a:solidFill>
              <a:srgbClr val="D8CB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05840" y="2834640"/>
            <a:ext cx="38404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E84A27"/>
                </a:solidFill>
                <a:latin typeface="Consolas"/>
              </a:rPr>
              <a:t>INPUT  ·  8 PUBLIC ALT-DATA PILLARS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154680"/>
            <a:ext cx="338328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800"/>
              </a:spcBef>
            </a:pPr>
            <a:r>
              <a:rPr sz="1200" b="1" i="0">
                <a:solidFill>
                  <a:srgbClr val="1F1B16"/>
                </a:solidFill>
                <a:latin typeface="Consolas"/>
              </a:rPr>
              <a:t>·  Consumer Financial Protection Bureau (CFPB) complaints   (weight 0.45 ★)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200" b="1" i="0">
                <a:solidFill>
                  <a:srgbClr val="5A5247"/>
                </a:solidFill>
                <a:latin typeface="Consolas"/>
              </a:rPr>
              <a:t>·  App-store reviews   (0.15)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200" b="1" i="0">
                <a:solidFill>
                  <a:srgbClr val="5A5247"/>
                </a:solidFill>
                <a:latin typeface="Consolas"/>
              </a:rPr>
              <a:t>·  Reddit text   (0.10)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200" b="1" i="0">
                <a:solidFill>
                  <a:srgbClr val="5A5247"/>
                </a:solidFill>
                <a:latin typeface="Consolas"/>
              </a:rPr>
              <a:t>·  Bluesky text   (0.05)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200" b="1" i="0">
                <a:solidFill>
                  <a:srgbClr val="5A5247"/>
                </a:solidFill>
                <a:latin typeface="Consolas"/>
              </a:rPr>
              <a:t>·  Google Trends   (0.10)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200" b="1" i="0">
                <a:solidFill>
                  <a:srgbClr val="5A5247"/>
                </a:solidFill>
                <a:latin typeface="Consolas"/>
              </a:rPr>
              <a:t>·  ABS pool metrics   (0.10)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200" b="1" i="0">
                <a:solidFill>
                  <a:srgbClr val="5A5247"/>
                </a:solidFill>
                <a:latin typeface="Consolas"/>
              </a:rPr>
              <a:t>·  8-K filings   (0.05)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200" b="1" i="0">
                <a:solidFill>
                  <a:srgbClr val="5A5247"/>
                </a:solidFill>
                <a:latin typeface="Consolas"/>
              </a:rPr>
              <a:t>·  Merrill Option Volatility Estimate index (MOVE) / FRED macro   (gate G3)</a:t>
            </a:r>
          </a:p>
          <a:p>
            <a:pPr algn="l">
              <a:lnSpc>
                <a:spcPct val="140000"/>
              </a:lnSpc>
              <a:spcBef>
                <a:spcPts val="1400"/>
              </a:spcBef>
            </a:pPr>
            <a:r>
              <a:rPr sz="1100" b="1" i="0">
                <a:solidFill>
                  <a:srgbClr val="B83518"/>
                </a:solidFill>
                <a:latin typeface="Segoe UI"/>
              </a:rPr>
              <a:t>7 of 8 are volume-derived series.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008" y="4069080"/>
            <a:ext cx="228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>
                <a:solidFill>
                  <a:srgbClr val="E84A27"/>
                </a:solidFill>
                <a:latin typeface="Cambria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46320" y="2697480"/>
            <a:ext cx="3291840" cy="3108960"/>
          </a:xfrm>
          <a:prstGeom prst="roundRect">
            <a:avLst>
              <a:gd name="adj" fmla="val 3000"/>
            </a:avLst>
          </a:prstGeom>
          <a:solidFill>
            <a:srgbClr val="F4C0A8"/>
          </a:solidFill>
          <a:ln w="19050">
            <a:solidFill>
              <a:srgbClr val="E84A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029200" y="2834640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B83518"/>
                </a:solidFill>
                <a:latin typeface="Consolas"/>
              </a:rPr>
              <a:t>ENGINE  ·  EWMA z-score fusion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3566160"/>
            <a:ext cx="3108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1" i="0">
                <a:solidFill>
                  <a:srgbClr val="1F1B16"/>
                </a:solidFill>
                <a:latin typeface="Consolas"/>
              </a:rPr>
              <a:t>BSIₜ  =  Σᵢ  γᵢ · wᵢ · z^EWMA(Xᵢ,ₜ)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83480" y="4251960"/>
            <a:ext cx="301752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1" i="0">
                <a:solidFill>
                  <a:srgbClr val="1F1B16"/>
                </a:solidFill>
                <a:latin typeface="Segoe UI"/>
              </a:rPr>
              <a:t>z-score each pillar against</a:t>
            </a:r>
          </a:p>
          <a:p>
            <a:pPr algn="ctr">
              <a:lnSpc>
                <a:spcPct val="130000"/>
              </a:lnSpc>
            </a:pPr>
            <a:r>
              <a:rPr sz="1200" b="1" i="0">
                <a:solidFill>
                  <a:srgbClr val="1F1B16"/>
                </a:solidFill>
                <a:latin typeface="Segoe UI"/>
              </a:rPr>
              <a:t>its own running history</a:t>
            </a:r>
          </a:p>
          <a:p>
            <a:pPr algn="ctr">
              <a:lnSpc>
                <a:spcPct val="140000"/>
              </a:lnSpc>
              <a:spcBef>
                <a:spcPts val="400"/>
              </a:spcBef>
            </a:pPr>
            <a:r>
              <a:rPr sz="1100" b="1" i="0">
                <a:solidFill>
                  <a:srgbClr val="B83518"/>
                </a:solidFill>
                <a:latin typeface="Consolas"/>
              </a:rPr>
              <a:t>(EWMA half-life 250d)</a:t>
            </a:r>
          </a:p>
          <a:p>
            <a:pPr algn="ctr">
              <a:lnSpc>
                <a:spcPct val="140000"/>
              </a:lnSpc>
              <a:spcBef>
                <a:spcPts val="1400"/>
              </a:spcBef>
            </a:pPr>
            <a:r>
              <a:rPr sz="1100" b="1" i="0">
                <a:solidFill>
                  <a:srgbClr val="5A5247"/>
                </a:solidFill>
                <a:latin typeface="Segoe UI"/>
              </a:rPr>
              <a:t>Coverage gates zero out missing.</a:t>
            </a:r>
          </a:p>
          <a:p>
            <a:pPr algn="ctr">
              <a:lnSpc>
                <a:spcPct val="140000"/>
              </a:lnSpc>
              <a:spcBef>
                <a:spcPts val="400"/>
              </a:spcBef>
            </a:pPr>
            <a:r>
              <a:rPr sz="1100" b="1" i="0">
                <a:solidFill>
                  <a:srgbClr val="5A5247"/>
                </a:solidFill>
                <a:latin typeface="Segoe UI"/>
              </a:rPr>
              <a:t>Pre-registered weights · hash-locked.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56448" y="4069080"/>
            <a:ext cx="228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>
                <a:solidFill>
                  <a:srgbClr val="E84A27"/>
                </a:solidFill>
                <a:latin typeface="Cambria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66760" y="2697480"/>
            <a:ext cx="3047695" cy="310896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9525">
            <a:solidFill>
              <a:srgbClr val="D8CB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549640" y="2834640"/>
            <a:ext cx="30476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2D7A4F"/>
                </a:solidFill>
                <a:latin typeface="Consolas"/>
              </a:rPr>
              <a:t>OUTPUT  ·  one z-score per firm per day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595360" y="3319272"/>
            <a:ext cx="45720" cy="256032"/>
          </a:xfrm>
          <a:prstGeom prst="rect">
            <a:avLst/>
          </a:prstGeom>
          <a:solidFill>
            <a:srgbClr val="2D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732520" y="3246120"/>
            <a:ext cx="1188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2D7A4F"/>
                </a:solidFill>
                <a:latin typeface="Consolas"/>
              </a:rPr>
              <a:t>z ≥ 2.5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3246120"/>
            <a:ext cx="14932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5A5247"/>
                </a:solidFill>
                <a:latin typeface="Segoe UI"/>
              </a:rPr>
              <a:t>GUARDIAN fires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595360" y="3685032"/>
            <a:ext cx="45720" cy="256032"/>
          </a:xfrm>
          <a:prstGeom prst="rect">
            <a:avLst/>
          </a:prstGeom>
          <a:solidFill>
            <a:srgbClr val="E84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732520" y="3611880"/>
            <a:ext cx="1188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E84A27"/>
                </a:solidFill>
                <a:latin typeface="Consolas"/>
              </a:rPr>
              <a:t>z ≥ 2.0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84080" y="3611880"/>
            <a:ext cx="14932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5A5247"/>
                </a:solidFill>
                <a:latin typeface="Segoe UI"/>
              </a:rPr>
              <a:t>SCOUT fires  ★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595360" y="4050792"/>
            <a:ext cx="45720" cy="256032"/>
          </a:xfrm>
          <a:prstGeom prst="rect">
            <a:avLst/>
          </a:prstGeom>
          <a:solidFill>
            <a:srgbClr val="B884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732520" y="3977640"/>
            <a:ext cx="1188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B8841C"/>
                </a:solidFill>
                <a:latin typeface="Consolas"/>
              </a:rPr>
              <a:t>z ≥ 1.5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977640"/>
            <a:ext cx="14932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5A5247"/>
                </a:solidFill>
                <a:latin typeface="Segoe UI"/>
              </a:rPr>
              <a:t>WORRIED state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595360" y="4416552"/>
            <a:ext cx="45720" cy="256032"/>
          </a:xfrm>
          <a:prstGeom prst="rect">
            <a:avLst/>
          </a:prstGeom>
          <a:solidFill>
            <a:srgbClr val="5A52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732520" y="4343400"/>
            <a:ext cx="1188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5A5247"/>
                </a:solidFill>
                <a:latin typeface="Consolas"/>
              </a:rPr>
              <a:t>|z| &lt; 0.5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84080" y="4343400"/>
            <a:ext cx="14932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5A5247"/>
                </a:solidFill>
                <a:latin typeface="Segoe UI"/>
              </a:rPr>
              <a:t>SLEEPING — benign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595360" y="4782312"/>
            <a:ext cx="45720" cy="256032"/>
          </a:xfrm>
          <a:prstGeom prst="rect">
            <a:avLst/>
          </a:prstGeom>
          <a:solidFill>
            <a:srgbClr val="8C84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732520" y="4709160"/>
            <a:ext cx="1188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8C8476"/>
                </a:solidFill>
                <a:latin typeface="Consolas"/>
              </a:rPr>
              <a:t>z negative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84080" y="4709160"/>
            <a:ext cx="14932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5A5247"/>
                </a:solidFill>
                <a:latin typeface="Segoe UI"/>
              </a:rPr>
              <a:t>below baseline — quiet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95360" y="5394960"/>
            <a:ext cx="2590495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1" i="0">
                <a:solidFill>
                  <a:srgbClr val="B83518"/>
                </a:solidFill>
                <a:latin typeface="Consolas"/>
              </a:rPr>
              <a:t>Cross-firm comparable.  Real-time.  Pre-registered.  Replayable byte-for-byte.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77240" y="5897880"/>
            <a:ext cx="10637215" cy="502920"/>
          </a:xfrm>
          <a:prstGeom prst="roundRect">
            <a:avLst>
              <a:gd name="adj" fmla="val 3000"/>
            </a:avLst>
          </a:prstGeom>
          <a:solidFill>
            <a:srgbClr val="F4C0A8"/>
          </a:solidFill>
          <a:ln w="12700">
            <a:solidFill>
              <a:srgbClr val="E84A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143000" y="5989320"/>
            <a:ext cx="990569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1" i="0">
                <a:solidFill>
                  <a:srgbClr val="B83518"/>
                </a:solidFill>
                <a:latin typeface="Segoe UI"/>
              </a:rPr>
              <a:t>BSI is a leading indicator on changes in default probability — not a default model itself.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644652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8C8476"/>
                </a:solidFill>
                <a:latin typeface="Consolas"/>
              </a:rPr>
              <a:t>BearWatch BSI  ·  FIN 580  ·  Spring 2026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362895" y="644652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8C8476"/>
                </a:solidFill>
                <a:latin typeface="Consolas"/>
              </a:rPr>
              <a:t>04 / 29</a:t>
            </a:r>
          </a:p>
        </p:txBody>
      </p:sp>
      <p:pic>
        <p:nvPicPr>
          <p:cNvPr id="40" name="Picture 39" descr="Illinois-Logo-No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1575" y="6355080"/>
            <a:ext cx="54864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AF6EC"/>
              </a:gs>
              <a:gs pos="100000">
                <a:srgbClr val="E9DFC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4A6E8F"/>
                </a:solidFill>
                <a:latin typeface="Consolas"/>
              </a:rPr>
              <a:t>FOUNDATION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94360"/>
            <a:ext cx="502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4A6E8F"/>
                </a:solidFill>
                <a:latin typeface="Consolas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621792"/>
            <a:ext cx="10042855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BSI ARCHITECTURE · 2D NODE DIAGRAM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960120"/>
            <a:ext cx="10637215" cy="0"/>
          </a:xfrm>
          <a:prstGeom prst="line">
            <a:avLst/>
          </a:prstGeom>
          <a:ln w="17780">
            <a:solidFill>
              <a:srgbClr val="4A6E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1143000"/>
            <a:ext cx="10637215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1F1B16"/>
                </a:solidFill>
                <a:latin typeface="Cambria"/>
              </a:rPr>
              <a:t>Inputs → engine → gates → trade verdict.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106372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5A5247"/>
                </a:solidFill>
                <a:latin typeface="Segoe UI"/>
              </a:rPr>
              <a:t>Same shape as a feed-forward network — every connection is deterministic and pre-registered.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377440"/>
            <a:ext cx="1920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4A6E8F"/>
                </a:solidFill>
                <a:latin typeface="Consolas"/>
              </a:rPr>
              <a:t>INPUT  ·  8 PILLARS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40" y="2377440"/>
            <a:ext cx="2468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E84A27"/>
                </a:solidFill>
                <a:latin typeface="Consolas"/>
              </a:rPr>
              <a:t>ENGINE  ·  exponentially-weighted moving average (EWMA) + WEIGHTS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12280" y="2377440"/>
            <a:ext cx="1920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B8841C"/>
                </a:solidFill>
                <a:latin typeface="Consolas"/>
              </a:rPr>
              <a:t>GATES  ·  G1 → G5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46920" y="2377440"/>
            <a:ext cx="19202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2D7A4F"/>
                </a:solidFill>
                <a:latin typeface="Consolas"/>
              </a:rPr>
              <a:t>VERDICT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51560" y="2606040"/>
            <a:ext cx="1920240" cy="292608"/>
          </a:xfrm>
          <a:prstGeom prst="roundRect">
            <a:avLst>
              <a:gd name="adj" fmla="val 50000"/>
            </a:avLst>
          </a:prstGeom>
          <a:solidFill>
            <a:srgbClr val="F2EBD9"/>
          </a:solidFill>
          <a:ln w="12700">
            <a:solidFill>
              <a:srgbClr val="E84A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143000" y="2642616"/>
            <a:ext cx="1143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F1B16"/>
                </a:solidFill>
                <a:latin typeface="Segoe UI"/>
              </a:rPr>
              <a:t>CFPB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31720" y="2642616"/>
            <a:ext cx="548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1" i="0">
                <a:solidFill>
                  <a:srgbClr val="E84A27"/>
                </a:solidFill>
                <a:latin typeface="Consolas"/>
              </a:rPr>
              <a:t>0.45 ★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51560" y="3076302"/>
            <a:ext cx="1920240" cy="292608"/>
          </a:xfrm>
          <a:prstGeom prst="roundRect">
            <a:avLst>
              <a:gd name="adj" fmla="val 50000"/>
            </a:avLst>
          </a:prstGeom>
          <a:solidFill>
            <a:srgbClr val="F2EBD9"/>
          </a:solidFill>
          <a:ln w="12700">
            <a:solidFill>
              <a:srgbClr val="4A6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143000" y="3112878"/>
            <a:ext cx="1143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F1B16"/>
                </a:solidFill>
                <a:latin typeface="Segoe UI"/>
              </a:rPr>
              <a:t>App-store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31720" y="3112878"/>
            <a:ext cx="548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1" i="0">
                <a:solidFill>
                  <a:srgbClr val="4A6E8F"/>
                </a:solidFill>
                <a:latin typeface="Consolas"/>
              </a:rPr>
              <a:t>0.15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51560" y="3546565"/>
            <a:ext cx="1920240" cy="292608"/>
          </a:xfrm>
          <a:prstGeom prst="roundRect">
            <a:avLst>
              <a:gd name="adj" fmla="val 50000"/>
            </a:avLst>
          </a:prstGeom>
          <a:solidFill>
            <a:srgbClr val="F2EBD9"/>
          </a:solidFill>
          <a:ln w="12700">
            <a:solidFill>
              <a:srgbClr val="4A6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143000" y="3583141"/>
            <a:ext cx="1143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F1B16"/>
                </a:solidFill>
                <a:latin typeface="Segoe UI"/>
              </a:rPr>
              <a:t>Reddit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31720" y="3583141"/>
            <a:ext cx="548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1" i="0">
                <a:solidFill>
                  <a:srgbClr val="4A6E8F"/>
                </a:solidFill>
                <a:latin typeface="Consolas"/>
              </a:rPr>
              <a:t>0.10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51560" y="4016828"/>
            <a:ext cx="1920240" cy="292608"/>
          </a:xfrm>
          <a:prstGeom prst="roundRect">
            <a:avLst>
              <a:gd name="adj" fmla="val 50000"/>
            </a:avLst>
          </a:prstGeom>
          <a:solidFill>
            <a:srgbClr val="F2EBD9"/>
          </a:solidFill>
          <a:ln w="12700">
            <a:solidFill>
              <a:srgbClr val="4A6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143000" y="4053404"/>
            <a:ext cx="1143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F1B16"/>
                </a:solidFill>
                <a:latin typeface="Segoe UI"/>
              </a:rPr>
              <a:t>Bluesky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31720" y="4053404"/>
            <a:ext cx="548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1" i="0">
                <a:solidFill>
                  <a:srgbClr val="4A6E8F"/>
                </a:solidFill>
                <a:latin typeface="Consolas"/>
              </a:rPr>
              <a:t>0.05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51560" y="4487091"/>
            <a:ext cx="1920240" cy="292608"/>
          </a:xfrm>
          <a:prstGeom prst="roundRect">
            <a:avLst>
              <a:gd name="adj" fmla="val 50000"/>
            </a:avLst>
          </a:prstGeom>
          <a:solidFill>
            <a:srgbClr val="F2EBD9"/>
          </a:solidFill>
          <a:ln w="12700">
            <a:solidFill>
              <a:srgbClr val="4A6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143000" y="4523667"/>
            <a:ext cx="1143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F1B16"/>
                </a:solidFill>
                <a:latin typeface="Segoe UI"/>
              </a:rPr>
              <a:t>Trends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31720" y="4523667"/>
            <a:ext cx="548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1" i="0">
                <a:solidFill>
                  <a:srgbClr val="4A6E8F"/>
                </a:solidFill>
                <a:latin typeface="Consolas"/>
              </a:rPr>
              <a:t>0.10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51560" y="4957354"/>
            <a:ext cx="1920240" cy="292608"/>
          </a:xfrm>
          <a:prstGeom prst="roundRect">
            <a:avLst>
              <a:gd name="adj" fmla="val 50000"/>
            </a:avLst>
          </a:prstGeom>
          <a:solidFill>
            <a:srgbClr val="F2EBD9"/>
          </a:solidFill>
          <a:ln w="12700">
            <a:solidFill>
              <a:srgbClr val="4A6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143000" y="4993930"/>
            <a:ext cx="1143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F1B16"/>
                </a:solidFill>
                <a:latin typeface="Segoe UI"/>
              </a:rPr>
              <a:t>ABS pool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31720" y="4993930"/>
            <a:ext cx="548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1" i="0">
                <a:solidFill>
                  <a:srgbClr val="4A6E8F"/>
                </a:solidFill>
                <a:latin typeface="Consolas"/>
              </a:rPr>
              <a:t>0.10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51560" y="5427617"/>
            <a:ext cx="1920240" cy="292608"/>
          </a:xfrm>
          <a:prstGeom prst="roundRect">
            <a:avLst>
              <a:gd name="adj" fmla="val 50000"/>
            </a:avLst>
          </a:prstGeom>
          <a:solidFill>
            <a:srgbClr val="F2EBD9"/>
          </a:solidFill>
          <a:ln w="12700">
            <a:solidFill>
              <a:srgbClr val="4A6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143000" y="5464193"/>
            <a:ext cx="1143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F1B16"/>
                </a:solidFill>
                <a:latin typeface="Segoe UI"/>
              </a:rPr>
              <a:t>8-K filings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31720" y="5464193"/>
            <a:ext cx="548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1" i="0">
                <a:solidFill>
                  <a:srgbClr val="4A6E8F"/>
                </a:solidFill>
                <a:latin typeface="Consolas"/>
              </a:rPr>
              <a:t>0.05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51560" y="5897880"/>
            <a:ext cx="1920240" cy="292608"/>
          </a:xfrm>
          <a:prstGeom prst="roundRect">
            <a:avLst>
              <a:gd name="adj" fmla="val 50000"/>
            </a:avLst>
          </a:prstGeom>
          <a:solidFill>
            <a:srgbClr val="F2EBD9"/>
          </a:solidFill>
          <a:ln w="12700">
            <a:solidFill>
              <a:srgbClr val="6B4A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143000" y="5934456"/>
            <a:ext cx="1143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1F1B16"/>
                </a:solidFill>
                <a:latin typeface="Segoe UI"/>
              </a:rPr>
              <a:t>MOVE / FRED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31720" y="5934456"/>
            <a:ext cx="5486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1" i="0">
                <a:solidFill>
                  <a:srgbClr val="6B4A7F"/>
                </a:solidFill>
                <a:latin typeface="Consolas"/>
              </a:rPr>
              <a:t>G3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977640" y="3154680"/>
            <a:ext cx="2468880" cy="2377440"/>
          </a:xfrm>
          <a:prstGeom prst="roundRect">
            <a:avLst>
              <a:gd name="adj" fmla="val 8000"/>
            </a:avLst>
          </a:prstGeom>
          <a:solidFill>
            <a:srgbClr val="F4C0A8"/>
          </a:solidFill>
          <a:ln w="25400">
            <a:solidFill>
              <a:srgbClr val="E84A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977640" y="3337560"/>
            <a:ext cx="2468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>
                <a:solidFill>
                  <a:srgbClr val="B83518"/>
                </a:solidFill>
                <a:latin typeface="Cambria"/>
              </a:rPr>
              <a:t>BSI ENGINE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77640" y="3749040"/>
            <a:ext cx="2468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B83518"/>
                </a:solidFill>
                <a:latin typeface="Consolas"/>
              </a:rPr>
              <a:t>weighted EWMA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77640" y="3995928"/>
            <a:ext cx="2468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B83518"/>
                </a:solidFill>
                <a:latin typeface="Consolas"/>
              </a:rPr>
              <a:t>z-score fusion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977640" y="4480560"/>
            <a:ext cx="2468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F1B16"/>
                </a:solidFill>
                <a:latin typeface="Consolas"/>
              </a:rPr>
              <a:t>BSIₜ  =  Σᵢ γᵢ wᵢ z(Xᵢ,ₜ)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977640" y="4846320"/>
            <a:ext cx="2468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0">
                <a:solidFill>
                  <a:srgbClr val="5A5247"/>
                </a:solidFill>
                <a:latin typeface="Consolas"/>
              </a:rPr>
              <a:t>h.l. = 250 d   ·   Σwᵢ = 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977640" y="5148072"/>
            <a:ext cx="24688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 i="0">
                <a:solidFill>
                  <a:srgbClr val="B83518"/>
                </a:solidFill>
                <a:latin typeface="Consolas"/>
              </a:rPr>
              <a:t>→  one z per firm/day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812280" y="2606040"/>
            <a:ext cx="1920240" cy="411480"/>
          </a:xfrm>
          <a:prstGeom prst="roundRect">
            <a:avLst>
              <a:gd name="adj" fmla="val 40000"/>
            </a:avLst>
          </a:prstGeom>
          <a:solidFill>
            <a:srgbClr val="F2EBD9"/>
          </a:solidFill>
          <a:ln w="19050">
            <a:solidFill>
              <a:srgbClr val="E84A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922008" y="2660904"/>
            <a:ext cx="9601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1F1B16"/>
                </a:solidFill>
                <a:latin typeface="Consolas"/>
              </a:rPr>
              <a:t>G1  BSI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772400" y="2670048"/>
            <a:ext cx="850392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E84A27"/>
                </a:solidFill>
                <a:latin typeface="Consolas"/>
              </a:rPr>
              <a:t>z ≥ 2.0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812280" y="3429000"/>
            <a:ext cx="1920240" cy="411480"/>
          </a:xfrm>
          <a:prstGeom prst="roundRect">
            <a:avLst>
              <a:gd name="adj" fmla="val 40000"/>
            </a:avLst>
          </a:prstGeom>
          <a:solidFill>
            <a:srgbClr val="F2EBD9"/>
          </a:solidFill>
          <a:ln w="19050">
            <a:solidFill>
              <a:srgbClr val="4A6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922008" y="3483864"/>
            <a:ext cx="1220506" cy="5078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dirty="0">
                <a:solidFill>
                  <a:srgbClr val="1F1B16"/>
                </a:solidFill>
                <a:latin typeface="Consolas"/>
              </a:rPr>
              <a:t>G2  Subprime-Credit Profile (SCP)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772400" y="3493008"/>
            <a:ext cx="850392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4A6E8F"/>
                </a:solidFill>
                <a:latin typeface="Consolas"/>
              </a:rPr>
              <a:t>phase 2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812280" y="4251960"/>
            <a:ext cx="1920240" cy="411480"/>
          </a:xfrm>
          <a:prstGeom prst="roundRect">
            <a:avLst>
              <a:gd name="adj" fmla="val 40000"/>
            </a:avLst>
          </a:prstGeom>
          <a:solidFill>
            <a:srgbClr val="F2EBD9"/>
          </a:solidFill>
          <a:ln w="19050">
            <a:solidFill>
              <a:srgbClr val="6B4A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922008" y="4306824"/>
            <a:ext cx="96012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1F1B16"/>
                </a:solidFill>
                <a:latin typeface="Consolas"/>
              </a:rPr>
              <a:t>G3  MOVE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772400" y="4315968"/>
            <a:ext cx="850392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6B4A7F"/>
                </a:solidFill>
                <a:latin typeface="Consolas"/>
              </a:rPr>
              <a:t>z ≤ 1.0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812280" y="5074920"/>
            <a:ext cx="1920240" cy="411480"/>
          </a:xfrm>
          <a:prstGeom prst="roundRect">
            <a:avLst>
              <a:gd name="adj" fmla="val 40000"/>
            </a:avLst>
          </a:prstGeom>
          <a:solidFill>
            <a:srgbClr val="F2EBD9"/>
          </a:solidFill>
          <a:ln w="19050">
            <a:solidFill>
              <a:srgbClr val="B884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6922008" y="5129784"/>
            <a:ext cx="1394678" cy="5078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dirty="0">
                <a:solidFill>
                  <a:srgbClr val="1F1B16"/>
                </a:solidFill>
                <a:latin typeface="Consolas"/>
              </a:rPr>
              <a:t>G4  Consumer-Credit Divergence (CCD)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772400" y="5138928"/>
            <a:ext cx="850392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B8841C"/>
                </a:solidFill>
                <a:latin typeface="Consolas"/>
              </a:rPr>
              <a:t>elevated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812280" y="5897880"/>
            <a:ext cx="1920240" cy="411480"/>
          </a:xfrm>
          <a:prstGeom prst="roundRect">
            <a:avLst>
              <a:gd name="adj" fmla="val 40000"/>
            </a:avLst>
          </a:prstGeom>
          <a:solidFill>
            <a:srgbClr val="F2EBD9"/>
          </a:solidFill>
          <a:ln w="19050">
            <a:solidFill>
              <a:srgbClr val="2D7A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6922007" y="5824502"/>
            <a:ext cx="1097135" cy="6771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dirty="0">
                <a:solidFill>
                  <a:srgbClr val="1F1B16"/>
                </a:solidFill>
                <a:latin typeface="Consolas"/>
              </a:rPr>
              <a:t>G5  Fundamentals Distress Score (FDS)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72400" y="5961888"/>
            <a:ext cx="850392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2D7A4F"/>
                </a:solidFill>
                <a:latin typeface="Consolas"/>
              </a:rPr>
              <a:t>EDGAR XBRL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646920" y="3154680"/>
            <a:ext cx="1920240" cy="2377440"/>
          </a:xfrm>
          <a:prstGeom prst="roundRect">
            <a:avLst>
              <a:gd name="adj" fmla="val 8000"/>
            </a:avLst>
          </a:prstGeom>
          <a:solidFill>
            <a:srgbClr val="F2EBD9"/>
          </a:solidFill>
          <a:ln w="25400">
            <a:solidFill>
              <a:srgbClr val="2D7A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9646920" y="3383280"/>
            <a:ext cx="1920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 i="0">
                <a:solidFill>
                  <a:srgbClr val="2D7A4F"/>
                </a:solidFill>
                <a:latin typeface="Cambria"/>
              </a:rPr>
              <a:t>TRADE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646920" y="3794760"/>
            <a:ext cx="1920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 i="0">
                <a:solidFill>
                  <a:srgbClr val="2D7A4F"/>
                </a:solidFill>
                <a:latin typeface="Cambria"/>
              </a:rPr>
              <a:t>VERDICT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646920" y="4343400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2D7A4F"/>
                </a:solidFill>
                <a:latin typeface="Consolas"/>
              </a:rPr>
              <a:t>APPROVED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646920" y="4636008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B8841C"/>
                </a:solidFill>
                <a:latin typeface="Consolas"/>
              </a:rPr>
              <a:t>SCALED 40%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646920" y="4928616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B85638"/>
                </a:solidFill>
                <a:latin typeface="Consolas"/>
              </a:rPr>
              <a:t>BLOCKED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2971800" y="0"/>
            <a:ext cx="1005840" cy="0"/>
          </a:xfrm>
          <a:prstGeom prst="line">
            <a:avLst/>
          </a:prstGeom>
          <a:ln w="7620">
            <a:solidFill>
              <a:srgbClr val="C0B1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2971800" y="0"/>
            <a:ext cx="1005840" cy="0"/>
          </a:xfrm>
          <a:prstGeom prst="line">
            <a:avLst/>
          </a:prstGeom>
          <a:ln w="7620">
            <a:solidFill>
              <a:srgbClr val="C0B1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2971800" y="0"/>
            <a:ext cx="1005840" cy="0"/>
          </a:xfrm>
          <a:prstGeom prst="line">
            <a:avLst/>
          </a:prstGeom>
          <a:ln w="7620">
            <a:solidFill>
              <a:srgbClr val="C0B1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2971800" y="0"/>
            <a:ext cx="1005840" cy="0"/>
          </a:xfrm>
          <a:prstGeom prst="line">
            <a:avLst/>
          </a:prstGeom>
          <a:ln w="7620">
            <a:solidFill>
              <a:srgbClr val="C0B1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2971800" y="0"/>
            <a:ext cx="1005840" cy="0"/>
          </a:xfrm>
          <a:prstGeom prst="line">
            <a:avLst/>
          </a:prstGeom>
          <a:ln w="7620">
            <a:solidFill>
              <a:srgbClr val="C0B1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2971800" y="0"/>
            <a:ext cx="1005840" cy="0"/>
          </a:xfrm>
          <a:prstGeom prst="line">
            <a:avLst/>
          </a:prstGeom>
          <a:ln w="7620">
            <a:solidFill>
              <a:srgbClr val="C0B1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2971800" y="0"/>
            <a:ext cx="1005840" cy="0"/>
          </a:xfrm>
          <a:prstGeom prst="line">
            <a:avLst/>
          </a:prstGeom>
          <a:ln w="7620">
            <a:solidFill>
              <a:srgbClr val="C0B1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2971800" y="0"/>
            <a:ext cx="1005840" cy="0"/>
          </a:xfrm>
          <a:prstGeom prst="line">
            <a:avLst/>
          </a:prstGeom>
          <a:ln w="7620">
            <a:solidFill>
              <a:srgbClr val="C0B1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6446520" y="0"/>
            <a:ext cx="365760" cy="0"/>
          </a:xfrm>
          <a:prstGeom prst="line">
            <a:avLst/>
          </a:prstGeom>
          <a:ln w="7620">
            <a:solidFill>
              <a:srgbClr val="C0B1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V="1">
            <a:off x="6446520" y="0"/>
            <a:ext cx="365760" cy="0"/>
          </a:xfrm>
          <a:prstGeom prst="line">
            <a:avLst/>
          </a:prstGeom>
          <a:ln w="7620">
            <a:solidFill>
              <a:srgbClr val="C0B1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6446520" y="0"/>
            <a:ext cx="365760" cy="0"/>
          </a:xfrm>
          <a:prstGeom prst="line">
            <a:avLst/>
          </a:prstGeom>
          <a:ln w="7620">
            <a:solidFill>
              <a:srgbClr val="C0B1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6446520" y="0"/>
            <a:ext cx="365760" cy="0"/>
          </a:xfrm>
          <a:prstGeom prst="line">
            <a:avLst/>
          </a:prstGeom>
          <a:ln w="7620">
            <a:solidFill>
              <a:srgbClr val="C0B1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6446520" y="0"/>
            <a:ext cx="365760" cy="0"/>
          </a:xfrm>
          <a:prstGeom prst="line">
            <a:avLst/>
          </a:prstGeom>
          <a:ln w="7620">
            <a:solidFill>
              <a:srgbClr val="C0B1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>
            <a:off x="8732520" y="0"/>
            <a:ext cx="914400" cy="0"/>
          </a:xfrm>
          <a:prstGeom prst="line">
            <a:avLst/>
          </a:prstGeom>
          <a:ln w="7620">
            <a:solidFill>
              <a:srgbClr val="C0B1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8732520" y="0"/>
            <a:ext cx="914400" cy="0"/>
          </a:xfrm>
          <a:prstGeom prst="line">
            <a:avLst/>
          </a:prstGeom>
          <a:ln w="7620">
            <a:solidFill>
              <a:srgbClr val="C0B1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 flipV="1">
            <a:off x="8732520" y="0"/>
            <a:ext cx="914400" cy="0"/>
          </a:xfrm>
          <a:prstGeom prst="line">
            <a:avLst/>
          </a:prstGeom>
          <a:ln w="7620">
            <a:solidFill>
              <a:srgbClr val="C0B1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8732520" y="0"/>
            <a:ext cx="914400" cy="0"/>
          </a:xfrm>
          <a:prstGeom prst="line">
            <a:avLst/>
          </a:prstGeom>
          <a:ln w="7620">
            <a:solidFill>
              <a:srgbClr val="C0B1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 flipV="1">
            <a:off x="8732520" y="0"/>
            <a:ext cx="914400" cy="0"/>
          </a:xfrm>
          <a:prstGeom prst="line">
            <a:avLst/>
          </a:prstGeom>
          <a:ln w="7620">
            <a:solidFill>
              <a:srgbClr val="C0B1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777239" y="6611112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 dirty="0">
                <a:solidFill>
                  <a:srgbClr val="5A5247"/>
                </a:solidFill>
                <a:latin typeface="Segoe UI"/>
              </a:rPr>
              <a:t>All connections deterministic.  All weights pre-registered before any out-of-sample test.  Nothing is learned from data.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77240" y="644652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8C8476"/>
                </a:solidFill>
                <a:latin typeface="Consolas"/>
              </a:rPr>
              <a:t>BearWatch BSI  ·  FIN 580  ·  Spring 2026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362895" y="644652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8C8476"/>
                </a:solidFill>
                <a:latin typeface="Consolas"/>
              </a:rPr>
              <a:t>05 / 29</a:t>
            </a:r>
          </a:p>
        </p:txBody>
      </p:sp>
      <p:pic>
        <p:nvPicPr>
          <p:cNvPr id="86" name="Picture 85" descr="Illinois-Logo-No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1575" y="6355080"/>
            <a:ext cx="54864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AF6EC"/>
              </a:gs>
              <a:gs pos="100000">
                <a:srgbClr val="E9DFC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4A6E8F"/>
                </a:solidFill>
                <a:latin typeface="Consolas"/>
              </a:rPr>
              <a:t>FOUNDATION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94360"/>
            <a:ext cx="502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4A6E8F"/>
                </a:solidFill>
                <a:latin typeface="Consolas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621792"/>
            <a:ext cx="10042855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HYPOTHESIS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960120"/>
            <a:ext cx="10637215" cy="0"/>
          </a:xfrm>
          <a:prstGeom prst="line">
            <a:avLst/>
          </a:prstGeom>
          <a:ln w="17780">
            <a:solidFill>
              <a:srgbClr val="4A6E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1143000"/>
            <a:ext cx="10637215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1F1B16"/>
                </a:solidFill>
                <a:latin typeface="Cambria"/>
              </a:rPr>
              <a:t>Soft-signal alt-data leads hard-signal credit deterioration.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106372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5A5247"/>
                </a:solidFill>
                <a:latin typeface="Segoe UI"/>
              </a:rPr>
              <a:t>By 30 to 90 days, in consumer-credit-exposed firms.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697480"/>
            <a:ext cx="6368302" cy="246888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25400">
            <a:solidFill>
              <a:srgbClr val="E84A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143000" y="283464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E84A27"/>
                </a:solidFill>
                <a:latin typeface="Consolas"/>
              </a:rPr>
              <a:t>H₁  ·  PRIMARY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099816"/>
            <a:ext cx="5636782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700" b="1" i="0" dirty="0">
                <a:solidFill>
                  <a:srgbClr val="1F1B16"/>
                </a:solidFill>
                <a:latin typeface="Segoe UI"/>
              </a:rPr>
              <a:t>BSI Granger-causes forward 30-day equity abnormal returns,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700" b="1" i="0" dirty="0">
                <a:solidFill>
                  <a:srgbClr val="1F1B16"/>
                </a:solidFill>
                <a:latin typeface="Segoe UI"/>
              </a:rPr>
              <a:t>after controlling for firm fixed effects and the Federal Reserve Economic Data (FRED) macro panel.</a:t>
            </a:r>
          </a:p>
          <a:p>
            <a:pPr algn="l">
              <a:lnSpc>
                <a:spcPct val="140000"/>
              </a:lnSpc>
              <a:spcBef>
                <a:spcPts val="1400"/>
              </a:spcBef>
            </a:pPr>
            <a:r>
              <a:rPr sz="1300" b="1" i="1" dirty="0">
                <a:solidFill>
                  <a:srgbClr val="B83518"/>
                </a:solidFill>
                <a:latin typeface="Consolas"/>
              </a:rPr>
              <a:t>Reject H₀ at p &lt; 0.05  →  signal carries information.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11302" y="2697480"/>
            <a:ext cx="3903152" cy="246888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19050">
            <a:solidFill>
              <a:srgbClr val="B856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785622" y="2834640"/>
            <a:ext cx="390315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B85638"/>
                </a:solidFill>
                <a:latin typeface="Consolas"/>
              </a:rPr>
              <a:t>H₀  ·  NULL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85622" y="3111138"/>
            <a:ext cx="3354512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5000"/>
              </a:lnSpc>
              <a:spcBef>
                <a:spcPts val="800"/>
              </a:spcBef>
            </a:pPr>
            <a:r>
              <a:rPr sz="1400" b="1" i="0" dirty="0">
                <a:solidFill>
                  <a:srgbClr val="1F1B16"/>
                </a:solidFill>
                <a:latin typeface="Segoe UI"/>
              </a:rPr>
              <a:t>BSI carries no incremental predictive content.</a:t>
            </a:r>
          </a:p>
          <a:p>
            <a:pPr algn="l">
              <a:lnSpc>
                <a:spcPct val="140000"/>
              </a:lnSpc>
              <a:spcBef>
                <a:spcPts val="1200"/>
              </a:spcBef>
            </a:pPr>
            <a:r>
              <a:rPr sz="1200" b="0" i="1" dirty="0">
                <a:solidFill>
                  <a:srgbClr val="5A5247"/>
                </a:solidFill>
                <a:latin typeface="Segoe UI"/>
              </a:rPr>
              <a:t>Apparent association explained by: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200" b="0" i="0" dirty="0">
                <a:solidFill>
                  <a:srgbClr val="5A5247"/>
                </a:solidFill>
                <a:latin typeface="Consolas"/>
              </a:rPr>
              <a:t>·  omitted-variable bias</a:t>
            </a:r>
          </a:p>
          <a:p>
            <a:pPr algn="l">
              <a:lnSpc>
                <a:spcPct val="140000"/>
              </a:lnSpc>
              <a:spcBef>
                <a:spcPts val="200"/>
              </a:spcBef>
            </a:pPr>
            <a:r>
              <a:rPr sz="1200" b="0" i="0" dirty="0">
                <a:solidFill>
                  <a:srgbClr val="5A5247"/>
                </a:solidFill>
                <a:latin typeface="Consolas"/>
              </a:rPr>
              <a:t>·  multiple-testing</a:t>
            </a:r>
          </a:p>
          <a:p>
            <a:pPr algn="l">
              <a:lnSpc>
                <a:spcPct val="140000"/>
              </a:lnSpc>
              <a:spcBef>
                <a:spcPts val="200"/>
              </a:spcBef>
            </a:pPr>
            <a:r>
              <a:rPr sz="1200" b="0" i="0" dirty="0">
                <a:solidFill>
                  <a:srgbClr val="5A5247"/>
                </a:solidFill>
                <a:latin typeface="Consolas"/>
              </a:rPr>
              <a:t>·  chance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349240"/>
            <a:ext cx="10637215" cy="777240"/>
          </a:xfrm>
          <a:prstGeom prst="roundRect">
            <a:avLst>
              <a:gd name="adj" fmla="val 3000"/>
            </a:avLst>
          </a:prstGeom>
          <a:solidFill>
            <a:srgbClr val="F4C0A8"/>
          </a:solidFill>
          <a:ln w="12700">
            <a:solidFill>
              <a:srgbClr val="E84A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143000" y="5440680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B83518"/>
                </a:solidFill>
                <a:latin typeface="Consolas"/>
              </a:rPr>
              <a:t>ECONOMIC INTUITION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5669280"/>
            <a:ext cx="9905695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>
                <a:solidFill>
                  <a:srgbClr val="B83518"/>
                </a:solidFill>
                <a:latin typeface="Segoe UI"/>
              </a:rPr>
              <a:t>Complaints come first.  Charge-offs follow.  Spreads widen.  Equity drops.   The order is the thesis.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44652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8C8476"/>
                </a:solidFill>
                <a:latin typeface="Consolas"/>
              </a:rPr>
              <a:t>BearWatch BSI  ·  FIN 580  ·  Spring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62895" y="644652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8C8476"/>
                </a:solidFill>
                <a:latin typeface="Consolas"/>
              </a:rPr>
              <a:t>06 / 29</a:t>
            </a:r>
          </a:p>
        </p:txBody>
      </p:sp>
      <p:pic>
        <p:nvPicPr>
          <p:cNvPr id="20" name="Picture 19" descr="Illinois-Logo-No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1575" y="6355080"/>
            <a:ext cx="54864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AF6EC"/>
              </a:gs>
              <a:gs pos="100000">
                <a:srgbClr val="E9DFC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4A6E8F"/>
                </a:solidFill>
                <a:latin typeface="Consolas"/>
              </a:rPr>
              <a:t>FOUNDATION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94360"/>
            <a:ext cx="502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4A6E8F"/>
                </a:solidFill>
                <a:latin typeface="Consolas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621792"/>
            <a:ext cx="10042855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THEORETICAL FRAMEWORK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960120"/>
            <a:ext cx="10637215" cy="0"/>
          </a:xfrm>
          <a:prstGeom prst="line">
            <a:avLst/>
          </a:prstGeom>
          <a:ln w="17780">
            <a:solidFill>
              <a:srgbClr val="4A6E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1143000"/>
            <a:ext cx="10637215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1F1B16"/>
                </a:solidFill>
                <a:latin typeface="Cambria"/>
              </a:rPr>
              <a:t>A structural cascade. BSI sits at T+0.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106372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5A5247"/>
                </a:solidFill>
                <a:latin typeface="Segoe UI"/>
              </a:rPr>
              <a:t>Detect at the soft-signal layer; trade on the spread or equity response.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606040"/>
            <a:ext cx="2054291" cy="269748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9525">
            <a:solidFill>
              <a:srgbClr val="D8CB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2834640"/>
            <a:ext cx="2054291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>
                <a:solidFill>
                  <a:srgbClr val="E84A27"/>
                </a:solidFill>
                <a:latin typeface="Consolas"/>
              </a:rPr>
              <a:t>T+0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474720"/>
            <a:ext cx="2054291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>
                <a:solidFill>
                  <a:srgbClr val="1F1B16"/>
                </a:solidFill>
                <a:latin typeface="Segoe UI"/>
              </a:rPr>
              <a:t>Soft signals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977640"/>
            <a:ext cx="1871411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5A5247"/>
                </a:solidFill>
                <a:latin typeface="Consolas"/>
              </a:rPr>
              <a:t>CFPB · Reddit · Trends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846320"/>
            <a:ext cx="2054291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E84A27"/>
                </a:solidFill>
                <a:latin typeface="Consolas"/>
              </a:rPr>
              <a:t>BSI input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922971" y="2606040"/>
            <a:ext cx="2054291" cy="269748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9525">
            <a:solidFill>
              <a:srgbClr val="D8CB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922971" y="2834640"/>
            <a:ext cx="2054291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>
                <a:solidFill>
                  <a:srgbClr val="5A5247"/>
                </a:solidFill>
                <a:latin typeface="Consolas"/>
              </a:rPr>
              <a:t>T+1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2971" y="3474720"/>
            <a:ext cx="2054291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>
                <a:solidFill>
                  <a:srgbClr val="1F1B16"/>
                </a:solidFill>
                <a:latin typeface="Segoe UI"/>
              </a:rPr>
              <a:t>days past due (DPD) 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4411" y="3977640"/>
            <a:ext cx="1871411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5A5247"/>
                </a:solidFill>
                <a:latin typeface="Consolas"/>
              </a:rPr>
              <a:t>30+ / 60+ buckets fill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2971" y="4846320"/>
            <a:ext cx="2054291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5A5247"/>
                </a:solidFill>
                <a:latin typeface="Consolas"/>
              </a:rPr>
              <a:t>lag ~30-90d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68702" y="2606040"/>
            <a:ext cx="2054291" cy="269748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9525">
            <a:solidFill>
              <a:srgbClr val="D8CB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068702" y="2834640"/>
            <a:ext cx="2054291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>
                <a:solidFill>
                  <a:srgbClr val="B8841C"/>
                </a:solidFill>
                <a:latin typeface="Consolas"/>
              </a:rPr>
              <a:t>T+2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68702" y="3474720"/>
            <a:ext cx="2054291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>
                <a:solidFill>
                  <a:srgbClr val="1F1B16"/>
                </a:solidFill>
                <a:latin typeface="Segoe UI"/>
              </a:rPr>
              <a:t>Spreads widen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60142" y="3977640"/>
            <a:ext cx="1871411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5A5247"/>
                </a:solidFill>
                <a:latin typeface="Consolas"/>
              </a:rPr>
              <a:t>junior tranche I-spread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68702" y="4846320"/>
            <a:ext cx="2054291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B8841C"/>
                </a:solidFill>
                <a:latin typeface="Consolas"/>
              </a:rPr>
              <a:t>spread LHS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14433" y="2606040"/>
            <a:ext cx="2054291" cy="269748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9525">
            <a:solidFill>
              <a:srgbClr val="D8CB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214433" y="2834640"/>
            <a:ext cx="2054291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>
                <a:solidFill>
                  <a:srgbClr val="2D7A4F"/>
                </a:solidFill>
                <a:latin typeface="Consolas"/>
              </a:rPr>
              <a:t>T+3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4433" y="3474720"/>
            <a:ext cx="2054291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>
                <a:solidFill>
                  <a:srgbClr val="1F1B16"/>
                </a:solidFill>
                <a:latin typeface="Segoe UI"/>
              </a:rPr>
              <a:t>Equity drops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05873" y="3977640"/>
            <a:ext cx="1871411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5A5247"/>
                </a:solidFill>
                <a:latin typeface="Consolas"/>
              </a:rPr>
              <a:t>forward 30d CAR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14433" y="4846320"/>
            <a:ext cx="2054291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2D7A4F"/>
                </a:solidFill>
                <a:latin typeface="Consolas"/>
              </a:rPr>
              <a:t>equity LHS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360164" y="2606040"/>
            <a:ext cx="2054291" cy="269748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9525">
            <a:solidFill>
              <a:srgbClr val="D8CB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360164" y="2834640"/>
            <a:ext cx="2054291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>
                <a:solidFill>
                  <a:srgbClr val="B85638"/>
                </a:solidFill>
                <a:latin typeface="Consolas"/>
              </a:rPr>
              <a:t>T+4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60164" y="3474720"/>
            <a:ext cx="2054291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>
                <a:solidFill>
                  <a:srgbClr val="1F1B16"/>
                </a:solidFill>
                <a:latin typeface="Segoe UI"/>
              </a:rPr>
              <a:t>Default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51604" y="3977640"/>
            <a:ext cx="1871411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0">
                <a:solidFill>
                  <a:srgbClr val="5A5247"/>
                </a:solidFill>
                <a:latin typeface="Consolas"/>
              </a:rPr>
              <a:t>bankruptcy filing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60164" y="4846320"/>
            <a:ext cx="2054291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B85638"/>
                </a:solidFill>
                <a:latin typeface="Consolas"/>
              </a:rPr>
              <a:t>endogenous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5852160"/>
            <a:ext cx="106372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0" i="1">
                <a:solidFill>
                  <a:srgbClr val="5A5247"/>
                </a:solidFill>
                <a:latin typeface="Segoe UI"/>
              </a:rPr>
              <a:t>BSI is a leading indicator. It does not predict defaults — those are too late.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644652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8C8476"/>
                </a:solidFill>
                <a:latin typeface="Consolas"/>
              </a:rPr>
              <a:t>BearWatch BSI  ·  FIN 580  ·  Spring 2026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62895" y="644652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8C8476"/>
                </a:solidFill>
                <a:latin typeface="Consolas"/>
              </a:rPr>
              <a:t>07 / 29</a:t>
            </a:r>
          </a:p>
        </p:txBody>
      </p:sp>
      <p:pic>
        <p:nvPicPr>
          <p:cNvPr id="37" name="Picture 36" descr="Illinois-Logo-No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1575" y="6355080"/>
            <a:ext cx="54864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AF6EC"/>
              </a:gs>
              <a:gs pos="100000">
                <a:srgbClr val="E9DFC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E84A27"/>
                </a:solidFill>
                <a:latin typeface="Consolas"/>
              </a:rPr>
              <a:t>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94360"/>
            <a:ext cx="502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E84A27"/>
                </a:solidFill>
                <a:latin typeface="Consolas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621792"/>
            <a:ext cx="10042855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DATA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960120"/>
            <a:ext cx="10637215" cy="0"/>
          </a:xfrm>
          <a:prstGeom prst="line">
            <a:avLst/>
          </a:prstGeom>
          <a:ln w="17780">
            <a:solidFill>
              <a:srgbClr val="E84A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1143000"/>
            <a:ext cx="10637215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1F1B16"/>
                </a:solidFill>
                <a:latin typeface="Cambria"/>
              </a:rPr>
              <a:t>Eight pillars. All public sources.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106372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5A5247"/>
                </a:solidFill>
                <a:latin typeface="Segoe UI"/>
              </a:rPr>
              <a:t>CFPB and MOVE carry half the weight. The other six fill the picture.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2743200"/>
            <a:ext cx="36576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8C8476"/>
                </a:solidFill>
                <a:latin typeface="Consolas"/>
              </a:rPr>
              <a:t>Pillar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83480" y="2743200"/>
            <a:ext cx="429768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8C8476"/>
                </a:solidFill>
                <a:latin typeface="Consolas"/>
              </a:rPr>
              <a:t>Source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64040" y="2743200"/>
            <a:ext cx="18288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8C8476"/>
                </a:solidFill>
                <a:latin typeface="Consolas"/>
              </a:rPr>
              <a:t>Weight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43000" y="3072384"/>
            <a:ext cx="9905695" cy="0"/>
          </a:xfrm>
          <a:prstGeom prst="line">
            <a:avLst/>
          </a:prstGeom>
          <a:ln w="9525">
            <a:solidFill>
              <a:srgbClr val="D8CB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143000" y="3172968"/>
            <a:ext cx="36576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F1B16"/>
                </a:solidFill>
                <a:latin typeface="Segoe UI"/>
              </a:rPr>
              <a:t>CFPB complaints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83480" y="3172968"/>
            <a:ext cx="429768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consumerfinance.gov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64040" y="3172968"/>
            <a:ext cx="18288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E84A27"/>
                </a:solidFill>
                <a:latin typeface="Consolas"/>
              </a:rPr>
              <a:t>0.45 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3557016"/>
            <a:ext cx="36576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F1B16"/>
                </a:solidFill>
                <a:latin typeface="Segoe UI"/>
              </a:rPr>
              <a:t>MOVE rates-vol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83480" y="3557016"/>
            <a:ext cx="429768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ICE BofA / FRED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64040" y="3557016"/>
            <a:ext cx="18288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→ G3 gate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3941064"/>
            <a:ext cx="36576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F1B16"/>
                </a:solidFill>
                <a:latin typeface="Segoe UI"/>
              </a:rPr>
              <a:t>App-store reviews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83480" y="3941064"/>
            <a:ext cx="429768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Sensor Tower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64040" y="3941064"/>
            <a:ext cx="18288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0.15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4325112"/>
            <a:ext cx="36576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F1B16"/>
                </a:solidFill>
                <a:latin typeface="Segoe UI"/>
              </a:rPr>
              <a:t>Reddit text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83480" y="4325112"/>
            <a:ext cx="429768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Common Crawl + PRAW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64040" y="4325112"/>
            <a:ext cx="18288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0.10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" y="4709160"/>
            <a:ext cx="36576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F1B16"/>
                </a:solidFill>
                <a:latin typeface="Segoe UI"/>
              </a:rPr>
              <a:t>Bluesky text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83480" y="4709160"/>
            <a:ext cx="429768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AT-Proto firehose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64040" y="4709160"/>
            <a:ext cx="18288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0.05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5093208"/>
            <a:ext cx="36576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F1B16"/>
                </a:solidFill>
                <a:latin typeface="Segoe UI"/>
              </a:rPr>
              <a:t>Google Trends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83480" y="5093208"/>
            <a:ext cx="429768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trends.google.com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64040" y="5093208"/>
            <a:ext cx="18288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0.10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43000" y="5477256"/>
            <a:ext cx="36576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F1B16"/>
                </a:solidFill>
                <a:latin typeface="Segoe UI"/>
              </a:rPr>
              <a:t>asset-backed securities (ABS) pool metrics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83480" y="5477256"/>
            <a:ext cx="429768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EDGAR ABS-EE filings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64040" y="5477256"/>
            <a:ext cx="18288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0.10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3000" y="5861304"/>
            <a:ext cx="36576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F1B16"/>
                </a:solidFill>
                <a:latin typeface="Segoe UI"/>
              </a:rPr>
              <a:t>8-K filings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83480" y="5861304"/>
            <a:ext cx="429768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Securities and Exchange Commission (SEC) EDGAR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64040" y="5861304"/>
            <a:ext cx="18288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0.05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6126480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1">
                <a:solidFill>
                  <a:srgbClr val="8C8476"/>
                </a:solidFill>
                <a:latin typeface="Consolas"/>
              </a:rPr>
              <a:t>★ load-bearing  ·  even when the other six are coverage-gated off, these two anchor the composite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644652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8C8476"/>
                </a:solidFill>
                <a:latin typeface="Consolas"/>
              </a:rPr>
              <a:t>BearWatch BSI  ·  FIN 580  ·  Spring 2026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362895" y="644652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8C8476"/>
                </a:solidFill>
                <a:latin typeface="Consolas"/>
              </a:rPr>
              <a:t>08 / 29</a:t>
            </a:r>
          </a:p>
        </p:txBody>
      </p:sp>
      <p:pic>
        <p:nvPicPr>
          <p:cNvPr id="40" name="Picture 39" descr="Illinois-Logo-No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1575" y="6355080"/>
            <a:ext cx="54864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AF6EC"/>
              </a:gs>
              <a:gs pos="100000">
                <a:srgbClr val="E9DFC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E84A27"/>
                </a:solidFill>
                <a:latin typeface="Consolas"/>
              </a:rPr>
              <a:t>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94360"/>
            <a:ext cx="502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E84A27"/>
                </a:solidFill>
                <a:latin typeface="Consolas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621792"/>
            <a:ext cx="10042855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METHODOLOGY · DATA TREATMENT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960120"/>
            <a:ext cx="10637215" cy="0"/>
          </a:xfrm>
          <a:prstGeom prst="line">
            <a:avLst/>
          </a:prstGeom>
          <a:ln w="17780">
            <a:solidFill>
              <a:srgbClr val="E84A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1143000"/>
            <a:ext cx="10637215" cy="5932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 dirty="0">
                <a:solidFill>
                  <a:srgbClr val="1F1B16"/>
                </a:solidFill>
                <a:latin typeface="Cambria"/>
              </a:rPr>
              <a:t>Spike-detection on volume.  EWMA z-scored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106372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5A5247"/>
                </a:solidFill>
                <a:latin typeface="Segoe UI"/>
              </a:rPr>
              <a:t>BSI = z-scored spikes in customer-distress volume across 8 parallel feeds.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606040"/>
            <a:ext cx="10637215" cy="594360"/>
          </a:xfrm>
          <a:prstGeom prst="roundRect">
            <a:avLst>
              <a:gd name="adj" fmla="val 3000"/>
            </a:avLst>
          </a:prstGeom>
          <a:solidFill>
            <a:srgbClr val="F4C0A8"/>
          </a:solidFill>
          <a:ln w="15240">
            <a:solidFill>
              <a:srgbClr val="E84A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143000" y="2715768"/>
            <a:ext cx="990569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1" i="0">
                <a:solidFill>
                  <a:srgbClr val="B83518"/>
                </a:solidFill>
                <a:latin typeface="Consolas"/>
              </a:rPr>
              <a:t>VOLUME LOGIC  ·  7 of 8 pillars are volume-derived; we detect spikes vs each firm's own history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3337560"/>
            <a:ext cx="10637215" cy="150876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9525">
            <a:solidFill>
              <a:srgbClr val="D8CB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143000" y="3456432"/>
            <a:ext cx="99056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E84A27"/>
                </a:solidFill>
                <a:latin typeface="Consolas"/>
              </a:rPr>
              <a:t>EWMA  =  exponentially-weighted moving average  ·  half-life H = 250 trading 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822191"/>
            <a:ext cx="990569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600" b="1" i="0">
                <a:solidFill>
                  <a:srgbClr val="1F1B16"/>
                </a:solidFill>
                <a:latin typeface="Consolas"/>
              </a:rPr>
              <a:t>BSIₜ  =  Σᵢ  γᵢ · wᵢ · z^EWMA(Xᵢ,ₜ)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434840"/>
            <a:ext cx="9905695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>
                <a:solidFill>
                  <a:srgbClr val="5A5247"/>
                </a:solidFill>
                <a:latin typeface="Consolas"/>
              </a:rPr>
              <a:t>γᵢ ∈ {0,1}  ·  coverage gate fires only when pillar density ≥ θᵢ  ·  no imputation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029200"/>
            <a:ext cx="3423818" cy="118872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15240">
            <a:solidFill>
              <a:srgbClr val="E84A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60120" y="5193792"/>
            <a:ext cx="305805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E84A27"/>
                </a:solidFill>
                <a:latin typeface="Segoe UI"/>
              </a:rPr>
              <a:t>EWMA half-life H = 250d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5623560"/>
            <a:ext cx="3058058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 i="0">
                <a:solidFill>
                  <a:srgbClr val="5A5247"/>
                </a:solidFill>
                <a:latin typeface="Segoe UI"/>
              </a:rPr>
              <a:t>λ ≈ 0.00277  →  ~1-year effective memory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83938" y="5029200"/>
            <a:ext cx="3423818" cy="118872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15240">
            <a:solidFill>
              <a:srgbClr val="B884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66818" y="5193792"/>
            <a:ext cx="305805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B8841C"/>
                </a:solidFill>
                <a:latin typeface="Segoe UI"/>
              </a:rPr>
              <a:t>Coverage gates, no imputation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6818" y="5623560"/>
            <a:ext cx="3058058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 i="0">
                <a:solidFill>
                  <a:srgbClr val="5A5247"/>
                </a:solidFill>
                <a:latin typeface="Segoe UI"/>
              </a:rPr>
              <a:t>synthesised false positives cost more than missed alerts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90636" y="5029200"/>
            <a:ext cx="3423818" cy="118872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15240">
            <a:solidFill>
              <a:srgbClr val="2D7A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173516" y="5193792"/>
            <a:ext cx="305805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2D7A4F"/>
                </a:solidFill>
                <a:latin typeface="Segoe UI"/>
              </a:rPr>
              <a:t>Pre-registered weights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73516" y="5623560"/>
            <a:ext cx="3058058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 i="0">
                <a:solidFill>
                  <a:srgbClr val="5A5247"/>
                </a:solidFill>
                <a:latin typeface="Segoe UI"/>
              </a:rPr>
              <a:t>{wᵢ} hash-locked before any out-of-sample test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44652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8C8476"/>
                </a:solidFill>
                <a:latin typeface="Consolas"/>
              </a:rPr>
              <a:t>BearWatch BSI  ·  FIN 580  ·  Spring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62895" y="644652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8C8476"/>
                </a:solidFill>
                <a:latin typeface="Consolas"/>
              </a:rPr>
              <a:t>09 / 29</a:t>
            </a:r>
          </a:p>
        </p:txBody>
      </p:sp>
      <p:pic>
        <p:nvPicPr>
          <p:cNvPr id="26" name="Picture 25" descr="Illinois-Logo-No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1575" y="6355080"/>
            <a:ext cx="54864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AF6EC"/>
              </a:gs>
              <a:gs pos="100000">
                <a:srgbClr val="E9DFC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E84A27"/>
                </a:solidFill>
                <a:latin typeface="Consolas"/>
              </a:rPr>
              <a:t>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94360"/>
            <a:ext cx="502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E84A27"/>
                </a:solidFill>
                <a:latin typeface="Consolas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621792"/>
            <a:ext cx="10042855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METHODOLOGY · REGRESSION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960120"/>
            <a:ext cx="10637215" cy="0"/>
          </a:xfrm>
          <a:prstGeom prst="line">
            <a:avLst/>
          </a:prstGeom>
          <a:ln w="17780">
            <a:solidFill>
              <a:srgbClr val="E84A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1143000"/>
            <a:ext cx="10637215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1F1B16"/>
                </a:solidFill>
                <a:latin typeface="Cambria"/>
              </a:rPr>
              <a:t>Two specifications. Independent failure modes.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106372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5A5247"/>
                </a:solidFill>
                <a:latin typeface="Segoe UI"/>
              </a:rPr>
              <a:t>Granger pins down direction. Panel pins down magnitude — and rules out macro confound.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606040"/>
            <a:ext cx="5135727" cy="329184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9525">
            <a:solidFill>
              <a:srgbClr val="D8CB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97280" y="2743200"/>
            <a:ext cx="513572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E84A27"/>
                </a:solidFill>
                <a:latin typeface="Consolas"/>
              </a:rPr>
              <a:t>DIRECTION  ·  GRANGER F-TEST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200400"/>
            <a:ext cx="4495647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1F1B16"/>
                </a:solidFill>
                <a:latin typeface="Consolas"/>
              </a:rPr>
              <a:t>Δ log CFPBₜ = α + Σ φₖ Δ log CFPBₜ₋ₖ + Σ βₖ BSIₜ₋ₖ + εₜ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206240"/>
            <a:ext cx="4495647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1800"/>
              </a:spcBef>
            </a:pPr>
            <a:r>
              <a:rPr sz="1100" b="0" i="1">
                <a:solidFill>
                  <a:srgbClr val="5A5247"/>
                </a:solidFill>
                <a:latin typeface="Consolas"/>
              </a:rPr>
              <a:t>H₀ :  βₖ = 0  ∀ k</a:t>
            </a:r>
          </a:p>
          <a:p>
            <a:pPr algn="l">
              <a:lnSpc>
                <a:spcPct val="150000"/>
              </a:lnSpc>
              <a:spcBef>
                <a:spcPts val="600"/>
              </a:spcBef>
            </a:pPr>
            <a:r>
              <a:rPr sz="1100" b="0" i="1">
                <a:solidFill>
                  <a:srgbClr val="5A5247"/>
                </a:solidFill>
                <a:latin typeface="Segoe UI"/>
              </a:rPr>
              <a:t>Per-firm test, 1-month lag, FDR-corrected across 27 firms.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78727" y="2606040"/>
            <a:ext cx="5135727" cy="329184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9525">
            <a:solidFill>
              <a:srgbClr val="D8CB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98767" y="2743200"/>
            <a:ext cx="513572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E84A27"/>
                </a:solidFill>
                <a:latin typeface="Consolas"/>
              </a:rPr>
              <a:t>MAGNITUDE  ·  PANEL REGRESSION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98767" y="3200400"/>
            <a:ext cx="4495647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1F1B16"/>
                </a:solidFill>
                <a:latin typeface="Consolas"/>
              </a:rPr>
              <a:t>CARᵢ,ₜ:ₜ₊₃₀ = α + β · BSIᵢ,ₜ₋₁ + γ' Mₜ + μᵢ + εᵢ,ₜ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98767" y="3794760"/>
            <a:ext cx="449564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A5247"/>
                </a:solidFill>
                <a:latin typeface="Segoe UI"/>
              </a:rPr>
              <a:t>CAR = cumulative abnormal returns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8767" y="4206240"/>
            <a:ext cx="4495647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1800"/>
              </a:spcBef>
            </a:pPr>
            <a:r>
              <a:rPr sz="1100" b="0" i="1">
                <a:solidFill>
                  <a:srgbClr val="5A5247"/>
                </a:solidFill>
                <a:latin typeface="Consolas"/>
              </a:rPr>
              <a:t>Mₜ  =  UNRATE, STLFSI4, NFCI, high-yield option-adjusted spread (HY OAS)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100" b="0" i="1">
                <a:solidFill>
                  <a:srgbClr val="5A5247"/>
                </a:solidFill>
                <a:latin typeface="Consolas"/>
              </a:rPr>
              <a:t>μᵢ  =  firm fixed effects</a:t>
            </a:r>
          </a:p>
          <a:p>
            <a:pPr algn="l">
              <a:lnSpc>
                <a:spcPct val="150000"/>
              </a:lnSpc>
              <a:spcBef>
                <a:spcPts val="800"/>
              </a:spcBef>
            </a:pPr>
            <a:r>
              <a:rPr sz="1100" b="0" i="1">
                <a:solidFill>
                  <a:srgbClr val="5A5247"/>
                </a:solidFill>
                <a:latin typeface="Segoe UI"/>
              </a:rPr>
              <a:t>Six SE (standard-error) estimators applied — see Results slide.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44652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8C8476"/>
                </a:solidFill>
                <a:latin typeface="Consolas"/>
              </a:rPr>
              <a:t>BearWatch BSI  ·  FIN 580  ·  Spring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62895" y="644652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8C8476"/>
                </a:solidFill>
                <a:latin typeface="Consolas"/>
              </a:rPr>
              <a:t>10 / 29</a:t>
            </a:r>
          </a:p>
        </p:txBody>
      </p:sp>
      <p:pic>
        <p:nvPicPr>
          <p:cNvPr id="20" name="Picture 19" descr="Illinois-Logo-No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1575" y="6355080"/>
            <a:ext cx="54864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AF6EC"/>
              </a:gs>
              <a:gs pos="100000">
                <a:srgbClr val="E9DFC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E84A27"/>
                </a:solidFill>
                <a:latin typeface="Consolas"/>
              </a:rPr>
              <a:t>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94360"/>
            <a:ext cx="502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E84A27"/>
                </a:solidFill>
                <a:latin typeface="Consolas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621792"/>
            <a:ext cx="10042855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METHODOLOGY · ANALYSIS &amp; ROBUSTNESS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960120"/>
            <a:ext cx="10637215" cy="0"/>
          </a:xfrm>
          <a:prstGeom prst="line">
            <a:avLst/>
          </a:prstGeom>
          <a:ln w="17780">
            <a:solidFill>
              <a:srgbClr val="E84A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1143000"/>
            <a:ext cx="10637215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1F1B16"/>
                </a:solidFill>
                <a:latin typeface="Cambria"/>
              </a:rPr>
              <a:t>Five canonical events.  27-firm population.  Six robustness layers.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106372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5A5247"/>
                </a:solidFill>
                <a:latin typeface="Segoe UI"/>
              </a:rPr>
              <a:t>Designed to fail independently if the headline result is artefactual.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606040"/>
            <a:ext cx="5135727" cy="333756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9525">
            <a:solidFill>
              <a:srgbClr val="D8CB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51560" y="2743200"/>
            <a:ext cx="513572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E84A27"/>
                </a:solidFill>
                <a:latin typeface="Consolas"/>
              </a:rPr>
              <a:t>CANONICAL EVENTS  ·  n = 5 (15 with sub-events)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108960"/>
            <a:ext cx="4587087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1000"/>
              </a:spcBef>
            </a:pPr>
            <a:r>
              <a:rPr sz="1300" b="0" i="0">
                <a:solidFill>
                  <a:srgbClr val="1F1B16"/>
                </a:solidFill>
                <a:latin typeface="Segoe UI"/>
              </a:rPr>
              <a:t>CVNA  ·  Carvana liquidity scare 2022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300" b="0" i="0">
                <a:solidFill>
                  <a:srgbClr val="1F1B16"/>
                </a:solidFill>
                <a:latin typeface="Segoe UI"/>
              </a:rPr>
              <a:t>AFRM  ·  Affirm guidance cut 2022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300" b="0" i="0">
                <a:solidFill>
                  <a:srgbClr val="1F1B16"/>
                </a:solidFill>
                <a:latin typeface="Segoe UI"/>
              </a:rPr>
              <a:t>KLAR  ·  Klarna IPO complaint pulse 2024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300" b="0" i="0">
                <a:solidFill>
                  <a:srgbClr val="1F1B16"/>
                </a:solidFill>
                <a:latin typeface="Segoe UI"/>
              </a:rPr>
              <a:t>AFRM  ·  spread widening 2025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300" b="0" i="0">
                <a:solidFill>
                  <a:srgbClr val="1F1B16"/>
                </a:solidFill>
                <a:latin typeface="Segoe UI"/>
              </a:rPr>
              <a:t>BNPL  ·  industry pulse 2024</a:t>
            </a:r>
          </a:p>
          <a:p>
            <a:pPr algn="l">
              <a:lnSpc>
                <a:spcPct val="150000"/>
              </a:lnSpc>
              <a:spcBef>
                <a:spcPts val="1600"/>
              </a:spcBef>
            </a:pPr>
            <a:r>
              <a:rPr sz="1100" b="0" i="1">
                <a:solidFill>
                  <a:srgbClr val="5A5247"/>
                </a:solidFill>
                <a:latin typeface="Segoe UI"/>
              </a:rPr>
              <a:t>Full universe — not a curated subset.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8727" y="2606040"/>
            <a:ext cx="5135727" cy="333756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9525">
            <a:solidFill>
              <a:srgbClr val="D8CB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53047" y="2743200"/>
            <a:ext cx="513572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E84A27"/>
                </a:solidFill>
                <a:latin typeface="Consolas"/>
              </a:rPr>
              <a:t>ROBUSTNESS  ·  6 INDEPENDENT STANDARD-ERROR (SE) LAYERS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108960"/>
            <a:ext cx="4587087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1000"/>
              </a:spcBef>
            </a:pPr>
            <a:r>
              <a:rPr sz="1200" b="0" i="0">
                <a:solidFill>
                  <a:srgbClr val="1F1B16"/>
                </a:solidFill>
                <a:latin typeface="Segoe UI"/>
              </a:rPr>
              <a:t>1.  White heteroskedasticity-consistent (HC1) White heteroskedasticity-robust</a:t>
            </a:r>
          </a:p>
          <a:p>
            <a:pPr algn="l">
              <a:lnSpc>
                <a:spcPct val="140000"/>
              </a:lnSpc>
              <a:spcBef>
                <a:spcPts val="500"/>
              </a:spcBef>
            </a:pPr>
            <a:r>
              <a:rPr sz="1200" b="0" i="0">
                <a:solidFill>
                  <a:srgbClr val="1F1B16"/>
                </a:solidFill>
                <a:latin typeface="Segoe UI"/>
              </a:rPr>
              <a:t>2.  HAC Newey-West (12-lag)</a:t>
            </a:r>
          </a:p>
          <a:p>
            <a:pPr algn="l">
              <a:lnSpc>
                <a:spcPct val="140000"/>
              </a:lnSpc>
              <a:spcBef>
                <a:spcPts val="500"/>
              </a:spcBef>
            </a:pPr>
            <a:r>
              <a:rPr sz="1200" b="0" i="0">
                <a:solidFill>
                  <a:srgbClr val="1F1B16"/>
                </a:solidFill>
                <a:latin typeface="Segoe UI"/>
              </a:rPr>
              <a:t>3.  Cluster-robust by firm</a:t>
            </a:r>
          </a:p>
          <a:p>
            <a:pPr algn="l">
              <a:lnSpc>
                <a:spcPct val="140000"/>
              </a:lnSpc>
              <a:spcBef>
                <a:spcPts val="500"/>
              </a:spcBef>
            </a:pPr>
            <a:r>
              <a:rPr sz="1200" b="0" i="0">
                <a:solidFill>
                  <a:srgbClr val="1F1B16"/>
                </a:solidFill>
                <a:latin typeface="Segoe UI"/>
              </a:rPr>
              <a:t>4.  Two-way clustering (firm × month)</a:t>
            </a:r>
          </a:p>
          <a:p>
            <a:pPr algn="l">
              <a:lnSpc>
                <a:spcPct val="140000"/>
              </a:lnSpc>
              <a:spcBef>
                <a:spcPts val="500"/>
              </a:spcBef>
            </a:pPr>
            <a:r>
              <a:rPr sz="1200" b="1" i="0">
                <a:solidFill>
                  <a:srgbClr val="E84A27"/>
                </a:solidFill>
                <a:latin typeface="Segoe UI"/>
              </a:rPr>
              <a:t>5.  Driscoll-Kraay  ★</a:t>
            </a:r>
          </a:p>
          <a:p>
            <a:pPr algn="l">
              <a:lnSpc>
                <a:spcPct val="140000"/>
              </a:lnSpc>
              <a:spcBef>
                <a:spcPts val="500"/>
              </a:spcBef>
            </a:pPr>
            <a:r>
              <a:rPr sz="1200" b="0" i="0">
                <a:solidFill>
                  <a:srgbClr val="1F1B16"/>
                </a:solidFill>
                <a:latin typeface="Segoe UI"/>
              </a:rPr>
              <a:t>6.  Block-bootstrap CI (10k iters)</a:t>
            </a:r>
          </a:p>
          <a:p>
            <a:pPr algn="l">
              <a:lnSpc>
                <a:spcPct val="140000"/>
              </a:lnSpc>
              <a:spcBef>
                <a:spcPts val="1200"/>
              </a:spcBef>
            </a:pPr>
            <a:r>
              <a:rPr sz="1100" b="0" i="1">
                <a:solidFill>
                  <a:srgbClr val="5A5247"/>
                </a:solidFill>
                <a:latin typeface="Segoe UI"/>
              </a:rPr>
              <a:t>+ permutation null  +  Holm + BH-false discovery rate (FDR)  +  Wilson CIs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44652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8C8476"/>
                </a:solidFill>
                <a:latin typeface="Consolas"/>
              </a:rPr>
              <a:t>BearWatch BSI  ·  FIN 580  ·  Spring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62895" y="644652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8C8476"/>
                </a:solidFill>
                <a:latin typeface="Consolas"/>
              </a:rPr>
              <a:t>11 / 29</a:t>
            </a:r>
          </a:p>
        </p:txBody>
      </p:sp>
      <p:pic>
        <p:nvPicPr>
          <p:cNvPr id="17" name="Picture 16" descr="Illinois-Logo-No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1575" y="6355080"/>
            <a:ext cx="54864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AF6EC"/>
              </a:gs>
              <a:gs pos="100000">
                <a:srgbClr val="E9DFC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B8841C"/>
                </a:solidFill>
                <a:latin typeface="Consolas"/>
              </a:rPr>
              <a:t>EMPIRICAL 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94360"/>
            <a:ext cx="502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B8841C"/>
                </a:solidFill>
                <a:latin typeface="Consolas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621792"/>
            <a:ext cx="10042855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EMPIRICAL FINDINGS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960120"/>
            <a:ext cx="10637215" cy="0"/>
          </a:xfrm>
          <a:prstGeom prst="line">
            <a:avLst/>
          </a:prstGeom>
          <a:ln w="17780">
            <a:solidFill>
              <a:srgbClr val="B884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1143000"/>
            <a:ext cx="10637215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1F1B16"/>
                </a:solidFill>
                <a:latin typeface="Cambria"/>
              </a:rPr>
              <a:t>The numbers.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106372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5A5247"/>
                </a:solidFill>
                <a:latin typeface="Segoe UI"/>
              </a:rPr>
              <a:t>Three independent statistical claims with non-overlapping failure modes.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743200"/>
            <a:ext cx="2522143" cy="237744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12700">
            <a:solidFill>
              <a:srgbClr val="2D7A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3200400"/>
            <a:ext cx="2522143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4200" b="1" i="0">
                <a:solidFill>
                  <a:srgbClr val="2D7A4F"/>
                </a:solidFill>
                <a:latin typeface="Cambria"/>
              </a:rPr>
              <a:t>100%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160520"/>
            <a:ext cx="252214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1" i="0">
                <a:solidFill>
                  <a:srgbClr val="1F1B16"/>
                </a:solidFill>
                <a:latin typeface="Consolas"/>
              </a:rPr>
              <a:t>event sensitivity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526280"/>
            <a:ext cx="2247823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0" i="1">
                <a:solidFill>
                  <a:srgbClr val="5A5247"/>
                </a:solidFill>
                <a:latin typeface="Segoe UI"/>
              </a:rPr>
              <a:t>5 / 5 events caught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82263" y="2743200"/>
            <a:ext cx="2522143" cy="237744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12700">
            <a:solidFill>
              <a:srgbClr val="E84A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482263" y="3200400"/>
            <a:ext cx="2522143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4200" b="1" i="0">
                <a:solidFill>
                  <a:srgbClr val="E84A27"/>
                </a:solidFill>
                <a:latin typeface="Cambria"/>
              </a:rPr>
              <a:t>23 / 27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82263" y="4160520"/>
            <a:ext cx="252214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1" i="0">
                <a:solidFill>
                  <a:srgbClr val="1F1B16"/>
                </a:solidFill>
                <a:latin typeface="Consolas"/>
              </a:rPr>
              <a:t>firms Granger+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9423" y="4526280"/>
            <a:ext cx="2247823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0" i="1">
                <a:solidFill>
                  <a:srgbClr val="5A5247"/>
                </a:solidFill>
                <a:latin typeface="Segoe UI"/>
              </a:rPr>
              <a:t>p &lt; 0.05  ·  median p = 0.0005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7287" y="2743200"/>
            <a:ext cx="2522143" cy="237744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12700">
            <a:solidFill>
              <a:srgbClr val="B83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187287" y="3200400"/>
            <a:ext cx="2522143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4200" b="1" i="0">
                <a:solidFill>
                  <a:srgbClr val="B83518"/>
                </a:solidFill>
                <a:latin typeface="Cambria"/>
              </a:rPr>
              <a:t>p = 0.007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87287" y="4160520"/>
            <a:ext cx="252214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1" i="0">
                <a:solidFill>
                  <a:srgbClr val="1F1B16"/>
                </a:solidFill>
                <a:latin typeface="Consolas"/>
              </a:rPr>
              <a:t>Driscoll-Kraay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24447" y="4526280"/>
            <a:ext cx="2247823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0" i="1">
                <a:solidFill>
                  <a:srgbClr val="5A5247"/>
                </a:solidFill>
                <a:latin typeface="Segoe UI"/>
              </a:rPr>
              <a:t>headline survives strictest SE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892311" y="2743200"/>
            <a:ext cx="2522143" cy="237744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12700">
            <a:solidFill>
              <a:srgbClr val="4A6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892311" y="3200400"/>
            <a:ext cx="2522143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4200" b="1" i="0">
                <a:solidFill>
                  <a:srgbClr val="4A6E8F"/>
                </a:solidFill>
                <a:latin typeface="Cambria"/>
              </a:rPr>
              <a:t>86–100%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92311" y="4160520"/>
            <a:ext cx="252214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1" i="0">
                <a:solidFill>
                  <a:srgbClr val="1F1B16"/>
                </a:solidFill>
                <a:latin typeface="Consolas"/>
              </a:rPr>
              <a:t>specificity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29471" y="4526280"/>
            <a:ext cx="2247823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0" i="1">
                <a:solidFill>
                  <a:srgbClr val="5A5247"/>
                </a:solidFill>
                <a:latin typeface="Segoe UI"/>
              </a:rPr>
              <a:t>across 2.5σ – 3.0σ threshold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440680"/>
            <a:ext cx="1063721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0">
                <a:solidFill>
                  <a:srgbClr val="1F1B16"/>
                </a:solidFill>
                <a:latin typeface="Segoe UI"/>
              </a:rPr>
              <a:t>The equity-side leading-indicator claim survives every standard econometric test.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644652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8C8476"/>
                </a:solidFill>
                <a:latin typeface="Consolas"/>
              </a:rPr>
              <a:t>BearWatch BSI  ·  FIN 580  ·  Spring 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62895" y="644652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8C8476"/>
                </a:solidFill>
                <a:latin typeface="Consolas"/>
              </a:rPr>
              <a:t>12 / 29</a:t>
            </a:r>
          </a:p>
        </p:txBody>
      </p:sp>
      <p:pic>
        <p:nvPicPr>
          <p:cNvPr id="28" name="Picture 27" descr="Illinois-Logo-No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1575" y="6355080"/>
            <a:ext cx="54864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AF6EC"/>
              </a:gs>
              <a:gs pos="100000">
                <a:srgbClr val="E9DFC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B8841C"/>
                </a:solidFill>
                <a:latin typeface="Consolas"/>
              </a:rPr>
              <a:t>EMPIRICAL 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94360"/>
            <a:ext cx="502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B8841C"/>
                </a:solidFill>
                <a:latin typeface="Consolas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621792"/>
            <a:ext cx="10042855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EMPIRICAL EVIDENCE · CANONICAL EVENTS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960120"/>
            <a:ext cx="10637215" cy="0"/>
          </a:xfrm>
          <a:prstGeom prst="line">
            <a:avLst/>
          </a:prstGeom>
          <a:ln w="17780">
            <a:solidFill>
              <a:srgbClr val="B884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1143000"/>
            <a:ext cx="11204303" cy="5932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 dirty="0">
                <a:solidFill>
                  <a:srgbClr val="1F1B16"/>
                </a:solidFill>
                <a:latin typeface="Cambria"/>
              </a:rPr>
              <a:t>Five events.  Five hits.  All cleared </a:t>
            </a:r>
            <a:r>
              <a:rPr lang="en-US" sz="3800" b="1" i="0" dirty="0">
                <a:solidFill>
                  <a:srgbClr val="1F1B16"/>
                </a:solidFill>
                <a:latin typeface="Cambria"/>
              </a:rPr>
              <a:t>at </a:t>
            </a:r>
            <a:r>
              <a:rPr sz="3800" b="1" i="0" dirty="0">
                <a:solidFill>
                  <a:srgbClr val="1F1B16"/>
                </a:solidFill>
                <a:latin typeface="Cambria"/>
              </a:rPr>
              <a:t>z ≥ 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106372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5A5247"/>
                </a:solidFill>
                <a:latin typeface="Segoe UI"/>
              </a:rPr>
              <a:t>Paper Table tab:sens — full universe (n = 27 firms), no curated subset.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697480"/>
            <a:ext cx="18288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8C8476"/>
                </a:solidFill>
                <a:latin typeface="Consolas"/>
              </a:rPr>
              <a:t>Event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360" y="2697480"/>
            <a:ext cx="13716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8C8476"/>
                </a:solidFill>
                <a:latin typeface="Consolas"/>
              </a:rPr>
              <a:t>Firm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1960" y="2697480"/>
            <a:ext cx="14630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8C8476"/>
                </a:solidFill>
                <a:latin typeface="Consolas"/>
              </a:rPr>
              <a:t>Trigger date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15000" y="2697480"/>
            <a:ext cx="15544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8C8476"/>
                </a:solidFill>
                <a:latin typeface="Consolas"/>
              </a:rPr>
              <a:t>BSI z @ fire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9480" y="2697480"/>
            <a:ext cx="12801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8C8476"/>
                </a:solidFill>
                <a:latin typeface="Consolas"/>
              </a:rPr>
              <a:t>Lead time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49640" y="2697480"/>
            <a:ext cx="31089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8C8476"/>
                </a:solidFill>
                <a:latin typeface="Consolas"/>
              </a:rPr>
              <a:t>Outcome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051560" y="3108960"/>
            <a:ext cx="10088575" cy="0"/>
          </a:xfrm>
          <a:prstGeom prst="line">
            <a:avLst/>
          </a:prstGeom>
          <a:ln w="12700">
            <a:solidFill>
              <a:srgbClr val="C0B1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51560" y="3291840"/>
            <a:ext cx="18288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Segoe UI"/>
              </a:rPr>
              <a:t>CVNA-2022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80360" y="3291840"/>
            <a:ext cx="13716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Segoe UI"/>
              </a:rPr>
              <a:t>Carvana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51960" y="3291840"/>
            <a:ext cx="14630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Nov 2021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15000" y="3291840"/>
            <a:ext cx="15544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B83518"/>
                </a:solidFill>
                <a:latin typeface="Consolas"/>
              </a:rPr>
              <a:t>z = 4.20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69480" y="3291840"/>
            <a:ext cx="12801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2D7A4F"/>
                </a:solidFill>
                <a:latin typeface="Consolas"/>
              </a:rPr>
              <a:t>578 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49640" y="3291840"/>
            <a:ext cx="31089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Segoe UI"/>
              </a:rPr>
              <a:t>−97%  /  ABS spread +600 bp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051560" y="3675888"/>
            <a:ext cx="10088575" cy="0"/>
          </a:xfrm>
          <a:prstGeom prst="line">
            <a:avLst/>
          </a:prstGeom>
          <a:ln w="9525">
            <a:solidFill>
              <a:srgbClr val="D8CB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1051560" y="3794760"/>
            <a:ext cx="18288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Segoe UI"/>
              </a:rPr>
              <a:t>AFRM-2022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80360" y="3794760"/>
            <a:ext cx="13716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Segoe UI"/>
              </a:rPr>
              <a:t>Affirm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51960" y="3794760"/>
            <a:ext cx="14630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Feb 2022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15000" y="3794760"/>
            <a:ext cx="15544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B83518"/>
                </a:solidFill>
                <a:latin typeface="Consolas"/>
              </a:rPr>
              <a:t>z = 2.50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69480" y="3794760"/>
            <a:ext cx="12801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2D7A4F"/>
                </a:solidFill>
                <a:latin typeface="Consolas"/>
              </a:rPr>
              <a:t>60 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49640" y="3794760"/>
            <a:ext cx="31089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Segoe UI"/>
              </a:rPr>
              <a:t>−65%  in 2 months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1051560" y="4178808"/>
            <a:ext cx="10088575" cy="0"/>
          </a:xfrm>
          <a:prstGeom prst="line">
            <a:avLst/>
          </a:prstGeom>
          <a:ln w="9525">
            <a:solidFill>
              <a:srgbClr val="D8CB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051560" y="4297680"/>
            <a:ext cx="18288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Segoe UI"/>
              </a:rPr>
              <a:t>KLAR-2024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80360" y="4297680"/>
            <a:ext cx="13716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Segoe UI"/>
              </a:rPr>
              <a:t>Klarna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51960" y="4297680"/>
            <a:ext cx="14630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Sep 2024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15000" y="4297680"/>
            <a:ext cx="15544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B83518"/>
                </a:solidFill>
                <a:latin typeface="Consolas"/>
              </a:rPr>
              <a:t>z = 3.10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69480" y="4297680"/>
            <a:ext cx="12801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2D7A4F"/>
                </a:solidFill>
                <a:latin typeface="Consolas"/>
              </a:rPr>
              <a:t>50 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49640" y="4297680"/>
            <a:ext cx="31089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Segoe UI"/>
              </a:rPr>
              <a:t>−40%  pre-initial public offering (IPO) valuation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1051560" y="4681728"/>
            <a:ext cx="10088575" cy="0"/>
          </a:xfrm>
          <a:prstGeom prst="line">
            <a:avLst/>
          </a:prstGeom>
          <a:ln w="9525">
            <a:solidFill>
              <a:srgbClr val="D8CB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1051560" y="4800600"/>
            <a:ext cx="18288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Segoe UI"/>
              </a:rPr>
              <a:t>AFRM-2025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880360" y="4800600"/>
            <a:ext cx="13716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Segoe UI"/>
              </a:rPr>
              <a:t>Affirm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51960" y="4800600"/>
            <a:ext cx="14630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Q1 2025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715000" y="4800600"/>
            <a:ext cx="15544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B83518"/>
                </a:solidFill>
                <a:latin typeface="Consolas"/>
              </a:rPr>
              <a:t>z = 2.70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69480" y="4800600"/>
            <a:ext cx="12801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2D7A4F"/>
                </a:solidFill>
                <a:latin typeface="Consolas"/>
              </a:rPr>
              <a:t>90 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49640" y="4800600"/>
            <a:ext cx="31089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Segoe UI"/>
              </a:rPr>
              <a:t>junior I-spread widening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051560" y="5184648"/>
            <a:ext cx="10088575" cy="0"/>
          </a:xfrm>
          <a:prstGeom prst="line">
            <a:avLst/>
          </a:prstGeom>
          <a:ln w="9525">
            <a:solidFill>
              <a:srgbClr val="D8CB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051560" y="5303520"/>
            <a:ext cx="18288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Segoe UI"/>
              </a:rPr>
              <a:t>BNPL-pulse-2024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80360" y="5303520"/>
            <a:ext cx="13716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Segoe UI"/>
              </a:rPr>
              <a:t>industry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51960" y="5303520"/>
            <a:ext cx="14630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Q3 2024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715000" y="5303520"/>
            <a:ext cx="15544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B83518"/>
                </a:solidFill>
                <a:latin typeface="Consolas"/>
              </a:rPr>
              <a:t>z = 2.40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269480" y="5303520"/>
            <a:ext cx="12801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2D7A4F"/>
                </a:solidFill>
                <a:latin typeface="Consolas"/>
              </a:rPr>
              <a:t>varies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549640" y="5303520"/>
            <a:ext cx="31089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Segoe UI"/>
              </a:rPr>
              <a:t>sector drawdown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051560" y="5532120"/>
            <a:ext cx="10088575" cy="502920"/>
          </a:xfrm>
          <a:prstGeom prst="roundRect">
            <a:avLst>
              <a:gd name="adj" fmla="val 3000"/>
            </a:avLst>
          </a:prstGeom>
          <a:solidFill>
            <a:srgbClr val="F4C0A8"/>
          </a:solidFill>
          <a:ln w="12700">
            <a:solidFill>
              <a:srgbClr val="E84A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1051560" y="5623560"/>
            <a:ext cx="1008857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>
                <a:solidFill>
                  <a:srgbClr val="B83518"/>
                </a:solidFill>
                <a:latin typeface="Consolas"/>
              </a:rPr>
              <a:t>5 of 5 detected  ·  Wilson 95% CI [56.6, 100]  ·  86–100% specificity across 2.5σ – 3.0σ thresholds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77240" y="644652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8C8476"/>
                </a:solidFill>
                <a:latin typeface="Consolas"/>
              </a:rPr>
              <a:t>BearWatch BSI  ·  FIN 580  ·  Spring 2026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362895" y="644652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8C8476"/>
                </a:solidFill>
                <a:latin typeface="Consolas"/>
              </a:rPr>
              <a:t>13 / 29</a:t>
            </a:r>
          </a:p>
        </p:txBody>
      </p:sp>
      <p:pic>
        <p:nvPicPr>
          <p:cNvPr id="54" name="Picture 53" descr="Illinois-Logo-No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1575" y="6355080"/>
            <a:ext cx="54864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AF6EC"/>
              </a:gs>
              <a:gs pos="100000">
                <a:srgbClr val="E9DFC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B8841C"/>
                </a:solidFill>
                <a:latin typeface="Consolas"/>
              </a:rPr>
              <a:t>EMPIRICAL 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94360"/>
            <a:ext cx="502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B8841C"/>
                </a:solidFill>
                <a:latin typeface="Consolas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621792"/>
            <a:ext cx="10042855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EVENT CALENDAR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960120"/>
            <a:ext cx="10637215" cy="0"/>
          </a:xfrm>
          <a:prstGeom prst="line">
            <a:avLst/>
          </a:prstGeom>
          <a:ln w="17780">
            <a:solidFill>
              <a:srgbClr val="B884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1143000"/>
            <a:ext cx="10637215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1F1B16"/>
                </a:solidFill>
                <a:latin typeface="Cambria"/>
              </a:rPr>
              <a:t>When BSI has fired across the universe.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106372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5A5247"/>
                </a:solidFill>
                <a:latin typeface="Segoe UI"/>
              </a:rPr>
              <a:t>The most recent five SCOUT-or-stronger fires plotted on a calendar.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25880" y="3383280"/>
            <a:ext cx="9539935" cy="109728"/>
          </a:xfrm>
          <a:prstGeom prst="roundRect">
            <a:avLst>
              <a:gd name="adj" fmla="val 3000"/>
            </a:avLst>
          </a:prstGeom>
          <a:solidFill>
            <a:srgbClr val="E9DFC4"/>
          </a:solidFill>
          <a:ln w="6350">
            <a:solidFill>
              <a:srgbClr val="C0B1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51560" y="361188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5A5247"/>
                </a:solidFill>
                <a:latin typeface="Consolas"/>
              </a:rPr>
              <a:t>2021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16736" y="3291840"/>
            <a:ext cx="18288" cy="292608"/>
          </a:xfrm>
          <a:prstGeom prst="rect">
            <a:avLst/>
          </a:prstGeom>
          <a:solidFill>
            <a:srgbClr val="C0B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959547" y="361188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5A5247"/>
                </a:solidFill>
                <a:latin typeface="Consolas"/>
              </a:rPr>
              <a:t>2022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24723" y="3291840"/>
            <a:ext cx="18288" cy="292608"/>
          </a:xfrm>
          <a:prstGeom prst="rect">
            <a:avLst/>
          </a:prstGeom>
          <a:solidFill>
            <a:srgbClr val="C0B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867534" y="361188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5A5247"/>
                </a:solidFill>
                <a:latin typeface="Consolas"/>
              </a:rPr>
              <a:t>2023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32710" y="3291840"/>
            <a:ext cx="18288" cy="292608"/>
          </a:xfrm>
          <a:prstGeom prst="rect">
            <a:avLst/>
          </a:prstGeom>
          <a:solidFill>
            <a:srgbClr val="C0B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775521" y="361188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5A5247"/>
                </a:solidFill>
                <a:latin typeface="Consolas"/>
              </a:rPr>
              <a:t>2024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40697" y="3291840"/>
            <a:ext cx="18288" cy="292608"/>
          </a:xfrm>
          <a:prstGeom prst="rect">
            <a:avLst/>
          </a:prstGeom>
          <a:solidFill>
            <a:srgbClr val="C0B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683508" y="361188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5A5247"/>
                </a:solidFill>
                <a:latin typeface="Consolas"/>
              </a:rPr>
              <a:t>2025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48684" y="3291840"/>
            <a:ext cx="18288" cy="292608"/>
          </a:xfrm>
          <a:prstGeom prst="rect">
            <a:avLst/>
          </a:prstGeom>
          <a:solidFill>
            <a:srgbClr val="C0B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591495" y="361188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5A5247"/>
                </a:solidFill>
                <a:latin typeface="Consolas"/>
              </a:rPr>
              <a:t>2026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856671" y="3291840"/>
            <a:ext cx="18288" cy="292608"/>
          </a:xfrm>
          <a:prstGeom prst="rect">
            <a:avLst/>
          </a:prstGeom>
          <a:solidFill>
            <a:srgbClr val="C0B1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1711436" y="3291840"/>
            <a:ext cx="292608" cy="292608"/>
          </a:xfrm>
          <a:prstGeom prst="ellipse">
            <a:avLst/>
          </a:prstGeom>
          <a:solidFill>
            <a:srgbClr val="FAF6EC"/>
          </a:solidFill>
          <a:ln w="31750">
            <a:solidFill>
              <a:srgbClr val="B83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3" name="Connector 22"/>
          <p:cNvCxnSpPr/>
          <p:nvPr/>
        </p:nvCxnSpPr>
        <p:spPr>
          <a:xfrm flipV="1">
            <a:off x="0" y="2606040"/>
            <a:ext cx="0" cy="685800"/>
          </a:xfrm>
          <a:prstGeom prst="line">
            <a:avLst/>
          </a:prstGeom>
          <a:ln w="12700">
            <a:solidFill>
              <a:srgbClr val="B8351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972870" y="2441448"/>
            <a:ext cx="2011680" cy="77724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15240">
            <a:solidFill>
              <a:srgbClr val="B835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64310" y="2514600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B83518"/>
                </a:solidFill>
                <a:latin typeface="Consolas"/>
              </a:rPr>
              <a:t>Nov 2021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4310" y="2715768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F1B16"/>
                </a:solidFill>
                <a:latin typeface="Cambria"/>
              </a:rPr>
              <a:t>CVNA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10" y="2944368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B83518"/>
                </a:solidFill>
                <a:latin typeface="Consolas"/>
              </a:rPr>
              <a:t>z = 4.20</a:t>
            </a:r>
          </a:p>
        </p:txBody>
      </p:sp>
      <p:sp>
        <p:nvSpPr>
          <p:cNvPr id="28" name="Oval 27"/>
          <p:cNvSpPr/>
          <p:nvPr/>
        </p:nvSpPr>
        <p:spPr>
          <a:xfrm>
            <a:off x="2474631" y="3291840"/>
            <a:ext cx="292608" cy="292608"/>
          </a:xfrm>
          <a:prstGeom prst="ellipse">
            <a:avLst/>
          </a:prstGeom>
          <a:solidFill>
            <a:srgbClr val="FAF6EC"/>
          </a:solidFill>
          <a:ln w="31750">
            <a:solidFill>
              <a:srgbClr val="E84A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9" name="Connector 28"/>
          <p:cNvCxnSpPr/>
          <p:nvPr/>
        </p:nvCxnSpPr>
        <p:spPr>
          <a:xfrm>
            <a:off x="0" y="3584448"/>
            <a:ext cx="0" cy="685800"/>
          </a:xfrm>
          <a:prstGeom prst="line">
            <a:avLst/>
          </a:prstGeom>
          <a:ln w="12700">
            <a:solidFill>
              <a:srgbClr val="E84A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1615095" y="4270248"/>
            <a:ext cx="2011680" cy="77724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15240">
            <a:solidFill>
              <a:srgbClr val="E84A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706535" y="4343400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E84A27"/>
                </a:solidFill>
                <a:latin typeface="Consolas"/>
              </a:rPr>
              <a:t>Feb 2022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706535" y="4544568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F1B16"/>
                </a:solidFill>
                <a:latin typeface="Cambria"/>
              </a:rPr>
              <a:t>AFRM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06535" y="4773168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E84A27"/>
                </a:solidFill>
                <a:latin typeface="Consolas"/>
              </a:rPr>
              <a:t>z = 2.50</a:t>
            </a:r>
          </a:p>
        </p:txBody>
      </p:sp>
      <p:sp>
        <p:nvSpPr>
          <p:cNvPr id="34" name="Oval 33"/>
          <p:cNvSpPr/>
          <p:nvPr/>
        </p:nvSpPr>
        <p:spPr>
          <a:xfrm>
            <a:off x="7435397" y="3291840"/>
            <a:ext cx="292608" cy="292608"/>
          </a:xfrm>
          <a:prstGeom prst="ellipse">
            <a:avLst/>
          </a:prstGeom>
          <a:solidFill>
            <a:srgbClr val="FAF6EC"/>
          </a:solidFill>
          <a:ln w="31750">
            <a:solidFill>
              <a:srgbClr val="4A6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5" name="Connector 34"/>
          <p:cNvCxnSpPr/>
          <p:nvPr/>
        </p:nvCxnSpPr>
        <p:spPr>
          <a:xfrm flipV="1">
            <a:off x="0" y="2606040"/>
            <a:ext cx="0" cy="685800"/>
          </a:xfrm>
          <a:prstGeom prst="line">
            <a:avLst/>
          </a:prstGeom>
          <a:ln w="12700">
            <a:solidFill>
              <a:srgbClr val="4A6E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6634026" y="2409444"/>
            <a:ext cx="2011680" cy="77724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15240">
            <a:solidFill>
              <a:srgbClr val="4A6E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725466" y="2482596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4A6E8F"/>
                </a:solidFill>
                <a:latin typeface="Consolas"/>
              </a:rPr>
              <a:t>Aug 2024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5466" y="2683764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F1B16"/>
                </a:solidFill>
                <a:latin typeface="Cambria"/>
              </a:rPr>
              <a:t>TRICOLOR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725466" y="2912364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4A6E8F"/>
                </a:solidFill>
                <a:latin typeface="Consolas"/>
              </a:rPr>
              <a:t>z = 3.40</a:t>
            </a:r>
          </a:p>
        </p:txBody>
      </p:sp>
      <p:sp>
        <p:nvSpPr>
          <p:cNvPr id="40" name="Oval 39"/>
          <p:cNvSpPr/>
          <p:nvPr/>
        </p:nvSpPr>
        <p:spPr>
          <a:xfrm>
            <a:off x="8007793" y="3291840"/>
            <a:ext cx="292608" cy="292608"/>
          </a:xfrm>
          <a:prstGeom prst="ellipse">
            <a:avLst/>
          </a:prstGeom>
          <a:solidFill>
            <a:srgbClr val="FAF6EC"/>
          </a:solidFill>
          <a:ln w="31750">
            <a:solidFill>
              <a:srgbClr val="6B4A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1" name="Connector 40"/>
          <p:cNvCxnSpPr/>
          <p:nvPr/>
        </p:nvCxnSpPr>
        <p:spPr>
          <a:xfrm>
            <a:off x="0" y="3584448"/>
            <a:ext cx="0" cy="685800"/>
          </a:xfrm>
          <a:prstGeom prst="line">
            <a:avLst/>
          </a:prstGeom>
          <a:ln w="12700">
            <a:solidFill>
              <a:srgbClr val="6B4A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7148257" y="4270248"/>
            <a:ext cx="2011680" cy="77724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15240">
            <a:solidFill>
              <a:srgbClr val="6B4A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7239697" y="4343400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6B4A7F"/>
                </a:solidFill>
                <a:latin typeface="Consolas"/>
              </a:rPr>
              <a:t>Sep 2024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239697" y="4544568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F1B16"/>
                </a:solidFill>
                <a:latin typeface="Cambria"/>
              </a:rPr>
              <a:t>KLAR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239697" y="4773168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6B4A7F"/>
                </a:solidFill>
                <a:latin typeface="Consolas"/>
              </a:rPr>
              <a:t>z = 3.10</a:t>
            </a:r>
          </a:p>
        </p:txBody>
      </p:sp>
      <p:sp>
        <p:nvSpPr>
          <p:cNvPr id="46" name="Oval 45"/>
          <p:cNvSpPr/>
          <p:nvPr/>
        </p:nvSpPr>
        <p:spPr>
          <a:xfrm>
            <a:off x="9152586" y="3291840"/>
            <a:ext cx="292608" cy="292608"/>
          </a:xfrm>
          <a:prstGeom prst="ellipse">
            <a:avLst/>
          </a:prstGeom>
          <a:solidFill>
            <a:srgbClr val="FAF6EC"/>
          </a:solidFill>
          <a:ln w="31750">
            <a:solidFill>
              <a:srgbClr val="B884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7" name="Connector 46"/>
          <p:cNvCxnSpPr/>
          <p:nvPr/>
        </p:nvCxnSpPr>
        <p:spPr>
          <a:xfrm flipV="1">
            <a:off x="0" y="2606040"/>
            <a:ext cx="0" cy="685800"/>
          </a:xfrm>
          <a:prstGeom prst="line">
            <a:avLst/>
          </a:prstGeom>
          <a:ln w="12700">
            <a:solidFill>
              <a:srgbClr val="B884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ounded Rectangle 47"/>
          <p:cNvSpPr/>
          <p:nvPr/>
        </p:nvSpPr>
        <p:spPr>
          <a:xfrm>
            <a:off x="8351215" y="2409444"/>
            <a:ext cx="2011680" cy="77724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15240">
            <a:solidFill>
              <a:srgbClr val="B884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8442655" y="2482596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B8841C"/>
                </a:solidFill>
                <a:latin typeface="Consolas"/>
              </a:rPr>
              <a:t>Jan 2025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42655" y="2683764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F1B16"/>
                </a:solidFill>
                <a:latin typeface="Cambria"/>
              </a:rPr>
              <a:t>AFRM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42655" y="2912364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B8841C"/>
                </a:solidFill>
                <a:latin typeface="Consolas"/>
              </a:rPr>
              <a:t>z = 2.70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77240" y="5440680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>
                <a:solidFill>
                  <a:srgbClr val="1F1B16"/>
                </a:solidFill>
                <a:latin typeface="Segoe UI"/>
              </a:rPr>
              <a:t>Each marker is a SCOUT-or-stronger fire (z ≥ 2.0) on a real consumer-credit issuer.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77240" y="5760720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B83518"/>
                </a:solidFill>
                <a:latin typeface="Consolas"/>
              </a:rPr>
              <a:t>Most recent: AFRM-2025 (Jan 2025) — first AFRMT junior-tranche-relevant signal in the shelf.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77240" y="644652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8C8476"/>
                </a:solidFill>
                <a:latin typeface="Consolas"/>
              </a:rPr>
              <a:t>BearWatch BSI  ·  FIN 580  ·  Spring 2026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362895" y="644652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8C8476"/>
                </a:solidFill>
                <a:latin typeface="Consolas"/>
              </a:rPr>
              <a:t>14 / 29</a:t>
            </a:r>
          </a:p>
        </p:txBody>
      </p:sp>
      <p:pic>
        <p:nvPicPr>
          <p:cNvPr id="56" name="Picture 55" descr="Illinois-Logo-No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1575" y="6355080"/>
            <a:ext cx="54864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AF6EC"/>
              </a:gs>
              <a:gs pos="100000">
                <a:srgbClr val="E9DFC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B8841C"/>
                </a:solidFill>
                <a:latin typeface="Consolas"/>
              </a:rPr>
              <a:t>EMPIRICAL 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94360"/>
            <a:ext cx="502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B8841C"/>
                </a:solidFill>
                <a:latin typeface="Consolas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621792"/>
            <a:ext cx="10042855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CASE STUDY · CVNA-2022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960120"/>
            <a:ext cx="10637215" cy="0"/>
          </a:xfrm>
          <a:prstGeom prst="line">
            <a:avLst/>
          </a:prstGeom>
          <a:ln w="17780">
            <a:solidFill>
              <a:srgbClr val="B884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1143000"/>
            <a:ext cx="10637215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1F1B16"/>
                </a:solidFill>
                <a:latin typeface="Cambria"/>
              </a:rPr>
              <a:t>Carvana 2022.  The canonical event.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106372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5A5247"/>
                </a:solidFill>
                <a:latin typeface="Segoe UI"/>
              </a:rPr>
              <a:t>Subprime auto. BSI fired. Equity collapsed ~98% from peak.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606040"/>
            <a:ext cx="5135727" cy="329184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9525">
            <a:solidFill>
              <a:srgbClr val="D8CB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51560" y="2743200"/>
            <a:ext cx="513572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E84A27"/>
                </a:solidFill>
                <a:latin typeface="Consolas"/>
              </a:rPr>
              <a:t>WHAT BSI SAW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108960"/>
            <a:ext cx="4587087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1000"/>
              </a:spcBef>
            </a:pPr>
            <a:r>
              <a:rPr sz="1300" b="1" i="0">
                <a:solidFill>
                  <a:srgbClr val="1F1B16"/>
                </a:solidFill>
                <a:latin typeface="Segoe UI"/>
              </a:rPr>
              <a:t>Q1 2022</a:t>
            </a:r>
          </a:p>
          <a:p>
            <a:pPr algn="l">
              <a:lnSpc>
                <a:spcPct val="150000"/>
              </a:lnSpc>
              <a:spcBef>
                <a:spcPts val="400"/>
              </a:spcBef>
            </a:pPr>
            <a:r>
              <a:rPr sz="1100" b="0" i="0">
                <a:solidFill>
                  <a:srgbClr val="5A5247"/>
                </a:solidFill>
                <a:latin typeface="Segoe UI"/>
              </a:rPr>
              <a:t>CFPB complaint volume on Carvana / Bridgecrest spikes 4-6x baseline.</a:t>
            </a:r>
          </a:p>
          <a:p>
            <a:pPr algn="l">
              <a:lnSpc>
                <a:spcPct val="140000"/>
              </a:lnSpc>
              <a:spcBef>
                <a:spcPts val="1400"/>
              </a:spcBef>
            </a:pPr>
            <a:r>
              <a:rPr sz="1300" b="1" i="0">
                <a:solidFill>
                  <a:srgbClr val="1F1B16"/>
                </a:solidFill>
                <a:latin typeface="Segoe UI"/>
              </a:rPr>
              <a:t>Apr 2022</a:t>
            </a:r>
          </a:p>
          <a:p>
            <a:pPr algn="l">
              <a:lnSpc>
                <a:spcPct val="150000"/>
              </a:lnSpc>
              <a:spcBef>
                <a:spcPts val="400"/>
              </a:spcBef>
            </a:pPr>
            <a:r>
              <a:rPr sz="1100" b="0" i="0">
                <a:solidFill>
                  <a:srgbClr val="5A5247"/>
                </a:solidFill>
                <a:latin typeface="Segoe UI"/>
              </a:rPr>
              <a:t>BSI z crosses 2.5  ·  all five gates clear  ·  SCOUT fires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8727" y="2606040"/>
            <a:ext cx="5135727" cy="329184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9525">
            <a:solidFill>
              <a:srgbClr val="D8CB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53047" y="2743200"/>
            <a:ext cx="513572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B8841C"/>
                </a:solidFill>
                <a:latin typeface="Consolas"/>
              </a:rPr>
              <a:t>WHAT THE MARKET DID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108960"/>
            <a:ext cx="4587087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1000"/>
              </a:spcBef>
            </a:pPr>
            <a:r>
              <a:rPr sz="1300" b="1" i="0">
                <a:solidFill>
                  <a:srgbClr val="1F1B16"/>
                </a:solidFill>
                <a:latin typeface="Segoe UI"/>
              </a:rPr>
              <a:t>Equity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200" b="1" i="0">
                <a:solidFill>
                  <a:srgbClr val="B85638"/>
                </a:solidFill>
                <a:latin typeface="Consolas"/>
              </a:rPr>
              <a:t>$130 (Apr '22)  →  $4 (Dec '22)   ·   −97%</a:t>
            </a:r>
          </a:p>
          <a:p>
            <a:pPr algn="l">
              <a:lnSpc>
                <a:spcPct val="140000"/>
              </a:lnSpc>
              <a:spcBef>
                <a:spcPts val="1400"/>
              </a:spcBef>
            </a:pPr>
            <a:r>
              <a:rPr sz="1300" b="1" i="0">
                <a:solidFill>
                  <a:srgbClr val="1F1B16"/>
                </a:solidFill>
                <a:latin typeface="Segoe UI"/>
              </a:rPr>
              <a:t>Credit</a:t>
            </a:r>
          </a:p>
          <a:p>
            <a:pPr algn="l">
              <a:lnSpc>
                <a:spcPct val="150000"/>
              </a:lnSpc>
              <a:spcBef>
                <a:spcPts val="400"/>
              </a:spcBef>
            </a:pPr>
            <a:r>
              <a:rPr sz="1100" b="0" i="0">
                <a:solidFill>
                  <a:srgbClr val="5A5247"/>
                </a:solidFill>
                <a:latin typeface="Segoe UI"/>
              </a:rPr>
              <a:t>Senior unsecured spread  +400 → +2,500 bp   ·   credit default swap (CDS)-implied 5y probability of default (PD)  12% → 52%</a:t>
            </a:r>
          </a:p>
          <a:p>
            <a:pPr algn="l">
              <a:lnSpc>
                <a:spcPct val="140000"/>
              </a:lnSpc>
              <a:spcBef>
                <a:spcPts val="1400"/>
              </a:spcBef>
            </a:pPr>
            <a:r>
              <a:rPr sz="1300" b="1" i="0">
                <a:solidFill>
                  <a:srgbClr val="1F1B16"/>
                </a:solidFill>
                <a:latin typeface="Segoe UI"/>
              </a:rPr>
              <a:t>Junior ABS (Bridgecrest)</a:t>
            </a:r>
          </a:p>
          <a:p>
            <a:pPr algn="l">
              <a:lnSpc>
                <a:spcPct val="150000"/>
              </a:lnSpc>
              <a:spcBef>
                <a:spcPts val="400"/>
              </a:spcBef>
            </a:pPr>
            <a:r>
              <a:rPr sz="1100" b="0" i="0">
                <a:solidFill>
                  <a:srgbClr val="5A5247"/>
                </a:solidFill>
                <a:latin typeface="Segoe UI"/>
              </a:rPr>
              <a:t>Class C OAS  +600 bp  ·  the natural Tier 2a vehicle.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035040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i="1">
                <a:solidFill>
                  <a:srgbClr val="B83518"/>
                </a:solidFill>
                <a:latin typeface="Segoe UI"/>
              </a:rPr>
              <a:t>Lead time on equity bottom: ~180 days.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44652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8C8476"/>
                </a:solidFill>
                <a:latin typeface="Consolas"/>
              </a:rPr>
              <a:t>BearWatch BSI  ·  FIN 580  ·  Spring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62895" y="644652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8C8476"/>
                </a:solidFill>
                <a:latin typeface="Consolas"/>
              </a:rPr>
              <a:t>15 / 29</a:t>
            </a:r>
          </a:p>
        </p:txBody>
      </p:sp>
      <p:pic>
        <p:nvPicPr>
          <p:cNvPr id="18" name="Picture 17" descr="Illinois-Logo-No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1575" y="6355080"/>
            <a:ext cx="54864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AF6EC"/>
              </a:gs>
              <a:gs pos="100000">
                <a:srgbClr val="E9DFC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B8841C"/>
                </a:solidFill>
                <a:latin typeface="Consolas"/>
              </a:rPr>
              <a:t>EMPIRICAL 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94360"/>
            <a:ext cx="502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B8841C"/>
                </a:solidFill>
                <a:latin typeface="Consolas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621792"/>
            <a:ext cx="10042855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CASE STUDIES · TWO MINI-EVENTS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960120"/>
            <a:ext cx="10637215" cy="0"/>
          </a:xfrm>
          <a:prstGeom prst="line">
            <a:avLst/>
          </a:prstGeom>
          <a:ln w="17780">
            <a:solidFill>
              <a:srgbClr val="B884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1143000"/>
            <a:ext cx="10637215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1F1B16"/>
                </a:solidFill>
                <a:latin typeface="Cambria"/>
              </a:rPr>
              <a:t>Generalisation across BNPL.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106372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5A5247"/>
                </a:solidFill>
                <a:latin typeface="Segoe UI"/>
              </a:rPr>
              <a:t>Same engine, same gates. Two issuers structurally different from Carvana.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606040"/>
            <a:ext cx="5135727" cy="329184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9525">
            <a:solidFill>
              <a:srgbClr val="D8CB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51560" y="2743200"/>
            <a:ext cx="513572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E84A27"/>
                </a:solidFill>
                <a:latin typeface="Consolas"/>
              </a:rPr>
              <a:t>AFRM  ·  AFFIRM GUIDANCE CUT  ·  FEB 2022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108960"/>
            <a:ext cx="4587087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1400"/>
              </a:spcBef>
            </a:pPr>
            <a:r>
              <a:rPr sz="1200" b="0" i="0">
                <a:solidFill>
                  <a:srgbClr val="5A5247"/>
                </a:solidFill>
                <a:latin typeface="Segoe UI"/>
              </a:rPr>
              <a:t>BSI saw  ·  CFPB billing-dispute spike + app-store rating decay 60d before guidance.</a:t>
            </a:r>
          </a:p>
          <a:p>
            <a:pPr algn="l">
              <a:lnSpc>
                <a:spcPct val="150000"/>
              </a:lnSpc>
              <a:spcBef>
                <a:spcPts val="1000"/>
              </a:spcBef>
            </a:pPr>
            <a:r>
              <a:rPr sz="1200" b="0" i="0">
                <a:solidFill>
                  <a:srgbClr val="5A5247"/>
                </a:solidFill>
                <a:latin typeface="Segoe UI"/>
              </a:rPr>
              <a:t>Trigger  ·  Feb 10, 2022 — early Twitter print + downward FY guide.</a:t>
            </a:r>
          </a:p>
          <a:p>
            <a:pPr algn="l">
              <a:lnSpc>
                <a:spcPct val="150000"/>
              </a:lnSpc>
              <a:spcBef>
                <a:spcPts val="1400"/>
              </a:spcBef>
            </a:pPr>
            <a:r>
              <a:rPr sz="1300" b="1" i="0">
                <a:solidFill>
                  <a:srgbClr val="B85638"/>
                </a:solidFill>
                <a:latin typeface="Segoe UI"/>
              </a:rPr>
              <a:t>Market  ·  −21% in one session  ·  −65% over two months.</a:t>
            </a:r>
          </a:p>
          <a:p>
            <a:pPr algn="l">
              <a:lnSpc>
                <a:spcPct val="140000"/>
              </a:lnSpc>
              <a:spcBef>
                <a:spcPts val="1400"/>
              </a:spcBef>
            </a:pPr>
            <a:r>
              <a:rPr sz="1400" b="1" i="0">
                <a:solidFill>
                  <a:srgbClr val="B83518"/>
                </a:solidFill>
                <a:latin typeface="Consolas"/>
              </a:rPr>
              <a:t>Lead time:  ~60 days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8727" y="2606040"/>
            <a:ext cx="5135727" cy="329184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9525">
            <a:solidFill>
              <a:srgbClr val="D8CB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53047" y="2743200"/>
            <a:ext cx="513572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6B4A7F"/>
                </a:solidFill>
                <a:latin typeface="Consolas"/>
              </a:rPr>
              <a:t>KLAR  ·  KLARNA IPO COMPLAINT PULSE  ·  2024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108960"/>
            <a:ext cx="4587087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1400"/>
              </a:spcBef>
            </a:pPr>
            <a:r>
              <a:rPr sz="1200" b="0" i="0">
                <a:solidFill>
                  <a:srgbClr val="5A5247"/>
                </a:solidFill>
                <a:latin typeface="Segoe UI"/>
              </a:rPr>
              <a:t>BSI saw  ·  CFPB volume on Klarna AB tripled  ·  Reddit + Bluesky concordance.</a:t>
            </a:r>
          </a:p>
          <a:p>
            <a:pPr algn="l">
              <a:lnSpc>
                <a:spcPct val="150000"/>
              </a:lnSpc>
              <a:spcBef>
                <a:spcPts val="1000"/>
              </a:spcBef>
            </a:pPr>
            <a:r>
              <a:rPr sz="1200" b="0" i="0">
                <a:solidFill>
                  <a:srgbClr val="5A5247"/>
                </a:solidFill>
                <a:latin typeface="Segoe UI"/>
              </a:rPr>
              <a:t>Trigger  ·  IPO postponement + EU regulatory scrutiny on BNPL.</a:t>
            </a:r>
          </a:p>
          <a:p>
            <a:pPr algn="l">
              <a:lnSpc>
                <a:spcPct val="150000"/>
              </a:lnSpc>
              <a:spcBef>
                <a:spcPts val="1400"/>
              </a:spcBef>
            </a:pPr>
            <a:r>
              <a:rPr sz="1300" b="1" i="0">
                <a:solidFill>
                  <a:srgbClr val="B85638"/>
                </a:solidFill>
                <a:latin typeface="Segoe UI"/>
              </a:rPr>
              <a:t>Market  ·  pre-IPO secondary  −40% from peak.  AFRM contagion  −18%.</a:t>
            </a:r>
          </a:p>
          <a:p>
            <a:pPr algn="l">
              <a:lnSpc>
                <a:spcPct val="140000"/>
              </a:lnSpc>
              <a:spcBef>
                <a:spcPts val="1400"/>
              </a:spcBef>
            </a:pPr>
            <a:r>
              <a:rPr sz="1400" b="1" i="0">
                <a:solidFill>
                  <a:srgbClr val="B83518"/>
                </a:solidFill>
                <a:latin typeface="Consolas"/>
              </a:rPr>
              <a:t>Lead time:  ~50 days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035040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 i="1">
                <a:solidFill>
                  <a:srgbClr val="5A5247"/>
                </a:solidFill>
                <a:latin typeface="Segoe UI"/>
              </a:rPr>
              <a:t>Both fired SCOUT (z ≥ 2.0) and cleared 4 of 5 gates.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44652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8C8476"/>
                </a:solidFill>
                <a:latin typeface="Consolas"/>
              </a:rPr>
              <a:t>BearWatch BSI  ·  FIN 580  ·  Spring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62895" y="644652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8C8476"/>
                </a:solidFill>
                <a:latin typeface="Consolas"/>
              </a:rPr>
              <a:t>16 / 29</a:t>
            </a:r>
          </a:p>
        </p:txBody>
      </p:sp>
      <p:pic>
        <p:nvPicPr>
          <p:cNvPr id="18" name="Picture 17" descr="Illinois-Logo-No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1575" y="6355080"/>
            <a:ext cx="54864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AF6EC"/>
              </a:gs>
              <a:gs pos="100000">
                <a:srgbClr val="E9DFC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2D7A4F"/>
                </a:solidFill>
                <a:latin typeface="Consolas"/>
              </a:rPr>
              <a:t>VALIDATION &amp;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94360"/>
            <a:ext cx="502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2D7A4F"/>
                </a:solidFill>
                <a:latin typeface="Consolas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621792"/>
            <a:ext cx="10042855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SCOPE CONDITIONS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960120"/>
            <a:ext cx="10637215" cy="0"/>
          </a:xfrm>
          <a:prstGeom prst="line">
            <a:avLst/>
          </a:prstGeom>
          <a:ln w="17780">
            <a:solidFill>
              <a:srgbClr val="2D7A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1143000"/>
            <a:ext cx="10637215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1F1B16"/>
                </a:solidFill>
                <a:latin typeface="Cambria"/>
              </a:rPr>
              <a:t>Honest disclosures.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642616"/>
            <a:ext cx="54864" cy="594360"/>
          </a:xfrm>
          <a:prstGeom prst="rect">
            <a:avLst/>
          </a:prstGeom>
          <a:solidFill>
            <a:srgbClr val="E84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05840" y="2606040"/>
            <a:ext cx="10408615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F1B16"/>
                </a:solidFill>
                <a:latin typeface="Segoe UI"/>
              </a:rPr>
              <a:t>n = 15 events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971800"/>
            <a:ext cx="104086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 i="0">
                <a:solidFill>
                  <a:srgbClr val="5A5247"/>
                </a:solidFill>
                <a:latin typeface="Segoe UI"/>
              </a:rPr>
              <a:t>Small. FDR correction across 27 firms mitigates.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3355848"/>
            <a:ext cx="54864" cy="594360"/>
          </a:xfrm>
          <a:prstGeom prst="rect">
            <a:avLst/>
          </a:prstGeom>
          <a:solidFill>
            <a:srgbClr val="E84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05840" y="3319272"/>
            <a:ext cx="10408615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F1B16"/>
                </a:solidFill>
                <a:latin typeface="Segoe UI"/>
              </a:rPr>
              <a:t>Equity calendar-time α  =  zero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3685032"/>
            <a:ext cx="104086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 i="0">
                <a:solidFill>
                  <a:srgbClr val="5A5247"/>
                </a:solidFill>
                <a:latin typeface="Segoe UI"/>
              </a:rPr>
              <a:t>t = 0.08. Reported, not concealed. Motivates fixed-income deployment.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4069080"/>
            <a:ext cx="54864" cy="594360"/>
          </a:xfrm>
          <a:prstGeom prst="rect">
            <a:avLst/>
          </a:prstGeom>
          <a:solidFill>
            <a:srgbClr val="E84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05840" y="4032504"/>
            <a:ext cx="10408615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F1B16"/>
                </a:solidFill>
                <a:latin typeface="Segoe UI"/>
              </a:rPr>
              <a:t>CURO conditional on event-date convention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4398264"/>
            <a:ext cx="104086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 i="0">
                <a:solidFill>
                  <a:srgbClr val="5A5247"/>
                </a:solidFill>
                <a:latin typeface="Segoe UI"/>
              </a:rPr>
              <a:t>Detected at 720d under filing date; near-miss under earnings-warning.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4782312"/>
            <a:ext cx="54864" cy="594360"/>
          </a:xfrm>
          <a:prstGeom prst="rect">
            <a:avLst/>
          </a:prstGeom>
          <a:solidFill>
            <a:srgbClr val="E84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05840" y="4745736"/>
            <a:ext cx="10408615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F1B16"/>
                </a:solidFill>
                <a:latin typeface="Segoe UI"/>
              </a:rPr>
              <a:t>Long-pod survivorship bias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5111496"/>
            <a:ext cx="104086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 i="0">
                <a:solidFill>
                  <a:srgbClr val="5A5247"/>
                </a:solidFill>
                <a:latin typeface="Segoe UI"/>
              </a:rPr>
              <a:t>+34.9% mean 365d return is conditional on equity survival.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5495544"/>
            <a:ext cx="54864" cy="594360"/>
          </a:xfrm>
          <a:prstGeom prst="rect">
            <a:avLst/>
          </a:prstGeom>
          <a:solidFill>
            <a:srgbClr val="E84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05840" y="5458968"/>
            <a:ext cx="10408615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F1B16"/>
                </a:solidFill>
                <a:latin typeface="Segoe UI"/>
              </a:rPr>
              <a:t>No firm-level fixed-income data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5824728"/>
            <a:ext cx="104086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 i="0">
                <a:solidFill>
                  <a:srgbClr val="5A5247"/>
                </a:solidFill>
                <a:latin typeface="Segoe UI"/>
              </a:rPr>
              <a:t>TRACE / Markit / Intex outside warehouse — paper makes no FI alpha claim.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44652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8C8476"/>
                </a:solidFill>
                <a:latin typeface="Consolas"/>
              </a:rPr>
              <a:t>BearWatch BSI  ·  FIN 580  ·  Spring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62895" y="644652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8C8476"/>
                </a:solidFill>
                <a:latin typeface="Consolas"/>
              </a:rPr>
              <a:t>17 / 29</a:t>
            </a:r>
          </a:p>
        </p:txBody>
      </p:sp>
      <p:pic>
        <p:nvPicPr>
          <p:cNvPr id="26" name="Picture 25" descr="Illinois-Logo-No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1575" y="6355080"/>
            <a:ext cx="54864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AF6EC"/>
              </a:gs>
              <a:gs pos="100000">
                <a:srgbClr val="E9DFC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2D7A4F"/>
                </a:solidFill>
                <a:latin typeface="Consolas"/>
              </a:rPr>
              <a:t>VALIDATION &amp;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94360"/>
            <a:ext cx="502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2D7A4F"/>
                </a:solidFill>
                <a:latin typeface="Consolas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621792"/>
            <a:ext cx="10042855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PANEL REGRESSION · HEADLINE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960120"/>
            <a:ext cx="10637215" cy="0"/>
          </a:xfrm>
          <a:prstGeom prst="line">
            <a:avLst/>
          </a:prstGeom>
          <a:ln w="17780">
            <a:solidFill>
              <a:srgbClr val="2D7A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1143000"/>
            <a:ext cx="10637215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1F1B16"/>
                </a:solidFill>
                <a:latin typeface="Cambria"/>
              </a:rPr>
              <a:t>BSI z is significant.  Macro controls are not.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10637215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500" b="1" dirty="0">
                <a:solidFill>
                  <a:srgbClr val="5A5247"/>
                </a:solidFill>
                <a:latin typeface="Segoe UI"/>
              </a:rPr>
              <a:t>S</a:t>
            </a:r>
            <a:r>
              <a:rPr sz="1500" b="1" i="0" dirty="0">
                <a:solidFill>
                  <a:srgbClr val="5A5247"/>
                </a:solidFill>
                <a:latin typeface="Segoe UI"/>
              </a:rPr>
              <a:t>aturated firm-fixed-effects specification.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2697480"/>
            <a:ext cx="3200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8C8476"/>
                </a:solidFill>
                <a:latin typeface="Consolas"/>
              </a:rPr>
              <a:t>Variable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2697480"/>
            <a:ext cx="146304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8C8476"/>
                </a:solidFill>
                <a:latin typeface="Consolas"/>
              </a:rPr>
              <a:t>Coefficient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06440" y="2697480"/>
            <a:ext cx="146304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8C8476"/>
                </a:solidFill>
                <a:latin typeface="Consolas"/>
              </a:rPr>
              <a:t>SE (cluster)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69480" y="2697480"/>
            <a:ext cx="128016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8C8476"/>
                </a:solidFill>
                <a:latin typeface="Consolas"/>
              </a:rPr>
              <a:t>t-stat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49640" y="2697480"/>
            <a:ext cx="16459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8C8476"/>
                </a:solidFill>
                <a:latin typeface="Consolas"/>
              </a:rPr>
              <a:t>p-value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143000" y="3063240"/>
            <a:ext cx="9905695" cy="0"/>
          </a:xfrm>
          <a:prstGeom prst="line">
            <a:avLst/>
          </a:prstGeom>
          <a:ln w="12700">
            <a:solidFill>
              <a:srgbClr val="C0B1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143000" y="3172968"/>
            <a:ext cx="3200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B83518"/>
                </a:solidFill>
                <a:latin typeface="Consolas"/>
              </a:rPr>
              <a:t>BSI_{i,t-1}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43400" y="3172968"/>
            <a:ext cx="146304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B83518"/>
                </a:solidFill>
                <a:latin typeface="Consolas"/>
              </a:rPr>
              <a:t>−0.0820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06440" y="3172968"/>
            <a:ext cx="146304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B83518"/>
                </a:solidFill>
                <a:latin typeface="Consolas"/>
              </a:rPr>
              <a:t>0.0300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480" y="3172968"/>
            <a:ext cx="128016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B83518"/>
                </a:solidFill>
                <a:latin typeface="Consolas"/>
              </a:rPr>
              <a:t>−2.73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9640" y="3172968"/>
            <a:ext cx="16459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B83518"/>
                </a:solidFill>
                <a:latin typeface="Consolas"/>
              </a:rPr>
              <a:t>0.007  ★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143000" y="3538728"/>
            <a:ext cx="9905695" cy="0"/>
          </a:xfrm>
          <a:prstGeom prst="line">
            <a:avLst/>
          </a:prstGeom>
          <a:ln w="9525">
            <a:solidFill>
              <a:srgbClr val="D8CB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143000" y="3557016"/>
            <a:ext cx="3200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UNRATE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43400" y="3557016"/>
            <a:ext cx="146304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−0.0041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06440" y="3557016"/>
            <a:ext cx="146304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0.0035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69480" y="3557016"/>
            <a:ext cx="128016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−1.18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49640" y="3557016"/>
            <a:ext cx="16459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0.241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3941064"/>
            <a:ext cx="3200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STLFSI4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43400" y="3941064"/>
            <a:ext cx="146304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+0.0023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06440" y="3941064"/>
            <a:ext cx="146304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0.0019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69480" y="3941064"/>
            <a:ext cx="128016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+1.21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49640" y="3941064"/>
            <a:ext cx="16459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0.230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43000" y="4325112"/>
            <a:ext cx="3200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NFCI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43400" y="4325112"/>
            <a:ext cx="146304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+0.0017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06440" y="4325112"/>
            <a:ext cx="146304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0.0021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69480" y="4325112"/>
            <a:ext cx="128016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+0.83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49640" y="4325112"/>
            <a:ext cx="16459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0.412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3000" y="4709160"/>
            <a:ext cx="3200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BAMLH0A0HYM2 (HY OAS)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43400" y="4709160"/>
            <a:ext cx="146304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+0.0009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06440" y="4709160"/>
            <a:ext cx="146304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0.0014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69480" y="4709160"/>
            <a:ext cx="128016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+0.65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49640" y="4709160"/>
            <a:ext cx="16459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0.520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143000" y="5074920"/>
            <a:ext cx="9905695" cy="0"/>
          </a:xfrm>
          <a:prstGeom prst="line">
            <a:avLst/>
          </a:prstGeom>
          <a:ln w="9525">
            <a:solidFill>
              <a:srgbClr val="D8CB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1143000" y="5093208"/>
            <a:ext cx="3200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Firm fixed effects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43400" y="5093208"/>
            <a:ext cx="146304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06440" y="5093208"/>
            <a:ext cx="146304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—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269480" y="5093208"/>
            <a:ext cx="128016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549640" y="5093208"/>
            <a:ext cx="16459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Yes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43000" y="5477256"/>
            <a:ext cx="3200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N (firm-month obs)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343400" y="5477256"/>
            <a:ext cx="146304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806440" y="5477256"/>
            <a:ext cx="146304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269480" y="5477256"/>
            <a:ext cx="128016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549640" y="5477256"/>
            <a:ext cx="16459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1,917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43000" y="5861304"/>
            <a:ext cx="3200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R² within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343400" y="5861304"/>
            <a:ext cx="146304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806440" y="5861304"/>
            <a:ext cx="146304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—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269480" y="5861304"/>
            <a:ext cx="128016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—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549640" y="5861304"/>
            <a:ext cx="16459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0.061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028700" y="6204204"/>
            <a:ext cx="10088575" cy="457200"/>
          </a:xfrm>
          <a:prstGeom prst="roundRect">
            <a:avLst>
              <a:gd name="adj" fmla="val 3000"/>
            </a:avLst>
          </a:prstGeom>
          <a:solidFill>
            <a:srgbClr val="F4C0A8"/>
          </a:solidFill>
          <a:ln w="12700">
            <a:solidFill>
              <a:srgbClr val="E84A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58" name="TextBox 57"/>
          <p:cNvSpPr txBox="1"/>
          <p:nvPr/>
        </p:nvSpPr>
        <p:spPr>
          <a:xfrm>
            <a:off x="1028700" y="6270498"/>
            <a:ext cx="1008857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 dirty="0">
                <a:solidFill>
                  <a:srgbClr val="B83518"/>
                </a:solidFill>
                <a:latin typeface="Segoe UI"/>
              </a:rPr>
              <a:t>BSI carries the predictive content. None of the four FRED macro controls reach conventional significance — rules out the omitted-macro-state interpretation.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7240" y="644652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8C8476"/>
                </a:solidFill>
                <a:latin typeface="Consolas"/>
              </a:rPr>
              <a:t>BearWatch BSI  ·  FIN 580  ·  Spring 2026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362895" y="644652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8C8476"/>
                </a:solidFill>
                <a:latin typeface="Consolas"/>
              </a:rPr>
              <a:t>18 / 29</a:t>
            </a:r>
          </a:p>
        </p:txBody>
      </p:sp>
      <p:pic>
        <p:nvPicPr>
          <p:cNvPr id="61" name="Picture 60" descr="Illinois-Logo-No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1575" y="6355080"/>
            <a:ext cx="54864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AF6EC"/>
              </a:gs>
              <a:gs pos="100000">
                <a:srgbClr val="E9DFC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2D7A4F"/>
                </a:solidFill>
                <a:latin typeface="Consolas"/>
              </a:rPr>
              <a:t>VALIDATION &amp;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94360"/>
            <a:ext cx="502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2D7A4F"/>
                </a:solidFill>
                <a:latin typeface="Consolas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621792"/>
            <a:ext cx="10042855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NORMALISED BSI · VS REVENUE-GROWTH PROXY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960120"/>
            <a:ext cx="10637215" cy="0"/>
          </a:xfrm>
          <a:prstGeom prst="line">
            <a:avLst/>
          </a:prstGeom>
          <a:ln w="17780">
            <a:solidFill>
              <a:srgbClr val="2D7A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1143000"/>
            <a:ext cx="10637215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1F1B16"/>
                </a:solidFill>
                <a:latin typeface="Cambria"/>
              </a:rPr>
              <a:t>BSI is not just a revenue-growth proxy.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10637215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 dirty="0">
                <a:solidFill>
                  <a:srgbClr val="5A5247"/>
                </a:solidFill>
                <a:latin typeface="Segoe UI"/>
              </a:rPr>
              <a:t>13 firms × 972 firm-months, cluster-robust 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697480"/>
            <a:ext cx="4572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8C8476"/>
                </a:solidFill>
                <a:latin typeface="Consolas"/>
              </a:rPr>
              <a:t>Specification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23560" y="2697480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1" i="0">
                <a:solidFill>
                  <a:srgbClr val="8C8476"/>
                </a:solidFill>
                <a:latin typeface="Consolas"/>
              </a:rPr>
              <a:t>Pillar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2697480"/>
            <a:ext cx="640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1" i="0">
                <a:solidFill>
                  <a:srgbClr val="8C8476"/>
                </a:solidFill>
                <a:latin typeface="Consolas"/>
              </a:rPr>
              <a:t>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6600" y="2697480"/>
            <a:ext cx="1280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1" i="0">
                <a:solidFill>
                  <a:srgbClr val="8C8476"/>
                </a:solidFill>
                <a:latin typeface="Consolas"/>
              </a:rPr>
              <a:t>Coef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2697480"/>
            <a:ext cx="914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1" i="0">
                <a:solidFill>
                  <a:srgbClr val="8C8476"/>
                </a:solidFill>
                <a:latin typeface="Consolas"/>
              </a:rPr>
              <a:t>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81160" y="2697480"/>
            <a:ext cx="914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1" i="0">
                <a:solidFill>
                  <a:srgbClr val="8C8476"/>
                </a:solidFill>
                <a:latin typeface="Consolas"/>
              </a:rPr>
              <a:t>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95560" y="2697480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1" i="0">
                <a:solidFill>
                  <a:srgbClr val="8C8476"/>
                </a:solidFill>
                <a:latin typeface="Consolas"/>
              </a:rPr>
              <a:t>p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51560" y="3108960"/>
            <a:ext cx="10088575" cy="0"/>
          </a:xfrm>
          <a:prstGeom prst="line">
            <a:avLst/>
          </a:prstGeom>
          <a:ln w="12700">
            <a:solidFill>
              <a:srgbClr val="C0B1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051560" y="3246120"/>
            <a:ext cx="4572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1F1B16"/>
                </a:solidFill>
                <a:latin typeface="Consolas"/>
              </a:rPr>
              <a:t>A. Absolute BSI lag-1 + firm FE (baseline)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23560" y="3246120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>
                <a:solidFill>
                  <a:srgbClr val="5A5247"/>
                </a:solidFill>
                <a:latin typeface="Consolas"/>
              </a:rPr>
              <a:t>absolute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3246120"/>
            <a:ext cx="640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>
                <a:solidFill>
                  <a:srgbClr val="5A5247"/>
                </a:solidFill>
                <a:latin typeface="Consolas"/>
              </a:rPr>
              <a:t>972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600" y="3246120"/>
            <a:ext cx="1280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>
                <a:solidFill>
                  <a:srgbClr val="5A5247"/>
                </a:solidFill>
                <a:latin typeface="Consolas"/>
              </a:rPr>
              <a:t>−0.1155***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3246120"/>
            <a:ext cx="914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>
                <a:solidFill>
                  <a:srgbClr val="5A5247"/>
                </a:solidFill>
                <a:latin typeface="Consolas"/>
              </a:rPr>
              <a:t>0.0224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81160" y="3246120"/>
            <a:ext cx="914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>
                <a:solidFill>
                  <a:srgbClr val="5A5247"/>
                </a:solidFill>
                <a:latin typeface="Consolas"/>
              </a:rPr>
              <a:t>−5.17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5560" y="3246120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>
                <a:solidFill>
                  <a:srgbClr val="5A5247"/>
                </a:solidFill>
                <a:latin typeface="Consolas"/>
              </a:rPr>
              <a:t>&lt;0.001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3703320"/>
            <a:ext cx="4572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1F1B16"/>
                </a:solidFill>
                <a:latin typeface="Consolas"/>
              </a:rPr>
              <a:t>B. Normalised BSI lag-1 + firm FE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23560" y="3703320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>
                <a:solidFill>
                  <a:srgbClr val="5A5247"/>
                </a:solidFill>
                <a:latin typeface="Consolas"/>
              </a:rPr>
              <a:t>c̃ z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6520" y="3703320"/>
            <a:ext cx="640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>
                <a:solidFill>
                  <a:srgbClr val="5A5247"/>
                </a:solidFill>
                <a:latin typeface="Consolas"/>
              </a:rPr>
              <a:t>972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6600" y="3703320"/>
            <a:ext cx="1280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>
                <a:solidFill>
                  <a:srgbClr val="5A5247"/>
                </a:solidFill>
                <a:latin typeface="Consolas"/>
              </a:rPr>
              <a:t>−0.1017***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66760" y="3703320"/>
            <a:ext cx="914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>
                <a:solidFill>
                  <a:srgbClr val="5A5247"/>
                </a:solidFill>
                <a:latin typeface="Consolas"/>
              </a:rPr>
              <a:t>0.0199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81160" y="3703320"/>
            <a:ext cx="914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>
                <a:solidFill>
                  <a:srgbClr val="5A5247"/>
                </a:solidFill>
                <a:latin typeface="Consolas"/>
              </a:rPr>
              <a:t>−5.12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95560" y="3703320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>
                <a:solidFill>
                  <a:srgbClr val="5A5247"/>
                </a:solidFill>
                <a:latin typeface="Consolas"/>
              </a:rPr>
              <a:t>&lt;0.001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" y="4160520"/>
            <a:ext cx="4572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B83518"/>
                </a:solidFill>
                <a:latin typeface="Consolas"/>
              </a:rPr>
              <a:t>C. Normalised BSI + revenue YoY ctrl + firm FE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23560" y="4160520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 i="0">
                <a:solidFill>
                  <a:srgbClr val="B83518"/>
                </a:solidFill>
                <a:latin typeface="Consolas"/>
              </a:rPr>
              <a:t>c̃ z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46520" y="4160520"/>
            <a:ext cx="640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 i="0">
                <a:solidFill>
                  <a:srgbClr val="B83518"/>
                </a:solidFill>
                <a:latin typeface="Consolas"/>
              </a:rPr>
              <a:t>972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86600" y="4160520"/>
            <a:ext cx="1280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 i="0">
                <a:solidFill>
                  <a:srgbClr val="B83518"/>
                </a:solidFill>
                <a:latin typeface="Consolas"/>
              </a:rPr>
              <a:t>−0.1040***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66760" y="4160520"/>
            <a:ext cx="914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 i="0">
                <a:solidFill>
                  <a:srgbClr val="B83518"/>
                </a:solidFill>
                <a:latin typeface="Consolas"/>
              </a:rPr>
              <a:t>0.0206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81160" y="4160520"/>
            <a:ext cx="914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 i="0">
                <a:solidFill>
                  <a:srgbClr val="B83518"/>
                </a:solidFill>
                <a:latin typeface="Consolas"/>
              </a:rPr>
              <a:t>−5.06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4160520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 i="0">
                <a:solidFill>
                  <a:srgbClr val="B83518"/>
                </a:solidFill>
                <a:latin typeface="Consolas"/>
              </a:rPr>
              <a:t>&lt;0.001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1560" y="4617720"/>
            <a:ext cx="4572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       (revenue YoY control)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23560" y="4617720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446520" y="4617720"/>
            <a:ext cx="640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086600" y="4617720"/>
            <a:ext cx="1280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>
                <a:solidFill>
                  <a:srgbClr val="5A5247"/>
                </a:solidFill>
                <a:latin typeface="Consolas"/>
              </a:rPr>
              <a:t>−0.0054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66760" y="4617720"/>
            <a:ext cx="914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>
                <a:solidFill>
                  <a:srgbClr val="5A5247"/>
                </a:solidFill>
                <a:latin typeface="Consolas"/>
              </a:rPr>
              <a:t>0.0033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81160" y="4617720"/>
            <a:ext cx="914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>
                <a:solidFill>
                  <a:srgbClr val="5A5247"/>
                </a:solidFill>
                <a:latin typeface="Consolas"/>
              </a:rPr>
              <a:t>−1.63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195560" y="4617720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>
                <a:solidFill>
                  <a:srgbClr val="5A5247"/>
                </a:solidFill>
                <a:latin typeface="Consolas"/>
              </a:rPr>
              <a:t>0.103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51560" y="5806440"/>
            <a:ext cx="10088575" cy="594360"/>
          </a:xfrm>
          <a:prstGeom prst="roundRect">
            <a:avLst>
              <a:gd name="adj" fmla="val 3000"/>
            </a:avLst>
          </a:prstGeom>
          <a:solidFill>
            <a:srgbClr val="F4C0A8"/>
          </a:solidFill>
          <a:ln w="12700">
            <a:solidFill>
              <a:srgbClr val="E84A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1234440" y="5879592"/>
            <a:ext cx="97228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1" i="0">
                <a:solidFill>
                  <a:srgbClr val="B83518"/>
                </a:solidFill>
                <a:latin typeface="Segoe UI"/>
              </a:rPr>
              <a:t>KEY · normalised BSI remains highly significant (p &lt; 0.001) with revenue-YoY as a separate control. Revenue-YoY itself is not significant (p = 0.103). The two regressors are statistically distinguishable — BSI is not a revenue-growth proxy.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77240" y="644652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8C8476"/>
                </a:solidFill>
                <a:latin typeface="Consolas"/>
              </a:rPr>
              <a:t>BearWatch BSI  ·  FIN 580  ·  Spring 2026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362895" y="644652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8C8476"/>
                </a:solidFill>
                <a:latin typeface="Consolas"/>
              </a:rPr>
              <a:t>19 / 29</a:t>
            </a:r>
          </a:p>
        </p:txBody>
      </p:sp>
      <p:pic>
        <p:nvPicPr>
          <p:cNvPr id="49" name="Picture 48" descr="Illinois-Logo-No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1575" y="6355080"/>
            <a:ext cx="54864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AF6EC"/>
              </a:gs>
              <a:gs pos="100000">
                <a:srgbClr val="E9DFC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2D7A4F"/>
                </a:solidFill>
                <a:latin typeface="Consolas"/>
              </a:rPr>
              <a:t>VALIDATION &amp;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94360"/>
            <a:ext cx="502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2D7A4F"/>
                </a:solidFill>
                <a:latin typeface="Consolas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621792"/>
            <a:ext cx="10042855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GRANGER F-TESTS · DIRECTION OF CAUSATION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960120"/>
            <a:ext cx="10637215" cy="0"/>
          </a:xfrm>
          <a:prstGeom prst="line">
            <a:avLst/>
          </a:prstGeom>
          <a:ln w="17780">
            <a:solidFill>
              <a:srgbClr val="2D7A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1143000"/>
            <a:ext cx="10637215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1F1B16"/>
                </a:solidFill>
                <a:latin typeface="Cambria"/>
              </a:rPr>
              <a:t>BSI Granger-causes complaints at every horizon ≤ 3 months.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68296"/>
            <a:ext cx="10637215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500" b="1" i="0" dirty="0">
                <a:solidFill>
                  <a:srgbClr val="5A5247"/>
                </a:solidFill>
                <a:latin typeface="Segoe UI"/>
              </a:rPr>
              <a:t>P</a:t>
            </a:r>
            <a:r>
              <a:rPr sz="1500" b="1" i="0" dirty="0">
                <a:solidFill>
                  <a:srgbClr val="5A5247"/>
                </a:solidFill>
                <a:latin typeface="Segoe UI"/>
              </a:rPr>
              <a:t>er-firm F-tests, aggregated across 27 firms.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743200"/>
            <a:ext cx="16459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8C8476"/>
                </a:solidFill>
                <a:latin typeface="Consolas"/>
              </a:rPr>
              <a:t>Lag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7480" y="2743200"/>
            <a:ext cx="15544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8C8476"/>
                </a:solidFill>
                <a:latin typeface="Consolas"/>
              </a:rPr>
              <a:t>Firms tested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1960" y="2743200"/>
            <a:ext cx="21945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8C8476"/>
                </a:solidFill>
                <a:latin typeface="Consolas"/>
              </a:rPr>
              <a:t>Significant (p&lt;0.05)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743200"/>
            <a:ext cx="21945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8C8476"/>
                </a:solidFill>
                <a:latin typeface="Consolas"/>
              </a:rPr>
              <a:t>Significant (p&lt;0.01)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41080" y="2743200"/>
            <a:ext cx="12801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8C8476"/>
                </a:solidFill>
                <a:latin typeface="Consolas"/>
              </a:rPr>
              <a:t>Median 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21240" y="2743200"/>
            <a:ext cx="13716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8C8476"/>
                </a:solidFill>
                <a:latin typeface="Consolas"/>
              </a:rPr>
              <a:t>Median p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051560" y="3200400"/>
            <a:ext cx="10088575" cy="0"/>
          </a:xfrm>
          <a:prstGeom prst="line">
            <a:avLst/>
          </a:prstGeom>
          <a:ln w="12700">
            <a:solidFill>
              <a:srgbClr val="C0B1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51560" y="3337560"/>
            <a:ext cx="16459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B83518"/>
                </a:solidFill>
                <a:latin typeface="Consolas"/>
              </a:rPr>
              <a:t>1 month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3337560"/>
            <a:ext cx="15544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>
                <a:solidFill>
                  <a:srgbClr val="B83518"/>
                </a:solidFill>
                <a:latin typeface="Consolas"/>
              </a:rPr>
              <a:t>27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51960" y="3337560"/>
            <a:ext cx="21945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>
                <a:solidFill>
                  <a:srgbClr val="B83518"/>
                </a:solidFill>
                <a:latin typeface="Consolas"/>
              </a:rPr>
              <a:t>23 (85%)  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3337560"/>
            <a:ext cx="21945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>
                <a:solidFill>
                  <a:srgbClr val="B83518"/>
                </a:solidFill>
                <a:latin typeface="Consolas"/>
              </a:rPr>
              <a:t>20 (74%)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41080" y="3337560"/>
            <a:ext cx="12801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>
                <a:solidFill>
                  <a:srgbClr val="B83518"/>
                </a:solidFill>
                <a:latin typeface="Consolas"/>
              </a:rPr>
              <a:t>5.11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21240" y="3337560"/>
            <a:ext cx="13716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>
                <a:solidFill>
                  <a:srgbClr val="B83518"/>
                </a:solidFill>
                <a:latin typeface="Consolas"/>
              </a:rPr>
              <a:t>0.0005  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3840480"/>
            <a:ext cx="16459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F1B16"/>
                </a:solidFill>
                <a:latin typeface="Consolas"/>
              </a:rPr>
              <a:t>2 months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80" y="3840480"/>
            <a:ext cx="15544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 i="0">
                <a:solidFill>
                  <a:srgbClr val="5A5247"/>
                </a:solidFill>
                <a:latin typeface="Consolas"/>
              </a:rPr>
              <a:t>27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51960" y="3840480"/>
            <a:ext cx="21945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 i="0">
                <a:solidFill>
                  <a:srgbClr val="5A5247"/>
                </a:solidFill>
                <a:latin typeface="Consolas"/>
              </a:rPr>
              <a:t>16 (59%)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3840480"/>
            <a:ext cx="21945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 i="0">
                <a:solidFill>
                  <a:srgbClr val="5A5247"/>
                </a:solidFill>
                <a:latin typeface="Consolas"/>
              </a:rPr>
              <a:t>16 (59%)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41080" y="3840480"/>
            <a:ext cx="12801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 i="0">
                <a:solidFill>
                  <a:srgbClr val="5A5247"/>
                </a:solidFill>
                <a:latin typeface="Consolas"/>
              </a:rPr>
              <a:t>3.10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21240" y="3840480"/>
            <a:ext cx="13716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 i="0">
                <a:solidFill>
                  <a:srgbClr val="5A5247"/>
                </a:solidFill>
                <a:latin typeface="Consolas"/>
              </a:rPr>
              <a:t>0.0021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4343400"/>
            <a:ext cx="16459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F1B16"/>
                </a:solidFill>
                <a:latin typeface="Consolas"/>
              </a:rPr>
              <a:t>3 months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97480" y="4343400"/>
            <a:ext cx="15544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 i="0">
                <a:solidFill>
                  <a:srgbClr val="5A5247"/>
                </a:solidFill>
                <a:latin typeface="Consolas"/>
              </a:rPr>
              <a:t>27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51960" y="4343400"/>
            <a:ext cx="21945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 i="0">
                <a:solidFill>
                  <a:srgbClr val="5A5247"/>
                </a:solidFill>
                <a:latin typeface="Consolas"/>
              </a:rPr>
              <a:t>17 (63%)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6520" y="4343400"/>
            <a:ext cx="21945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 i="0">
                <a:solidFill>
                  <a:srgbClr val="5A5247"/>
                </a:solidFill>
                <a:latin typeface="Consolas"/>
              </a:rPr>
              <a:t>15 (56%)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41080" y="4343400"/>
            <a:ext cx="12801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 i="0">
                <a:solidFill>
                  <a:srgbClr val="5A5247"/>
                </a:solidFill>
                <a:latin typeface="Consolas"/>
              </a:rPr>
              <a:t>2.33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21240" y="4343400"/>
            <a:ext cx="13716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 i="0">
                <a:solidFill>
                  <a:srgbClr val="5A5247"/>
                </a:solidFill>
                <a:latin typeface="Consolas"/>
              </a:rPr>
              <a:t>0.0072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" y="4846320"/>
            <a:ext cx="16459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F1B16"/>
                </a:solidFill>
                <a:latin typeface="Consolas"/>
              </a:rPr>
              <a:t>6 months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697480" y="4846320"/>
            <a:ext cx="15544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 i="0">
                <a:solidFill>
                  <a:srgbClr val="5A5247"/>
                </a:solidFill>
                <a:latin typeface="Consolas"/>
              </a:rPr>
              <a:t>27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51960" y="4846320"/>
            <a:ext cx="21945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 i="0">
                <a:solidFill>
                  <a:srgbClr val="5A5247"/>
                </a:solidFill>
                <a:latin typeface="Consolas"/>
              </a:rPr>
              <a:t>13 (48%)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46520" y="4846320"/>
            <a:ext cx="21945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 i="0">
                <a:solidFill>
                  <a:srgbClr val="5A5247"/>
                </a:solidFill>
                <a:latin typeface="Consolas"/>
              </a:rPr>
              <a:t>11 (41%)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41080" y="4846320"/>
            <a:ext cx="12801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 i="0">
                <a:solidFill>
                  <a:srgbClr val="5A5247"/>
                </a:solidFill>
                <a:latin typeface="Consolas"/>
              </a:rPr>
              <a:t>1.44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21240" y="4846320"/>
            <a:ext cx="13716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 i="0">
                <a:solidFill>
                  <a:srgbClr val="5A5247"/>
                </a:solidFill>
                <a:latin typeface="Consolas"/>
              </a:rPr>
              <a:t>0.0824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5852160"/>
            <a:ext cx="1063721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1" i="0">
                <a:solidFill>
                  <a:srgbClr val="B83518"/>
                </a:solidFill>
                <a:latin typeface="Segoe UI"/>
              </a:rPr>
              <a:t>1-month lag is the central empirical finding — 23 of 27 firms reject no-Granger-causality at p &lt; 0.05; median p = 0.0005. Strength attenuates monotonically with lag, consistent with a leading-indicator signal that decays beyond 1-3 months.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" y="644652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8C8476"/>
                </a:solidFill>
                <a:latin typeface="Consolas"/>
              </a:rPr>
              <a:t>BearWatch BSI  ·  FIN 580  ·  Spring 2026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362895" y="644652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8C8476"/>
                </a:solidFill>
                <a:latin typeface="Consolas"/>
              </a:rPr>
              <a:t>20 / 29</a:t>
            </a:r>
          </a:p>
        </p:txBody>
      </p:sp>
      <p:pic>
        <p:nvPicPr>
          <p:cNvPr id="43" name="Picture 42" descr="Illinois-Logo-No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1575" y="6355080"/>
            <a:ext cx="54864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AF6EC"/>
              </a:gs>
              <a:gs pos="100000">
                <a:srgbClr val="E9DFC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2D7A4F"/>
                </a:solidFill>
                <a:latin typeface="Consolas"/>
              </a:rPr>
              <a:t>VALIDATION &amp;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94360"/>
            <a:ext cx="502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2D7A4F"/>
                </a:solidFill>
                <a:latin typeface="Consolas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621792"/>
            <a:ext cx="10042855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BASELINE COMPARISON · HONEST DISCLOSURE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960120"/>
            <a:ext cx="10637215" cy="0"/>
          </a:xfrm>
          <a:prstGeom prst="line">
            <a:avLst/>
          </a:prstGeom>
          <a:ln w="17780">
            <a:solidFill>
              <a:srgbClr val="2D7A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1143000"/>
            <a:ext cx="10637215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1F1B16"/>
                </a:solidFill>
                <a:latin typeface="Cambria"/>
              </a:rPr>
              <a:t>Raw log-volume marginally beats EWMA composite in panel-fit.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478024"/>
            <a:ext cx="10637215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 dirty="0">
                <a:solidFill>
                  <a:srgbClr val="5A5247"/>
                </a:solidFill>
                <a:latin typeface="Segoe UI"/>
              </a:rPr>
              <a:t>BSI's payoff is in event-detection, not panel R².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788920"/>
            <a:ext cx="594360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8C8476"/>
                </a:solidFill>
                <a:latin typeface="Consolas"/>
              </a:rPr>
              <a:t>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5160" y="2788920"/>
            <a:ext cx="109728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1" i="0">
                <a:solidFill>
                  <a:srgbClr val="8C8476"/>
                </a:solidFill>
                <a:latin typeface="Consolas"/>
              </a:rPr>
              <a:t>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788920"/>
            <a:ext cx="109728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1" i="0">
                <a:solidFill>
                  <a:srgbClr val="8C8476"/>
                </a:solidFill>
                <a:latin typeface="Consolas"/>
              </a:rPr>
              <a:t>R²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89720" y="2788920"/>
            <a:ext cx="128016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1" i="0">
                <a:solidFill>
                  <a:srgbClr val="8C8476"/>
                </a:solidFill>
                <a:latin typeface="Consolas"/>
              </a:rPr>
              <a:t>Adj. R²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69880" y="2788920"/>
            <a:ext cx="128016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1" i="0">
                <a:solidFill>
                  <a:srgbClr val="8C8476"/>
                </a:solidFill>
                <a:latin typeface="Consolas"/>
              </a:rPr>
              <a:t>AIC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051560" y="3218688"/>
            <a:ext cx="10088575" cy="0"/>
          </a:xfrm>
          <a:prstGeom prst="line">
            <a:avLst/>
          </a:prstGeom>
          <a:ln w="12700">
            <a:solidFill>
              <a:srgbClr val="C0B1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051560" y="3355848"/>
            <a:ext cx="594360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A. Macro controls only (no BSI)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95160" y="3355848"/>
            <a:ext cx="109728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>
                <a:solidFill>
                  <a:srgbClr val="5A5247"/>
                </a:solidFill>
                <a:latin typeface="Consolas"/>
              </a:rPr>
              <a:t>2,268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92440" y="3355848"/>
            <a:ext cx="109728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>
                <a:solidFill>
                  <a:srgbClr val="5A5247"/>
                </a:solidFill>
                <a:latin typeface="Consolas"/>
              </a:rPr>
              <a:t>0.0022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89720" y="3355848"/>
            <a:ext cx="128016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>
                <a:solidFill>
                  <a:srgbClr val="5A5247"/>
                </a:solidFill>
                <a:latin typeface="Consolas"/>
              </a:rPr>
              <a:t>0.0005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69880" y="3355848"/>
            <a:ext cx="128016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>
                <a:solidFill>
                  <a:srgbClr val="5A5247"/>
                </a:solidFill>
                <a:latin typeface="Consolas"/>
              </a:rPr>
              <a:t>2,582.0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3831336"/>
            <a:ext cx="594360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B8841C"/>
                </a:solidFill>
                <a:latin typeface="Consolas"/>
              </a:rPr>
              <a:t>B. Raw log-CFPB-volume only (no z-scoring)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95160" y="3831336"/>
            <a:ext cx="109728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 i="0">
                <a:solidFill>
                  <a:srgbClr val="B8841C"/>
                </a:solidFill>
                <a:latin typeface="Consolas"/>
              </a:rPr>
              <a:t>2,241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2440" y="3831336"/>
            <a:ext cx="109728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 i="0">
                <a:solidFill>
                  <a:srgbClr val="B8841C"/>
                </a:solidFill>
                <a:latin typeface="Consolas"/>
              </a:rPr>
              <a:t>0.0043 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89720" y="3831336"/>
            <a:ext cx="128016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 i="0">
                <a:solidFill>
                  <a:srgbClr val="B8841C"/>
                </a:solidFill>
                <a:latin typeface="Consolas"/>
              </a:rPr>
              <a:t>0.0038 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69880" y="3831336"/>
            <a:ext cx="128016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 i="0">
                <a:solidFill>
                  <a:srgbClr val="B8841C"/>
                </a:solidFill>
                <a:latin typeface="Consolas"/>
              </a:rPr>
              <a:t>2,551.6 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4306824"/>
            <a:ext cx="594360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C. BSI z + macro controls (full Eq. 1)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95160" y="4306824"/>
            <a:ext cx="109728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>
                <a:solidFill>
                  <a:srgbClr val="5A5247"/>
                </a:solidFill>
                <a:latin typeface="Consolas"/>
              </a:rPr>
              <a:t>2,268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92440" y="4306824"/>
            <a:ext cx="109728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>
                <a:solidFill>
                  <a:srgbClr val="5A5247"/>
                </a:solidFill>
                <a:latin typeface="Consolas"/>
              </a:rPr>
              <a:t>0.0033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9720" y="4306824"/>
            <a:ext cx="128016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>
                <a:solidFill>
                  <a:srgbClr val="5A5247"/>
                </a:solidFill>
                <a:latin typeface="Consolas"/>
              </a:rPr>
              <a:t>0.0011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69880" y="4306824"/>
            <a:ext cx="128016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0" i="0">
                <a:solidFill>
                  <a:srgbClr val="5A5247"/>
                </a:solidFill>
                <a:latin typeface="Consolas"/>
              </a:rPr>
              <a:t>2,581.4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51560" y="4937760"/>
            <a:ext cx="10088575" cy="100584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15240">
            <a:solidFill>
              <a:srgbClr val="B884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234440" y="5029200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B8841C"/>
                </a:solidFill>
                <a:latin typeface="Consolas"/>
              </a:rPr>
              <a:t>HONEST FINDING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34440" y="5168391"/>
            <a:ext cx="9722815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1" i="0" dirty="0">
                <a:solidFill>
                  <a:srgbClr val="5A5247"/>
                </a:solidFill>
                <a:latin typeface="Segoe UI"/>
              </a:rPr>
              <a:t>EWMA z-scoring throws away level information that has predictive content for the panel-regression mean-reversion question. We disclose this openly. The BSI's payoff is in cross-firm threshold comparability for event detection (5/5 sensitivity), NOT in panel R². The panel and event-detection results test distinct claims.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644652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8C8476"/>
                </a:solidFill>
                <a:latin typeface="Consolas"/>
              </a:rPr>
              <a:t>BearWatch BSI  ·  FIN 580  ·  Spring 2026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62895" y="644652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8C8476"/>
                </a:solidFill>
                <a:latin typeface="Consolas"/>
              </a:rPr>
              <a:t>21 / 29</a:t>
            </a:r>
          </a:p>
        </p:txBody>
      </p:sp>
      <p:pic>
        <p:nvPicPr>
          <p:cNvPr id="35" name="Picture 34" descr="Illinois-Logo-No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1575" y="6355080"/>
            <a:ext cx="54864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AF6EC"/>
              </a:gs>
              <a:gs pos="100000">
                <a:srgbClr val="E9DFC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2D7A4F"/>
                </a:solidFill>
                <a:latin typeface="Consolas"/>
              </a:rPr>
              <a:t>VALIDATION &amp;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94360"/>
            <a:ext cx="502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2D7A4F"/>
                </a:solidFill>
                <a:latin typeface="Consolas"/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621792"/>
            <a:ext cx="10042855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EMPIRICAL RESULTS · SE-SENSITIVITY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960120"/>
            <a:ext cx="10637215" cy="0"/>
          </a:xfrm>
          <a:prstGeom prst="line">
            <a:avLst/>
          </a:prstGeom>
          <a:ln w="17780">
            <a:solidFill>
              <a:srgbClr val="2D7A4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1143000"/>
            <a:ext cx="10637215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1F1B16"/>
                </a:solidFill>
                <a:latin typeface="Cambria"/>
              </a:rPr>
              <a:t>Same coefficient.  Six standard-error (SE) specifications.  All reject H₀.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403452"/>
            <a:ext cx="106372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5A5247"/>
                </a:solidFill>
                <a:latin typeface="Segoe UI"/>
              </a:rPr>
              <a:t>Driscoll-Kraay survives at p = 0.007 — the strongest defensive result in the paper.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2697480"/>
            <a:ext cx="32004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8C8476"/>
                </a:solidFill>
                <a:latin typeface="Consolas"/>
              </a:rPr>
              <a:t>SE estimator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2697480"/>
            <a:ext cx="1097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8C8476"/>
                </a:solidFill>
                <a:latin typeface="Consolas"/>
              </a:rPr>
              <a:t>β̂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40680" y="2697480"/>
            <a:ext cx="1097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8C8476"/>
                </a:solidFill>
                <a:latin typeface="Consolas"/>
              </a:rPr>
              <a:t>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697480"/>
            <a:ext cx="12801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8C8476"/>
                </a:solidFill>
                <a:latin typeface="Consolas"/>
              </a:rPr>
              <a:t>t-stat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2697480"/>
            <a:ext cx="12801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8C8476"/>
                </a:solidFill>
                <a:latin typeface="Consolas"/>
              </a:rPr>
              <a:t>p-value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98280" y="2697480"/>
            <a:ext cx="23774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8C8476"/>
                </a:solidFill>
                <a:latin typeface="Consolas"/>
              </a:rPr>
              <a:t>verdict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143000" y="3081528"/>
            <a:ext cx="9905695" cy="0"/>
          </a:xfrm>
          <a:prstGeom prst="line">
            <a:avLst/>
          </a:prstGeom>
          <a:ln w="9525">
            <a:solidFill>
              <a:srgbClr val="D8CB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143000" y="3154680"/>
            <a:ext cx="32004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F1B16"/>
                </a:solidFill>
                <a:latin typeface="Consolas"/>
              </a:rPr>
              <a:t>Naive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3400" y="3154680"/>
            <a:ext cx="1097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−0.082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3154680"/>
            <a:ext cx="1097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0.024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3154680"/>
            <a:ext cx="12801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−3.42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18120" y="3154680"/>
            <a:ext cx="12801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F1B16"/>
                </a:solidFill>
                <a:latin typeface="Consolas"/>
              </a:rPr>
              <a:t>0.001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98280" y="3154680"/>
            <a:ext cx="23774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2D7A4F"/>
                </a:solidFill>
                <a:latin typeface="Consolas"/>
              </a:rPr>
              <a:t>rejects H₀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3566160"/>
            <a:ext cx="32004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F1B16"/>
                </a:solidFill>
                <a:latin typeface="Consolas"/>
              </a:rPr>
              <a:t>HC1 White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3400" y="3566160"/>
            <a:ext cx="1097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−0.082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3566160"/>
            <a:ext cx="1097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0.029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60" y="3566160"/>
            <a:ext cx="12801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−2.83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18120" y="3566160"/>
            <a:ext cx="12801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F1B16"/>
                </a:solidFill>
                <a:latin typeface="Consolas"/>
              </a:rPr>
              <a:t>0.005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98280" y="3566160"/>
            <a:ext cx="23774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2D7A4F"/>
                </a:solidFill>
                <a:latin typeface="Consolas"/>
              </a:rPr>
              <a:t>rejects H₀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5444" y="3874560"/>
            <a:ext cx="3402149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dirty="0">
                <a:solidFill>
                  <a:srgbClr val="1F1B16"/>
                </a:solidFill>
                <a:latin typeface="Consolas"/>
              </a:rPr>
              <a:t>heteroskedasticity- and autocorrelation-consistent (HAC) Newey-West (12)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43400" y="3977640"/>
            <a:ext cx="1097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−0.082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40680" y="3977640"/>
            <a:ext cx="1097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0.031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37960" y="3977640"/>
            <a:ext cx="12801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−2.65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18120" y="3977640"/>
            <a:ext cx="12801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F1B16"/>
                </a:solidFill>
                <a:latin typeface="Consolas"/>
              </a:rPr>
              <a:t>0.010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98280" y="3977640"/>
            <a:ext cx="23774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2D7A4F"/>
                </a:solidFill>
                <a:latin typeface="Consolas"/>
              </a:rPr>
              <a:t>rejects H₀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3000" y="4389120"/>
            <a:ext cx="32004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dirty="0">
                <a:solidFill>
                  <a:srgbClr val="1F1B16"/>
                </a:solidFill>
                <a:latin typeface="Consolas"/>
              </a:rPr>
              <a:t>Cluster (firm)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43400" y="4389120"/>
            <a:ext cx="1097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−0.082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40680" y="4389120"/>
            <a:ext cx="1097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0.030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37960" y="4389120"/>
            <a:ext cx="12801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−2.73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818120" y="4389120"/>
            <a:ext cx="12801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F1B16"/>
                </a:solidFill>
                <a:latin typeface="Consolas"/>
              </a:rPr>
              <a:t>0.007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98280" y="4389120"/>
            <a:ext cx="23774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2D7A4F"/>
                </a:solidFill>
                <a:latin typeface="Consolas"/>
              </a:rPr>
              <a:t>rejects H₀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3000" y="4800600"/>
            <a:ext cx="32004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F1B16"/>
                </a:solidFill>
                <a:latin typeface="Consolas"/>
              </a:rPr>
              <a:t>Two-way (firm × month)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43400" y="4800600"/>
            <a:ext cx="1097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−0.082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40680" y="4800600"/>
            <a:ext cx="1097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0.034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37960" y="4800600"/>
            <a:ext cx="12801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A5247"/>
                </a:solidFill>
                <a:latin typeface="Consolas"/>
              </a:rPr>
              <a:t>−2.41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818120" y="4800600"/>
            <a:ext cx="12801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F1B16"/>
                </a:solidFill>
                <a:latin typeface="Consolas"/>
              </a:rPr>
              <a:t>0.018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98280" y="4800600"/>
            <a:ext cx="23774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2D7A4F"/>
                </a:solidFill>
                <a:latin typeface="Consolas"/>
              </a:rPr>
              <a:t>rejects H₀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3000" y="5212080"/>
            <a:ext cx="32004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E84A27"/>
                </a:solidFill>
                <a:latin typeface="Consolas"/>
              </a:rPr>
              <a:t>Driscoll-Kraay  ★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43400" y="5212080"/>
            <a:ext cx="1097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E84A27"/>
                </a:solidFill>
                <a:latin typeface="Consolas"/>
              </a:rPr>
              <a:t>−0.082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40680" y="5212080"/>
            <a:ext cx="10972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E84A27"/>
                </a:solidFill>
                <a:latin typeface="Consolas"/>
              </a:rPr>
              <a:t>0.030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37960" y="5212080"/>
            <a:ext cx="12801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E84A27"/>
                </a:solidFill>
                <a:latin typeface="Consolas"/>
              </a:rPr>
              <a:t>−2.71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818120" y="5212080"/>
            <a:ext cx="12801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E84A27"/>
                </a:solidFill>
                <a:latin typeface="Consolas"/>
              </a:rPr>
              <a:t>0.007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098280" y="5212080"/>
            <a:ext cx="23774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E84A27"/>
                </a:solidFill>
                <a:latin typeface="Consolas"/>
              </a:rPr>
              <a:t>rejects H₀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77240" y="5852160"/>
            <a:ext cx="106372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 i="1">
                <a:solidFill>
                  <a:srgbClr val="B83518"/>
                </a:solidFill>
                <a:latin typeface="Segoe UI"/>
              </a:rPr>
              <a:t>Driscoll-Kraay handles cross-sectional dependence and serial correlation simultaneously. Survival here ends the SE-robustness conversation.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77240" y="644652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8C8476"/>
                </a:solidFill>
                <a:latin typeface="Consolas"/>
              </a:rPr>
              <a:t>BearWatch BSI  ·  FIN 580  ·  Spring 2026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362895" y="644652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8C8476"/>
                </a:solidFill>
                <a:latin typeface="Consolas"/>
              </a:rPr>
              <a:t>22 / 29</a:t>
            </a:r>
          </a:p>
        </p:txBody>
      </p:sp>
      <p:pic>
        <p:nvPicPr>
          <p:cNvPr id="55" name="Picture 54" descr="Illinois-Logo-No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1575" y="6355080"/>
            <a:ext cx="54864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AF6EC"/>
              </a:gs>
              <a:gs pos="100000">
                <a:srgbClr val="E9DFC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6B4A7F"/>
                </a:solidFill>
                <a:latin typeface="Consolas"/>
              </a:rPr>
              <a:t>RESEARCH DIRECTION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94360"/>
            <a:ext cx="502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6B4A7F"/>
                </a:solidFill>
                <a:latin typeface="Consolas"/>
              </a:rP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621792"/>
            <a:ext cx="10042855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FUTURE RESEARCH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960120"/>
            <a:ext cx="10637215" cy="0"/>
          </a:xfrm>
          <a:prstGeom prst="line">
            <a:avLst/>
          </a:prstGeom>
          <a:ln w="17780">
            <a:solidFill>
              <a:srgbClr val="6B4A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1143000"/>
            <a:ext cx="10637215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1F1B16"/>
                </a:solidFill>
                <a:latin typeface="Cambria"/>
              </a:rPr>
              <a:t>Two open threads.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106372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5A5247"/>
                </a:solidFill>
                <a:latin typeface="Segoe UI"/>
              </a:rPr>
              <a:t>Tier 2a fixed-income extension  ·  cross-asset BNPL ↔ credit-card contagion.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606040"/>
            <a:ext cx="5135727" cy="274320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19050">
            <a:solidFill>
              <a:srgbClr val="E84A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51560" y="2743200"/>
            <a:ext cx="513572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E84A27"/>
                </a:solidFill>
                <a:latin typeface="Consolas"/>
              </a:rPr>
              <a:t>THREAD 1  ·  TIER 2a  ·  fixed-income LHS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154680"/>
            <a:ext cx="4587087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1" i="0">
                <a:solidFill>
                  <a:srgbClr val="1F1B16"/>
                </a:solidFill>
                <a:latin typeface="Consolas"/>
              </a:rPr>
              <a:t>Δ Spreadₜ:ₜ₊₃₀  =  α + β · BSIₜ₋₁ + γ' Mₜ + εₜ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59" y="3602736"/>
            <a:ext cx="4587087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1800"/>
              </a:spcBef>
            </a:pPr>
            <a:r>
              <a:rPr sz="1200" b="1" i="0" dirty="0">
                <a:solidFill>
                  <a:srgbClr val="5A5247"/>
                </a:solidFill>
                <a:latin typeface="Segoe UI"/>
              </a:rPr>
              <a:t>AFRMT junior I-spread, daily  ·  same six standard-error suite  ·  pre-registered</a:t>
            </a:r>
          </a:p>
          <a:p>
            <a:pPr algn="l">
              <a:lnSpc>
                <a:spcPct val="150000"/>
              </a:lnSpc>
              <a:spcBef>
                <a:spcPts val="800"/>
              </a:spcBef>
            </a:pPr>
            <a:r>
              <a:rPr sz="1200" b="0" i="0" dirty="0">
                <a:solidFill>
                  <a:srgbClr val="1F1B16"/>
                </a:solidFill>
                <a:latin typeface="Segoe UI"/>
              </a:rPr>
              <a:t>Addresses the equity calendar-time α null directly.</a:t>
            </a:r>
          </a:p>
          <a:p>
            <a:pPr algn="l">
              <a:lnSpc>
                <a:spcPct val="140000"/>
              </a:lnSpc>
              <a:spcBef>
                <a:spcPts val="1200"/>
              </a:spcBef>
            </a:pPr>
            <a:r>
              <a:rPr sz="1100" b="1" i="0" dirty="0">
                <a:solidFill>
                  <a:srgbClr val="B8841C"/>
                </a:solidFill>
                <a:latin typeface="Consolas"/>
              </a:rPr>
              <a:t>Data needed:  TRACE  ·  Markit CDS  ·  Intex trustee 10-D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78727" y="2606040"/>
            <a:ext cx="5135727" cy="274320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19050">
            <a:solidFill>
              <a:srgbClr val="6B4A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53047" y="2743200"/>
            <a:ext cx="513572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6B4A7F"/>
                </a:solidFill>
                <a:latin typeface="Consolas"/>
              </a:rPr>
              <a:t>THREAD 2  ·  CROSS-ASSET CONTAGION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53047" y="3154680"/>
            <a:ext cx="4587087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1F1B16"/>
                </a:solidFill>
                <a:latin typeface="Segoe UI"/>
              </a:rPr>
              <a:t>BNPL stress  ⇄  credit-card stress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3047" y="3474719"/>
            <a:ext cx="4587087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1400"/>
              </a:spcBef>
            </a:pPr>
            <a:r>
              <a:rPr sz="1200" b="1" i="0" dirty="0">
                <a:solidFill>
                  <a:srgbClr val="1F1B16"/>
                </a:solidFill>
                <a:latin typeface="Segoe UI"/>
              </a:rPr>
              <a:t>Does BNPL distress lead credit-card delinquencies — or vice versa?</a:t>
            </a:r>
          </a:p>
          <a:p>
            <a:pPr algn="l">
              <a:lnSpc>
                <a:spcPct val="150000"/>
              </a:lnSpc>
              <a:spcBef>
                <a:spcPts val="800"/>
              </a:spcBef>
            </a:pPr>
            <a:r>
              <a:rPr sz="1100" b="0" i="0" dirty="0">
                <a:solidFill>
                  <a:srgbClr val="5A5247"/>
                </a:solidFill>
                <a:latin typeface="Segoe UI"/>
              </a:rPr>
              <a:t>BNPL borrowers are 2.4× more likely to be subprime  →  same wallet, two products, one stress signal?</a:t>
            </a:r>
          </a:p>
          <a:p>
            <a:pPr algn="l">
              <a:lnSpc>
                <a:spcPct val="140000"/>
              </a:lnSpc>
              <a:spcBef>
                <a:spcPts val="1200"/>
              </a:spcBef>
            </a:pPr>
            <a:r>
              <a:rPr sz="1100" b="1" i="0" dirty="0">
                <a:solidFill>
                  <a:srgbClr val="6B4A7F"/>
                </a:solidFill>
                <a:latin typeface="Consolas"/>
              </a:rPr>
              <a:t>Methodology: same panel regression, LHS = card-monoline charge-offs; RHS = BNPL-firm BSI.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669280"/>
            <a:ext cx="106372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>
                <a:solidFill>
                  <a:srgbClr val="5A5247"/>
                </a:solidFill>
                <a:latin typeface="Segoe UI"/>
              </a:rPr>
              <a:t>Both threads use the same engine. Tier 2a is data-bound; cross-asset is methodology-design-bound.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44652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8C8476"/>
                </a:solidFill>
                <a:latin typeface="Consolas"/>
              </a:rPr>
              <a:t>BearWatch BSI  ·  FIN 580  ·  Spring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62895" y="644652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8C8476"/>
                </a:solidFill>
                <a:latin typeface="Consolas"/>
              </a:rPr>
              <a:t>23 / 29</a:t>
            </a:r>
          </a:p>
        </p:txBody>
      </p:sp>
      <p:pic>
        <p:nvPicPr>
          <p:cNvPr id="20" name="Picture 19" descr="Illinois-Logo-No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1575" y="6355080"/>
            <a:ext cx="54864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AF6EC"/>
              </a:gs>
              <a:gs pos="100000">
                <a:srgbClr val="E9DFC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6B4A7F"/>
                </a:solidFill>
                <a:latin typeface="Consolas"/>
              </a:rPr>
              <a:t>RESEARCH DIRECTION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94360"/>
            <a:ext cx="502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6B4A7F"/>
                </a:solidFill>
                <a:latin typeface="Consolas"/>
              </a:rPr>
              <a:t>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621792"/>
            <a:ext cx="10042855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CONTRIBUTION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960120"/>
            <a:ext cx="10637215" cy="0"/>
          </a:xfrm>
          <a:prstGeom prst="line">
            <a:avLst/>
          </a:prstGeom>
          <a:ln w="17780">
            <a:solidFill>
              <a:srgbClr val="6B4A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1143000"/>
            <a:ext cx="10637215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1F1B16"/>
                </a:solidFill>
                <a:latin typeface="Cambria"/>
              </a:rPr>
              <a:t>Three things this paper contributes.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106372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5A5247"/>
                </a:solidFill>
                <a:latin typeface="Segoe UI"/>
              </a:rPr>
              <a:t>What is established, what is new, what is deliberately not claimed.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697480"/>
            <a:ext cx="3423818" cy="320040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15240">
            <a:solidFill>
              <a:srgbClr val="2D7A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51560" y="2880360"/>
            <a:ext cx="342381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2D7A4F"/>
                </a:solidFill>
                <a:latin typeface="Consolas"/>
              </a:rPr>
              <a:t>ESTABLISHED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246120"/>
            <a:ext cx="2875178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1000"/>
              </a:spcBef>
            </a:pPr>
            <a:r>
              <a:rPr sz="1300" b="1" i="0">
                <a:solidFill>
                  <a:srgbClr val="1F1B16"/>
                </a:solidFill>
                <a:latin typeface="Segoe UI"/>
              </a:rPr>
              <a:t>Generalises to non-bank consumer credit</a:t>
            </a:r>
          </a:p>
          <a:p>
            <a:pPr algn="l">
              <a:lnSpc>
                <a:spcPct val="150000"/>
              </a:lnSpc>
              <a:spcBef>
                <a:spcPts val="400"/>
              </a:spcBef>
            </a:pPr>
            <a:r>
              <a:rPr sz="1100" b="0" i="0">
                <a:solidFill>
                  <a:srgbClr val="5A5247"/>
                </a:solidFill>
                <a:latin typeface="Segoe UI"/>
              </a:rPr>
              <a:t>BNPL · subprime auto · marketplace lending.</a:t>
            </a:r>
          </a:p>
          <a:p>
            <a:pPr algn="l">
              <a:lnSpc>
                <a:spcPct val="140000"/>
              </a:lnSpc>
              <a:spcBef>
                <a:spcPts val="1400"/>
              </a:spcBef>
            </a:pPr>
            <a:r>
              <a:rPr sz="1300" b="1" i="0">
                <a:solidFill>
                  <a:srgbClr val="1F1B16"/>
                </a:solidFill>
                <a:latin typeface="Segoe UI"/>
              </a:rPr>
              <a:t>Equity LHS panel result is robust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100" b="0" i="0">
                <a:solidFill>
                  <a:srgbClr val="5A5247"/>
                </a:solidFill>
                <a:latin typeface="Segoe UI"/>
              </a:rPr>
              <a:t>Driscoll-Kraay  p = 0.007.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3938" y="2697480"/>
            <a:ext cx="3423818" cy="320040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15240">
            <a:solidFill>
              <a:srgbClr val="E84A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58258" y="2880360"/>
            <a:ext cx="342381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E84A27"/>
                </a:solidFill>
                <a:latin typeface="Consolas"/>
              </a:rPr>
              <a:t>METHODOLOGICALLY NEW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8258" y="3246120"/>
            <a:ext cx="2875178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1000"/>
              </a:spcBef>
            </a:pPr>
            <a:r>
              <a:rPr sz="1300" b="1" i="0">
                <a:solidFill>
                  <a:srgbClr val="1F1B16"/>
                </a:solidFill>
                <a:latin typeface="Segoe UI"/>
              </a:rPr>
              <a:t>Multi-pillar pre-registered composite</a:t>
            </a:r>
          </a:p>
          <a:p>
            <a:pPr algn="l">
              <a:lnSpc>
                <a:spcPct val="150000"/>
              </a:lnSpc>
              <a:spcBef>
                <a:spcPts val="400"/>
              </a:spcBef>
            </a:pPr>
            <a:r>
              <a:rPr sz="1100" b="0" i="0">
                <a:solidFill>
                  <a:srgbClr val="5A5247"/>
                </a:solidFill>
                <a:latin typeface="Segoe UI"/>
              </a:rPr>
              <a:t>First fusion of CFPB with seven additional pillars under hash-locked weights.</a:t>
            </a:r>
          </a:p>
          <a:p>
            <a:pPr algn="l">
              <a:lnSpc>
                <a:spcPct val="140000"/>
              </a:lnSpc>
              <a:spcBef>
                <a:spcPts val="1400"/>
              </a:spcBef>
            </a:pPr>
            <a:r>
              <a:rPr sz="1300" b="1" i="0">
                <a:solidFill>
                  <a:srgbClr val="1F1B16"/>
                </a:solidFill>
                <a:latin typeface="Segoe UI"/>
              </a:rPr>
              <a:t>Six-estimator robustness suite</a:t>
            </a:r>
          </a:p>
          <a:p>
            <a:pPr algn="l">
              <a:lnSpc>
                <a:spcPct val="150000"/>
              </a:lnSpc>
              <a:spcBef>
                <a:spcPts val="400"/>
              </a:spcBef>
            </a:pPr>
            <a:r>
              <a:rPr sz="1100" b="0" i="0">
                <a:solidFill>
                  <a:srgbClr val="5A5247"/>
                </a:solidFill>
                <a:latin typeface="Segoe UI"/>
              </a:rPr>
              <a:t>More demanding than typical alt-data work.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07756" y="2697480"/>
            <a:ext cx="3423818" cy="320040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15240">
            <a:solidFill>
              <a:srgbClr val="B884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082076" y="2880360"/>
            <a:ext cx="342381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B8841C"/>
                </a:solidFill>
                <a:latin typeface="Consolas"/>
              </a:rPr>
              <a:t>NOT YET CLAIMED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82076" y="3246120"/>
            <a:ext cx="2875178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1000"/>
              </a:spcBef>
            </a:pPr>
            <a:r>
              <a:rPr sz="1300" b="1" i="0">
                <a:solidFill>
                  <a:srgbClr val="1F1B16"/>
                </a:solidFill>
                <a:latin typeface="Segoe UI"/>
              </a:rPr>
              <a:t>Equity calendar-time alpha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1100" b="0" i="0">
                <a:solidFill>
                  <a:srgbClr val="5A5247"/>
                </a:solidFill>
                <a:latin typeface="Segoe UI"/>
              </a:rPr>
              <a:t>Honest null  t = 0.08.</a:t>
            </a:r>
          </a:p>
          <a:p>
            <a:pPr algn="l">
              <a:lnSpc>
                <a:spcPct val="140000"/>
              </a:lnSpc>
              <a:spcBef>
                <a:spcPts val="1400"/>
              </a:spcBef>
            </a:pPr>
            <a:r>
              <a:rPr sz="1300" b="1" i="0">
                <a:solidFill>
                  <a:srgbClr val="1F1B16"/>
                </a:solidFill>
                <a:latin typeface="Segoe UI"/>
              </a:rPr>
              <a:t>Fixed-income alpha</a:t>
            </a:r>
          </a:p>
          <a:p>
            <a:pPr algn="l">
              <a:lnSpc>
                <a:spcPct val="150000"/>
              </a:lnSpc>
              <a:spcBef>
                <a:spcPts val="400"/>
              </a:spcBef>
            </a:pPr>
            <a:r>
              <a:rPr sz="1100" b="0" i="0">
                <a:solidFill>
                  <a:srgbClr val="5A5247"/>
                </a:solidFill>
                <a:latin typeface="Segoe UI"/>
              </a:rPr>
              <a:t>Tier 2a positioned, not yet executed.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126480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 i="1">
                <a:solidFill>
                  <a:srgbClr val="1F1B16"/>
                </a:solidFill>
                <a:latin typeface="Segoe UI"/>
              </a:rPr>
              <a:t>The discipline of not overclaiming is what makes the established claims defensible.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44652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8C8476"/>
                </a:solidFill>
                <a:latin typeface="Consolas"/>
              </a:rPr>
              <a:t>BearWatch BSI  ·  FIN 580  ·  Spring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62895" y="644652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8C8476"/>
                </a:solidFill>
                <a:latin typeface="Consolas"/>
              </a:rPr>
              <a:t>24 / 29</a:t>
            </a:r>
          </a:p>
        </p:txBody>
      </p:sp>
      <p:pic>
        <p:nvPicPr>
          <p:cNvPr id="21" name="Picture 20" descr="Illinois-Logo-No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1575" y="6355080"/>
            <a:ext cx="54864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AF6EC"/>
              </a:gs>
              <a:gs pos="100000">
                <a:srgbClr val="E9DFC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6B4A7F"/>
                </a:solidFill>
                <a:latin typeface="Consolas"/>
              </a:rPr>
              <a:t>RESEARCH DIRECTION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94360"/>
            <a:ext cx="502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6B4A7F"/>
                </a:solidFill>
                <a:latin typeface="Consolas"/>
              </a:rPr>
              <a:t>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621792"/>
            <a:ext cx="10042855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BRIDGE TO THE POD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960120"/>
            <a:ext cx="10637215" cy="0"/>
          </a:xfrm>
          <a:prstGeom prst="line">
            <a:avLst/>
          </a:prstGeom>
          <a:ln w="17780">
            <a:solidFill>
              <a:srgbClr val="6B4A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1143000"/>
            <a:ext cx="11255103" cy="5932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 dirty="0">
                <a:solidFill>
                  <a:srgbClr val="1F1B16"/>
                </a:solidFill>
                <a:latin typeface="Cambria"/>
              </a:rPr>
              <a:t>One known false positive.  One open opportunity.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106372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5A5247"/>
                </a:solidFill>
                <a:latin typeface="Segoe UI"/>
              </a:rPr>
              <a:t>Sezzle shows where the methodology mis-fires; junior-tranche TRS shows where it pays off.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606040"/>
            <a:ext cx="5135727" cy="329184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15240">
            <a:solidFill>
              <a:srgbClr val="B856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51560" y="2743200"/>
            <a:ext cx="513572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B85638"/>
                </a:solidFill>
                <a:latin typeface="Consolas"/>
              </a:rPr>
              <a:t>FALSE POSITIVE  ·  SEZL 2023-2025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108960"/>
            <a:ext cx="4587087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1200"/>
              </a:spcBef>
            </a:pPr>
            <a:r>
              <a:rPr sz="1300" b="1" i="0">
                <a:solidFill>
                  <a:srgbClr val="1F1B16"/>
                </a:solidFill>
                <a:latin typeface="Segoe UI"/>
              </a:rPr>
              <a:t>BSI fired repeatedly. Equity went +600%.</a:t>
            </a:r>
          </a:p>
          <a:p>
            <a:pPr algn="l">
              <a:lnSpc>
                <a:spcPct val="150000"/>
              </a:lnSpc>
              <a:spcBef>
                <a:spcPts val="1000"/>
              </a:spcBef>
            </a:pPr>
            <a:r>
              <a:rPr sz="1100" b="0" i="0">
                <a:solidFill>
                  <a:srgbClr val="5A5247"/>
                </a:solidFill>
                <a:latin typeface="Segoe UI"/>
              </a:rPr>
              <a:t>Why  ·  growth-stage issuer; complaint volume scaled with active-customer expansion.</a:t>
            </a:r>
          </a:p>
          <a:p>
            <a:pPr algn="l">
              <a:lnSpc>
                <a:spcPct val="150000"/>
              </a:lnSpc>
              <a:spcBef>
                <a:spcPts val="600"/>
              </a:spcBef>
            </a:pPr>
            <a:r>
              <a:rPr sz="1100" b="0" i="0">
                <a:solidFill>
                  <a:srgbClr val="5A5247"/>
                </a:solidFill>
                <a:latin typeface="Segoe UI"/>
              </a:rPr>
              <a:t>Numerator rose mechanically. Per-customer rate stayed stable.</a:t>
            </a:r>
          </a:p>
          <a:p>
            <a:pPr algn="l">
              <a:lnSpc>
                <a:spcPct val="140000"/>
              </a:lnSpc>
              <a:spcBef>
                <a:spcPts val="1200"/>
              </a:spcBef>
            </a:pPr>
            <a:r>
              <a:rPr sz="1100" b="0" i="1">
                <a:solidFill>
                  <a:srgbClr val="B8841C"/>
                </a:solidFill>
                <a:latin typeface="Consolas"/>
              </a:rPr>
              <a:t>Documented in §13.3. Denominator-normalisation refinement addresses it.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8727" y="2606040"/>
            <a:ext cx="5135727" cy="329184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15240">
            <a:solidFill>
              <a:srgbClr val="2D7A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53047" y="2743200"/>
            <a:ext cx="513572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2D7A4F"/>
                </a:solidFill>
                <a:latin typeface="Consolas"/>
              </a:rPr>
              <a:t>OPPORTUNITY  ·  JUNIOR TRANCHE TRS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108960"/>
            <a:ext cx="4587087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1200"/>
              </a:spcBef>
            </a:pPr>
            <a:r>
              <a:rPr sz="1300" b="1" i="0">
                <a:solidFill>
                  <a:srgbClr val="1F1B16"/>
                </a:solidFill>
                <a:latin typeface="Segoe UI"/>
              </a:rPr>
              <a:t>The instrument structure dodges the failure modes.</a:t>
            </a:r>
          </a:p>
          <a:p>
            <a:pPr algn="l">
              <a:lnSpc>
                <a:spcPct val="150000"/>
              </a:lnSpc>
              <a:spcBef>
                <a:spcPts val="1000"/>
              </a:spcBef>
            </a:pPr>
            <a:r>
              <a:rPr sz="1100" b="0" i="0">
                <a:solidFill>
                  <a:srgbClr val="5A5247"/>
                </a:solidFill>
                <a:latin typeface="Segoe UI"/>
              </a:rPr>
              <a:t>Tranche cashflow doesn't care about customer growth — filters the SEZL case.</a:t>
            </a:r>
          </a:p>
          <a:p>
            <a:pPr algn="l">
              <a:lnSpc>
                <a:spcPct val="150000"/>
              </a:lnSpc>
              <a:spcBef>
                <a:spcPts val="600"/>
              </a:spcBef>
            </a:pPr>
            <a:r>
              <a:rPr sz="1100" b="0" i="0">
                <a:solidFill>
                  <a:srgbClr val="5A5247"/>
                </a:solidFill>
                <a:latin typeface="Segoe UI"/>
              </a:rPr>
              <a:t>Spreads price default risk directly — addresses the equity-α null.</a:t>
            </a:r>
          </a:p>
          <a:p>
            <a:pPr algn="l">
              <a:lnSpc>
                <a:spcPct val="140000"/>
              </a:lnSpc>
              <a:spcBef>
                <a:spcPts val="1200"/>
              </a:spcBef>
            </a:pPr>
            <a:r>
              <a:rPr sz="1100" b="0" i="1">
                <a:solidFill>
                  <a:srgbClr val="2D7A4F"/>
                </a:solidFill>
                <a:latin typeface="Consolas"/>
              </a:rPr>
              <a:t>Methodology and trade vehicle are co-designed.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44652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8C8476"/>
                </a:solidFill>
                <a:latin typeface="Consolas"/>
              </a:rPr>
              <a:t>BearWatch BSI  ·  FIN 580  ·  Spring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62895" y="644652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8C8476"/>
                </a:solidFill>
                <a:latin typeface="Consolas"/>
              </a:rPr>
              <a:t>25 / 29</a:t>
            </a:r>
          </a:p>
        </p:txBody>
      </p:sp>
      <p:pic>
        <p:nvPicPr>
          <p:cNvPr id="17" name="Picture 16" descr="Illinois-Logo-No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1575" y="6355080"/>
            <a:ext cx="54864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AF6EC"/>
              </a:gs>
              <a:gs pos="100000">
                <a:srgbClr val="E9DFC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B83518"/>
                </a:solidFill>
                <a:latin typeface="Consolas"/>
              </a:rPr>
              <a:t>OPERATIONAL POD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94360"/>
            <a:ext cx="502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B83518"/>
                </a:solidFill>
                <a:latin typeface="Consolas"/>
              </a:rPr>
              <a:t>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621792"/>
            <a:ext cx="10042855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POD · CASE STUDY (CVNA)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960120"/>
            <a:ext cx="10637215" cy="0"/>
          </a:xfrm>
          <a:prstGeom prst="line">
            <a:avLst/>
          </a:prstGeom>
          <a:ln w="17780">
            <a:solidFill>
              <a:srgbClr val="B8351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cvna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097280"/>
            <a:ext cx="10637215" cy="5029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6263640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>
                <a:solidFill>
                  <a:srgbClr val="1F1B16"/>
                </a:solidFill>
                <a:latin typeface="Segoe UI"/>
              </a:rPr>
              <a:t>/case-study  ·  CVNA 2022 deep-dive  ·  +96.3% short, 540d hold, 5/5 gates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44652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8C8476"/>
                </a:solidFill>
                <a:latin typeface="Consolas"/>
              </a:rPr>
              <a:t>BearWatch BSI  ·  FIN 580  ·  Spring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62895" y="644652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8C8476"/>
                </a:solidFill>
                <a:latin typeface="Consolas"/>
              </a:rPr>
              <a:t>26 / 29</a:t>
            </a:r>
          </a:p>
        </p:txBody>
      </p:sp>
      <p:pic>
        <p:nvPicPr>
          <p:cNvPr id="11" name="Picture 10" descr="Illinois-Logo-No-backgrou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31575" y="6355080"/>
            <a:ext cx="54864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AF6EC"/>
              </a:gs>
              <a:gs pos="100000">
                <a:srgbClr val="E9DFC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347472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>
                <a:solidFill>
                  <a:srgbClr val="B83518"/>
                </a:solidFill>
                <a:latin typeface="Consolas"/>
              </a:rPr>
              <a:t>OPERATIONAL POD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94360"/>
            <a:ext cx="502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B83518"/>
                </a:solidFill>
                <a:latin typeface="Consolas"/>
              </a:rPr>
              <a:t>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621792"/>
            <a:ext cx="10042855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1F1B16"/>
                </a:solidFill>
                <a:latin typeface="Consolas"/>
              </a:rPr>
              <a:t>POD · CASE STUDY (CVNA · TRADE MATH + PLAYBOOK)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960120"/>
            <a:ext cx="10637215" cy="0"/>
          </a:xfrm>
          <a:prstGeom prst="line">
            <a:avLst/>
          </a:prstGeom>
          <a:ln w="17780">
            <a:solidFill>
              <a:srgbClr val="B8351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cvna_m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620447"/>
            <a:ext cx="5204307" cy="2440067"/>
          </a:xfrm>
          <a:prstGeom prst="rect">
            <a:avLst/>
          </a:prstGeom>
        </p:spPr>
      </p:pic>
      <p:pic>
        <p:nvPicPr>
          <p:cNvPr id="8" name="Picture 7" descr="cvna_playboo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0147" y="3053029"/>
            <a:ext cx="5204307" cy="157490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6400800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5A5247"/>
                </a:solidFill>
                <a:latin typeface="Segoe UI"/>
              </a:rPr>
              <a:t>Trade math (left)  ·  Three-leg playbook (right)  ·  short equity + short credit + long-pod recovery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4652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8C8476"/>
                </a:solidFill>
                <a:latin typeface="Consolas"/>
              </a:rPr>
              <a:t>BearWatch BSI  ·  FIN 580  ·  Spring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62895" y="644652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8C8476"/>
                </a:solidFill>
                <a:latin typeface="Consolas"/>
              </a:rPr>
              <a:t>27 / 29</a:t>
            </a:r>
          </a:p>
        </p:txBody>
      </p:sp>
      <p:pic>
        <p:nvPicPr>
          <p:cNvPr id="12" name="Picture 11" descr="Illinois-Logo-No-backgrou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31575" y="6355080"/>
            <a:ext cx="54864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AF6EC"/>
              </a:gs>
              <a:gs pos="100000">
                <a:srgbClr val="E9DFC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llinois-Logo-No-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84048"/>
            <a:ext cx="754380" cy="502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057400" y="365760"/>
            <a:ext cx="68580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4000" b="1" i="0">
                <a:solidFill>
                  <a:srgbClr val="1F1B16"/>
                </a:solidFill>
                <a:latin typeface="Cambria"/>
              </a:rPr>
              <a:t>Thank you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188720"/>
            <a:ext cx="10637215" cy="36576"/>
          </a:xfrm>
          <a:prstGeom prst="rect">
            <a:avLst/>
          </a:prstGeom>
          <a:solidFill>
            <a:srgbClr val="E84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00200"/>
            <a:ext cx="5852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E84A27"/>
                </a:solidFill>
                <a:latin typeface="Consolas"/>
              </a:rPr>
              <a:t>ACKNOWLEDGEMENTS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11680"/>
            <a:ext cx="5852160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sz="1500" b="1">
                <a:solidFill>
                  <a:srgbClr val="1F1B16"/>
                </a:solidFill>
                <a:latin typeface="Segoe UI"/>
              </a:rPr>
              <a:t>Professor Tony Zhang</a:t>
            </a:r>
            <a:endParaRPr sz="1500" b="1" i="0" dirty="0">
              <a:solidFill>
                <a:srgbClr val="1F1B16"/>
              </a:solidFill>
              <a:latin typeface="Segoe U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77240" y="2286000"/>
            <a:ext cx="585216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sz="1000" i="1" dirty="0">
                <a:solidFill>
                  <a:srgbClr val="5A5247"/>
                </a:solidFill>
                <a:latin typeface="Segoe UI"/>
              </a:rPr>
              <a:t>FIN 580  ·  host of the </a:t>
            </a:r>
            <a:r>
              <a:rPr lang="en-US" sz="1000" i="1" dirty="0" err="1">
                <a:solidFill>
                  <a:srgbClr val="5A5247"/>
                </a:solidFill>
                <a:latin typeface="Segoe UI"/>
              </a:rPr>
              <a:t>Quantamental</a:t>
            </a:r>
            <a:r>
              <a:rPr lang="en-US" sz="1000" i="1" dirty="0">
                <a:solidFill>
                  <a:srgbClr val="5A5247"/>
                </a:solidFill>
                <a:latin typeface="Segoe UI"/>
              </a:rPr>
              <a:t> Challenge</a:t>
            </a:r>
          </a:p>
          <a:p>
            <a:pPr algn="l"/>
            <a:endParaRPr sz="1000" b="0" i="1" dirty="0">
              <a:solidFill>
                <a:srgbClr val="5A5247"/>
              </a:solidFill>
              <a:latin typeface="Segoe U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777240" y="2578608"/>
            <a:ext cx="5852160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sz="1500" b="1" dirty="0">
                <a:solidFill>
                  <a:srgbClr val="1F1B16"/>
                </a:solidFill>
                <a:latin typeface="Segoe UI"/>
              </a:rPr>
              <a:t>Professor Martin Widdicks</a:t>
            </a:r>
          </a:p>
          <a:p>
            <a:pPr algn="l"/>
            <a:endParaRPr sz="1500" b="1" i="0" dirty="0">
              <a:solidFill>
                <a:srgbClr val="1F1B16"/>
              </a:solidFill>
              <a:latin typeface="Segoe U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77240" y="2852928"/>
            <a:ext cx="585216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sz="1000" i="1" dirty="0">
                <a:solidFill>
                  <a:srgbClr val="5A5247"/>
                </a:solidFill>
                <a:latin typeface="Segoe UI"/>
              </a:rPr>
              <a:t>Thesis advisor  ·  guidance throughout the project</a:t>
            </a:r>
            <a:endParaRPr sz="1000" b="0" i="1" dirty="0">
              <a:solidFill>
                <a:srgbClr val="5A5247"/>
              </a:solidFill>
              <a:latin typeface="Segoe U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777240" y="3145536"/>
            <a:ext cx="58521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1F1B16"/>
                </a:solidFill>
                <a:latin typeface="Segoe UI"/>
              </a:rPr>
              <a:t>Professor Neil Pearson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419856"/>
            <a:ext cx="58521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1">
                <a:solidFill>
                  <a:srgbClr val="5A5247"/>
                </a:solidFill>
                <a:latin typeface="Segoe UI"/>
              </a:rPr>
              <a:t>Gies Finance  ·  faculty 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712464"/>
            <a:ext cx="58521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1F1B16"/>
                </a:solidFill>
                <a:latin typeface="Segoe UI"/>
              </a:rPr>
              <a:t>Claude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986784"/>
            <a:ext cx="58521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1">
                <a:solidFill>
                  <a:srgbClr val="5A5247"/>
                </a:solidFill>
                <a:latin typeface="Segoe UI"/>
              </a:rPr>
              <a:t>code &amp; writing assistant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22615" y="1554480"/>
            <a:ext cx="2926080" cy="3657600"/>
          </a:xfrm>
          <a:prstGeom prst="roundRect">
            <a:avLst>
              <a:gd name="adj" fmla="val 3000"/>
            </a:avLst>
          </a:prstGeom>
          <a:solidFill>
            <a:srgbClr val="F2EBD9"/>
          </a:solidFill>
          <a:ln w="19050">
            <a:solidFill>
              <a:srgbClr val="E84A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github_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5495" y="1737360"/>
            <a:ext cx="2560320" cy="25603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122615" y="4370832"/>
            <a:ext cx="29260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>
                <a:solidFill>
                  <a:srgbClr val="B83518"/>
                </a:solidFill>
                <a:latin typeface="Consolas"/>
              </a:rPr>
              <a:t>SCAN FOR SOURCE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1175" y="4645152"/>
            <a:ext cx="31089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 i="1">
                <a:solidFill>
                  <a:srgbClr val="5A5247"/>
                </a:solidFill>
                <a:latin typeface="Consolas"/>
              </a:rPr>
              <a:t>github.com/vermasidd1502/bnpl-trap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39735" y="4882896"/>
            <a:ext cx="32918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1">
                <a:solidFill>
                  <a:srgbClr val="8C8476"/>
                </a:solidFill>
                <a:latin typeface="Segoe UI"/>
              </a:rPr>
              <a:t>paper  ·  deck  ·  pod  ·  data  ·  ingest scripts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532120"/>
            <a:ext cx="1063721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1" i="0">
                <a:solidFill>
                  <a:srgbClr val="B83518"/>
                </a:solidFill>
                <a:latin typeface="Cambria"/>
              </a:rPr>
              <a:t>Q &amp; 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035040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>
                <a:solidFill>
                  <a:srgbClr val="5A5247"/>
                </a:solidFill>
                <a:latin typeface="Segoe UI"/>
              </a:rPr>
              <a:t>questions, comments, criticisms welcome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6537960"/>
            <a:ext cx="10637215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8C8476"/>
                </a:solidFill>
                <a:latin typeface="Consolas"/>
              </a:rPr>
              <a:t>Siddharth Verma  ·  FIN 580  ·  University of Illinois Urbana-Champaign  ·  Spring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239</TotalTime>
  <Words>3658</Words>
  <Application>Microsoft Office PowerPoint</Application>
  <PresentationFormat>Widescreen</PresentationFormat>
  <Paragraphs>742</Paragraphs>
  <Slides>28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4" baseType="lpstr">
      <vt:lpstr>Arial</vt:lpstr>
      <vt:lpstr>Calibri</vt:lpstr>
      <vt:lpstr>Cambria</vt:lpstr>
      <vt:lpstr>Consolas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Verma, Siddharth</cp:lastModifiedBy>
  <cp:revision>2</cp:revision>
  <dcterms:created xsi:type="dcterms:W3CDTF">2013-01-27T09:14:16Z</dcterms:created>
  <dcterms:modified xsi:type="dcterms:W3CDTF">2026-05-08T17:03:46Z</dcterms:modified>
  <cp:category/>
</cp:coreProperties>
</file>