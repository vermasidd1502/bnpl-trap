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7" y="640080"/>
            <a:ext cx="1440180" cy="960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1965960"/>
            <a:ext cx="10637215" cy="3657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1F1B16"/>
                </a:solidFill>
                <a:latin typeface="Cambria"/>
              </a:rPr>
              <a:t>Alternative-Data Leading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B83518"/>
                </a:solidFill>
                <a:latin typeface="Cambria"/>
              </a:rPr>
              <a:t>of Consumer-Credit Distress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84A27"/>
                </a:solidFill>
                <a:latin typeface="Consolas"/>
              </a:rPr>
              <a:t>WORKING PAPER  ·  EMPIRICAL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1F1B16"/>
                </a:solidFill>
                <a:latin typeface="Segoe UI"/>
              </a:rPr>
              <a:t>An empirical investigation of the Behavioural Stress Index across 27 consumer-credit issuers, 2019–2026.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4754880"/>
            <a:ext cx="9722815" cy="91440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864608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Consolas"/>
              </a:rPr>
              <a:t>UNSECURED NON-BANK CONSUMER CREDIT  ·  installment lending / Buy Now, Pay Later (BNPL)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2578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Segoe UI"/>
              </a:rPr>
              <a:t>BNPL  ·  Subprime Auto  ·  Marketplace Lending  ·  Consumer Finance  ·  Card Monolines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5669280"/>
            <a:ext cx="10637215" cy="0"/>
          </a:xfrm>
          <a:prstGeom prst="line">
            <a:avLst/>
          </a:prstGeom>
          <a:ln w="1524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58978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1F1B16"/>
                </a:solidFill>
                <a:latin typeface="Segoe UI"/>
              </a:rPr>
              <a:t>Siddharth Verma</a:t>
            </a:r>
          </a:p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5A5247"/>
                </a:solidFill>
                <a:latin typeface="Consolas"/>
              </a:rPr>
              <a:t>FIN 580  ·  University of Illinois Urbana-Champaign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RESEARCH MOTIVATION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An untested application of an established literature.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CFPB-as-distress-predictor exists for banks — not for unsecured non-bank consumer credit (installment lending / BNPL).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2.4×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more likely subprime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TransUnion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2263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10.5%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BNPL late-payment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CFPB 2021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7287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34→39→42%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industry late-pay traj.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2023 → 2024 → 2025e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311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2311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Nov 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751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Fed flagged 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3751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Financial Stability 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5135727" cy="2194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995928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ESTABLISHED  ·  CFPB → bank distress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3434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Begley &amp; Purnanandam (2021, RFS)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quality predicts regulatory action.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Dou &amp; Wang (2023)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volume predicts bank loan losses 2-4 q ahead.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Hayes, Jiang &amp; Pan (2021)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metadata predicts supervisory outcomes.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8727" y="3886200"/>
            <a:ext cx="5135727" cy="2194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3047" y="3995928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OPEN QUESTION  ·  this paper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047" y="43434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500" b="1" i="0">
                <a:solidFill>
                  <a:srgbClr val="1F1B16"/>
                </a:solidFill>
                <a:latin typeface="Segoe UI"/>
              </a:rPr>
              <a:t>Does the result generalise to non-bank consumer credit?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Methodological gap — no prior multi-pillar fusion.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Published CFPB work uses one alt-data source at a time. We fuse CFPB with seven additional pillars under pre-registered weights.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02 / 29</a:t>
            </a:r>
          </a:p>
        </p:txBody>
      </p:sp>
      <p:pic>
        <p:nvPicPr>
          <p:cNvPr id="33" name="Picture 3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SECTOR GROWTH · BNPL TRANSACTION VOLUME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The non-bank consumer-credit sector exploded post-COVID.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Buy Now, Pay Later (BNPL) transaction volume — US, $ billions, 2018 → 2025e.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0" y="5806440.0"/>
            <a:ext cx="9585655" cy="0.0"/>
          </a:xfrm>
          <a:prstGeom prst="line">
            <a:avLst/>
          </a:prstGeom>
          <a:ln w="6350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5687568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A5247"/>
                </a:solidFill>
                <a:latin typeface="Consolas"/>
              </a:rPr>
              <a:t>$0B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80160" y="4955136.604600219"/>
            <a:ext cx="9585655" cy="0.0"/>
          </a:xfrm>
          <a:prstGeom prst="line">
            <a:avLst/>
          </a:prstGeom>
          <a:ln w="6350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83626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A5247"/>
                </a:solidFill>
                <a:latin typeface="Consolas"/>
              </a:rPr>
              <a:t>$100B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0" y="4103833.209200438"/>
            <a:ext cx="9585655" cy="0.0"/>
          </a:xfrm>
          <a:prstGeom prst="line">
            <a:avLst/>
          </a:prstGeom>
          <a:ln w="6350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984961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A5247"/>
                </a:solidFill>
                <a:latin typeface="Consolas"/>
              </a:rPr>
              <a:t>$200B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80160" y="3252529.813800657"/>
            <a:ext cx="9585655" cy="0.0"/>
          </a:xfrm>
          <a:prstGeom prst="line">
            <a:avLst/>
          </a:prstGeom>
          <a:ln w="6350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3133657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5A5247"/>
                </a:solidFill>
                <a:latin typeface="Consolas"/>
              </a:rPr>
              <a:t>$300B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25880" y="5806440"/>
            <a:ext cx="953993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325880" y="5551048"/>
            <a:ext cx="1048473" cy="255391"/>
          </a:xfrm>
          <a:prstGeom prst="roundRect">
            <a:avLst>
              <a:gd name="adj" fmla="val 10000"/>
            </a:avLst>
          </a:prstGeom>
          <a:solidFill>
            <a:srgbClr val="4A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258440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4A6E8F"/>
                </a:solidFill>
                <a:latin typeface="Consolas"/>
              </a:rPr>
              <a:t>$30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5879592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2018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38945" y="5448892"/>
            <a:ext cx="1048473" cy="357547"/>
          </a:xfrm>
          <a:prstGeom prst="roundRect">
            <a:avLst>
              <a:gd name="adj" fmla="val 10000"/>
            </a:avLst>
          </a:prstGeom>
          <a:solidFill>
            <a:srgbClr val="4A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38945" y="5156284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4A6E8F"/>
                </a:solidFill>
                <a:latin typeface="Consolas"/>
              </a:rPr>
              <a:t>$42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38945" y="5879592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2019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011" y="5338223"/>
            <a:ext cx="1048473" cy="468216"/>
          </a:xfrm>
          <a:prstGeom prst="roundRect">
            <a:avLst>
              <a:gd name="adj" fmla="val 10000"/>
            </a:avLst>
          </a:prstGeom>
          <a:solidFill>
            <a:srgbClr val="4A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52011" y="5045615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4A6E8F"/>
                </a:solidFill>
                <a:latin typeface="Consolas"/>
              </a:rPr>
              <a:t>$55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52011" y="5879592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65077" y="4980675"/>
            <a:ext cx="1048473" cy="825764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5077" y="4688067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65077" y="5879592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8143" y="4614615"/>
            <a:ext cx="1048473" cy="1191824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8143" y="4322007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5879592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91209" y="4146398"/>
            <a:ext cx="1048473" cy="1660041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91209" y="3853790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$195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91209" y="5879592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04275" y="3635616"/>
            <a:ext cx="1048473" cy="2170823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04275" y="3343008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$255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04275" y="5879592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17341" y="2980112"/>
            <a:ext cx="1048473" cy="2826327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17341" y="2687504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$332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17341" y="5879592"/>
            <a:ext cx="10484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2025e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82781.625" y="2788920"/>
            <a:ext cx="0.0" cy="2971800"/>
          </a:xfrm>
          <a:prstGeom prst="line">
            <a:avLst/>
          </a:prstGeom>
          <a:ln w="19050">
            <a:solidFill>
              <a:srgbClr val="B83518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511181" y="25603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83518"/>
                </a:solidFill>
                <a:latin typeface="Consolas"/>
              </a:rPr>
              <a:t>COVID inflection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88375" y="2788920"/>
            <a:ext cx="2377440" cy="11887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88375" y="295351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B83518"/>
                </a:solidFill>
                <a:latin typeface="Cambria"/>
              </a:rPr>
              <a:t>+1,007%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8375" y="34472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Consolas"/>
              </a:rPr>
              <a:t>growth 2018 → 2025e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88375" y="36850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$30B → $332B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C8476"/>
                </a:solidFill>
                <a:latin typeface="Consolas"/>
              </a:rPr>
              <a:t>Sources: Consumer Financial Protection Bureau (CFPB) BNPL market report (2022), TransUnion (2024), Worldpay payments reports (2018–2024). 2025 figure is industry estimate.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Pre-COVID (slate) → post-COVID (orange) — the inflection that motivates the paper.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03 / 29</a:t>
            </a:r>
          </a:p>
        </p:txBody>
      </p:sp>
      <p:pic>
        <p:nvPicPr>
          <p:cNvPr id="52" name="Picture 51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WHAT IS BSI?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Behavioural Stress Index  =  one number per firm per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An 8-pillar composite z-score that detects spikes in customer-distress volume.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840480" cy="31089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INPUT  ·  8 PUBLIC ALT-DATA PILLARS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54680"/>
            <a:ext cx="33832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 i="0">
                <a:solidFill>
                  <a:srgbClr val="1F1B16"/>
                </a:solidFill>
                <a:latin typeface="Consolas"/>
              </a:rPr>
              <a:t>·  Consumer Financial Protection Bureau (CFPB) complaints   (weight 0.45 ★)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App-store reviews   (0.15)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Reddit text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Bluesky text   (0.05)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Google Trends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ABS pool metrics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8-K filings   (0.05)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Merrill Option Volatility Estimate index (MOVE) / FRED macro   (gate G3)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100" b="1" i="0">
                <a:solidFill>
                  <a:srgbClr val="B83518"/>
                </a:solidFill>
                <a:latin typeface="Segoe UI"/>
              </a:rPr>
              <a:t>7 of 8 are volume-derived series.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06908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ambri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697480"/>
            <a:ext cx="3291840" cy="31089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8346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ENGINE  ·  EWMA z-score 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566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F1B16"/>
                </a:solidFill>
                <a:latin typeface="Consolas"/>
              </a:rPr>
              <a:t>BSIₜ  =  Σᵢ  γᵢ · wᵢ · z^EWMA(Xᵢ,ₜ)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25196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1B16"/>
                </a:solidFill>
                <a:latin typeface="Segoe UI"/>
              </a:rPr>
              <a:t>z-score each pillar against</a:t>
            </a:r>
          </a:p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1B16"/>
                </a:solidFill>
                <a:latin typeface="Segoe UI"/>
              </a:rPr>
              <a:t>its own running history</a:t>
            </a:r>
          </a:p>
          <a:p>
            <a:pPr algn="ctr">
              <a:lnSpc>
                <a:spcPct val="140000"/>
              </a:lnSpc>
              <a:spcBef>
                <a:spcPts val="400"/>
              </a:spcBef>
            </a:pPr>
            <a:r>
              <a:rPr sz="1100" b="1" i="0">
                <a:solidFill>
                  <a:srgbClr val="B83518"/>
                </a:solidFill>
                <a:latin typeface="Consolas"/>
              </a:rPr>
              <a:t>(EWMA half-life 250d)</a:t>
            </a:r>
          </a:p>
          <a:p>
            <a:pPr algn="ctr">
              <a:lnSpc>
                <a:spcPct val="140000"/>
              </a:lnSpc>
              <a:spcBef>
                <a:spcPts val="14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Coverage gates zero out missing.</a:t>
            </a:r>
          </a:p>
          <a:p>
            <a:pPr algn="ctr">
              <a:lnSpc>
                <a:spcPct val="140000"/>
              </a:lnSpc>
              <a:spcBef>
                <a:spcPts val="4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Pre-registered weights · hash-locked.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06908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ambri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2697480"/>
            <a:ext cx="3047695" cy="31089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834640"/>
            <a:ext cx="3047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OUTPUT  ·  one z-score per firm per 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3319272"/>
            <a:ext cx="45720" cy="256032"/>
          </a:xfrm>
          <a:prstGeom prst="rect">
            <a:avLst/>
          </a:prstGeom>
          <a:solidFill>
            <a:srgbClr val="2D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32461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z ≥ 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24612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GUARDIAN fires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3685032"/>
            <a:ext cx="45720" cy="256032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2520" y="36118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z ≥ 2.0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361188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SCOUT fires 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4050792"/>
            <a:ext cx="45720" cy="256032"/>
          </a:xfrm>
          <a:prstGeom prst="rect">
            <a:avLst/>
          </a:prstGeom>
          <a:solidFill>
            <a:srgbClr val="B88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776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841C"/>
                </a:solidFill>
                <a:latin typeface="Consolas"/>
              </a:rPr>
              <a:t>z ≥ 1.5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97764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WORRIED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4416552"/>
            <a:ext cx="45720" cy="256032"/>
          </a:xfrm>
          <a:prstGeom prst="rect">
            <a:avLst/>
          </a:prstGeom>
          <a:solidFill>
            <a:srgbClr val="5A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43434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Consolas"/>
              </a:rPr>
              <a:t>|z| &lt; 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434340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SLEEPING — benign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0" y="4782312"/>
            <a:ext cx="45720" cy="256032"/>
          </a:xfrm>
          <a:prstGeom prst="rect">
            <a:avLst/>
          </a:prstGeom>
          <a:solidFill>
            <a:srgbClr val="8C8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32520" y="47091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z negative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70916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below baseline — quiet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5394960"/>
            <a:ext cx="25904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3518"/>
                </a:solidFill>
                <a:latin typeface="Consolas"/>
              </a:rPr>
              <a:t>Cross-firm comparable.  Real-time.  Pre-registered.  Replayable byte-for-byte.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897880"/>
            <a:ext cx="10637215" cy="5029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989320"/>
            <a:ext cx="9905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Segoe UI"/>
              </a:rPr>
              <a:t>BSI is a leading indicator on changes in default probability — not a default model itself.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04 / 29</a:t>
            </a:r>
          </a:p>
        </p:txBody>
      </p:sp>
      <p:pic>
        <p:nvPicPr>
          <p:cNvPr id="40" name="Picture 3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BSI ARCHITECTURE · 2D NODE DIAGRAM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Inputs → engine → gates → trade verdict.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Same shape as a feed-forward network — every connection is deterministic and pre-registered.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4A6E8F"/>
                </a:solidFill>
                <a:latin typeface="Consolas"/>
              </a:rPr>
              <a:t>INPUT  ·  8 PILLARS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23774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84A27"/>
                </a:solidFill>
                <a:latin typeface="Consolas"/>
              </a:rPr>
              <a:t>ENGINE  ·  exponentially-weighted moving average (EWMA) +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GATES  ·  G1 → G5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VERDICT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260604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642616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CFPB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64261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E84A27"/>
                </a:solidFill>
                <a:latin typeface="Consolas"/>
              </a:rPr>
              <a:t>0.45 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076302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12878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App-store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11287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3546565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583141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Reddit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58314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4016828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053404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Bluesky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05340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0.05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487091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523667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Trends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523667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1560" y="495735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99393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ABS pool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499393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1560" y="5427617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4193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8-K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5464193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1560" y="589788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5934456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MOVE / FRED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59344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4A7F"/>
                </a:solidFill>
                <a:latin typeface="Consolas"/>
              </a:rPr>
              <a:t>G3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77640" y="3154680"/>
            <a:ext cx="2468880" cy="2377440"/>
          </a:xfrm>
          <a:prstGeom prst="roundRect">
            <a:avLst>
              <a:gd name="adj" fmla="val 8000"/>
            </a:avLst>
          </a:prstGeom>
          <a:solidFill>
            <a:srgbClr val="F4C0A8"/>
          </a:solidFill>
          <a:ln w="254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77640" y="3337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3518"/>
                </a:solidFill>
                <a:latin typeface="Cambria"/>
              </a:rPr>
              <a:t>BSI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7640" y="37490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3518"/>
                </a:solidFill>
                <a:latin typeface="Consolas"/>
              </a:rPr>
              <a:t>weighted EWMA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40" y="39959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3518"/>
                </a:solidFill>
                <a:latin typeface="Consolas"/>
              </a:rPr>
              <a:t>z-score fusion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640" y="4480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BSIₜ  =  Σᵢ γᵢ wᵢ z(Xᵢ,ₜ)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h.l. = 250 d   ·   Σwᵢ =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40" y="51480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B83518"/>
                </a:solidFill>
                <a:latin typeface="Consolas"/>
              </a:rPr>
              <a:t>→  one z per firm/day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12280" y="260604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22008" y="266090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G1  BSI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67004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E84A27"/>
                </a:solidFill>
                <a:latin typeface="Consolas"/>
              </a:rPr>
              <a:t>z ≥ 2.0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2280" y="342900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22008" y="348386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G2  Subprime-Credit Profile (SCP)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349300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4A6E8F"/>
                </a:solidFill>
                <a:latin typeface="Consolas"/>
              </a:rPr>
              <a:t>phase 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12280" y="425196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22008" y="430682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G3  MOVE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31596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B4A7F"/>
                </a:solidFill>
                <a:latin typeface="Consolas"/>
              </a:rPr>
              <a:t>z ≤ 1.0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12280" y="507492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22008" y="512978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G4  Consumer-Credit Divergence (CCD)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513892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8841C"/>
                </a:solidFill>
                <a:latin typeface="Consolas"/>
              </a:rPr>
              <a:t>elevated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12280" y="589788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22008" y="595274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G5  Fundamentals Distress Score (FDS)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0" y="596188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2D7A4F"/>
                </a:solidFill>
                <a:latin typeface="Consolas"/>
              </a:rPr>
              <a:t>EDGAR XBRL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46920" y="3154680"/>
            <a:ext cx="1920240" cy="2377440"/>
          </a:xfrm>
          <a:prstGeom prst="roundRect">
            <a:avLst>
              <a:gd name="adj" fmla="val 8000"/>
            </a:avLst>
          </a:prstGeom>
          <a:solidFill>
            <a:srgbClr val="F2EBD9"/>
          </a:solidFill>
          <a:ln w="2540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46920" y="3383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2D7A4F"/>
                </a:solidFill>
                <a:latin typeface="Cambria"/>
              </a:rPr>
              <a:t>TRADE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6920" y="37947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2D7A4F"/>
                </a:solidFill>
                <a:latin typeface="Cambria"/>
              </a:rPr>
              <a:t>VERDICT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6920" y="43434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APPROVED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6920" y="4636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SCALED 40%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46920" y="492861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5638"/>
                </a:solidFill>
                <a:latin typeface="Consolas"/>
              </a:rPr>
              <a:t>BLOCKED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2752344.0"/>
            <a:ext cx="1005840" cy="1591056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71800" y="3222606.8571428573"/>
            <a:ext cx="1005840" cy="1120793.1428571427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71800" y="3692869.7142857146"/>
            <a:ext cx="1005840" cy="650530.285714285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71800" y="4163132.5714285714"/>
            <a:ext cx="1005840" cy="180267.4285714286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971800" y="4343400.0"/>
            <a:ext cx="1005840" cy="289995.4285714291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71800" y="4343400.0"/>
            <a:ext cx="1005840" cy="760258.285714285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71800" y="4343400.0"/>
            <a:ext cx="1005840" cy="1230521.1428571427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71800" y="4343400.0"/>
            <a:ext cx="1005840" cy="1700784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446520" y="2811780.0"/>
            <a:ext cx="365760" cy="15316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6446520" y="3634740.0"/>
            <a:ext cx="365760" cy="7086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46520" y="4343400.0"/>
            <a:ext cx="365760" cy="11430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446520" y="4343400.0"/>
            <a:ext cx="365760" cy="9372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446520" y="4343400.0"/>
            <a:ext cx="365760" cy="17602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732520" y="2811780.0"/>
            <a:ext cx="914400" cy="15316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732520" y="3634740.0"/>
            <a:ext cx="914400" cy="7086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8732520" y="4343400.0"/>
            <a:ext cx="914400" cy="11430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8732520" y="4343400.0"/>
            <a:ext cx="914400" cy="9372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8732520" y="4343400.0"/>
            <a:ext cx="914400" cy="17602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Segoe UI"/>
              </a:rPr>
              <a:t>All connections deterministic.  All weights pre-registered before any out-of-sample test.  Nothing is learned from data.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05 / 29</a:t>
            </a:r>
          </a:p>
        </p:txBody>
      </p:sp>
      <p:pic>
        <p:nvPicPr>
          <p:cNvPr id="86" name="Picture 8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Soft-signal alt-data leads hard-signal credit deterioration.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By 30 to 90 days, in consumer-credit-exposed firms.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6368302" cy="24688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254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8346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4A27"/>
                </a:solidFill>
                <a:latin typeface="Consolas"/>
              </a:rPr>
              <a:t>H₁  ·  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563678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700" b="1" i="0">
                <a:solidFill>
                  <a:srgbClr val="1F1B16"/>
                </a:solidFill>
                <a:latin typeface="Segoe UI"/>
              </a:rPr>
              <a:t>BSI Granger-causes forward 30-day equity abnormal returns,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700" b="1" i="0">
                <a:solidFill>
                  <a:srgbClr val="1F1B16"/>
                </a:solidFill>
                <a:latin typeface="Segoe UI"/>
              </a:rPr>
              <a:t>after controlling for firm fixed effects and the Federal Reserve Economic Data (FRED) macro panel.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1">
                <a:solidFill>
                  <a:srgbClr val="B83518"/>
                </a:solidFill>
                <a:latin typeface="Consolas"/>
              </a:rPr>
              <a:t>Reject H₀ at p &lt; 0.05  →  signal carries information.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11302" y="2697480"/>
            <a:ext cx="3903152" cy="24688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B85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85622" y="2834640"/>
            <a:ext cx="3903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5638"/>
                </a:solidFill>
                <a:latin typeface="Consolas"/>
              </a:rPr>
              <a:t>H₀  ·  NULL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5622" y="3246120"/>
            <a:ext cx="335451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400" b="1" i="0">
                <a:solidFill>
                  <a:srgbClr val="1F1B16"/>
                </a:solidFill>
                <a:latin typeface="Segoe UI"/>
              </a:rPr>
              <a:t>BSI carries no incremental predictive content.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200" b="0" i="1">
                <a:solidFill>
                  <a:srgbClr val="5A5247"/>
                </a:solidFill>
                <a:latin typeface="Segoe UI"/>
              </a:rPr>
              <a:t>Apparent association explained by: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omitted-variable bias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multiple-testing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chance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349240"/>
            <a:ext cx="10637215" cy="77724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4406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ECONOMIC INTUITION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669280"/>
            <a:ext cx="9905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3518"/>
                </a:solidFill>
                <a:latin typeface="Segoe UI"/>
              </a:rPr>
              <a:t>Complaints come first.  Charge-offs follow.  Spreads widen.  Equity drops.   The order is the thesis.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06 / 29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THEORETICAL FRAMEWORK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A structural cascade. BSI sits at T+0.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Detect at the soft-signal layer; trade on the spread or equity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onsolas"/>
              </a:rPr>
              <a:t>T+0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Soft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CFPB · Reddit ·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84A27"/>
                </a:solidFill>
                <a:latin typeface="Consolas"/>
              </a:rPr>
              <a:t>BSI input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2971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2971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5A5247"/>
                </a:solidFill>
                <a:latin typeface="Consolas"/>
              </a:rPr>
              <a:t>T+1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2971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days past due (DPD)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4411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30+ / 60+ buckets fill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2971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247"/>
                </a:solidFill>
                <a:latin typeface="Consolas"/>
              </a:rPr>
              <a:t>lag ~30-90d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8702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8702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841C"/>
                </a:solidFill>
                <a:latin typeface="Consolas"/>
              </a:rPr>
              <a:t>T+2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8702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Spreads widen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0142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junior tranche I-spread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8702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spread LHS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14433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14433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2D7A4F"/>
                </a:solidFill>
                <a:latin typeface="Consolas"/>
              </a:rPr>
              <a:t>T+3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433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Equity drops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5873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forward 30d CAR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4433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equity LHS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60164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0164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5638"/>
                </a:solidFill>
                <a:latin typeface="Consolas"/>
              </a:rPr>
              <a:t>T+4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0164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51604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bankruptcy filing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0164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5638"/>
                </a:solidFill>
                <a:latin typeface="Consolas"/>
              </a:rPr>
              <a:t>endogenous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A5247"/>
                </a:solidFill>
                <a:latin typeface="Segoe UI"/>
              </a:rPr>
              <a:t>BSI is a leading indicator. It does not predict defaults — those are too late.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07 / 29</a:t>
            </a:r>
          </a:p>
        </p:txBody>
      </p:sp>
      <p:pic>
        <p:nvPicPr>
          <p:cNvPr id="37" name="Picture 3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DATA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Eight pillars. All public sources.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CFPB and MOVE carry half the weight. The other six fill the picture.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Pillar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74320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4320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Weight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072384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17296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CFPB complaints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1729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consumerfinance.gov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317296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4A27"/>
                </a:solidFill>
                <a:latin typeface="Consolas"/>
              </a:rPr>
              <a:t>0.45 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5701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MOVE rates-vol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55701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ICE BofA / FRED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355701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→ G3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106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App-store reviews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941064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Sensor Tower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394106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2511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Reddit 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32511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Common Crawl + PRAW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432511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70916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Bluesky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7091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AT-Proto firehose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70916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09320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Google Trends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509320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trends.google.com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09320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47725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asset-backed securities (ABS) pool metrics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547725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EDGAR ABS-EE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547725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86130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8-K filings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5861304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Securities and Exchange Commission (SEC) EDGAR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586130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264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C8476"/>
                </a:solidFill>
                <a:latin typeface="Consolas"/>
              </a:rPr>
              <a:t>★ load-bearing  ·  even when the other six are coverage-gated off, these two anchor the composite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08 / 29</a:t>
            </a:r>
          </a:p>
        </p:txBody>
      </p:sp>
      <p:pic>
        <p:nvPicPr>
          <p:cNvPr id="40" name="Picture 3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DATA TREATMENT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Spike-detection on volume.  EWMA z-scored.  No imputation.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BSI = z-scored spikes in customer-distress volume across 8 parallel feeds.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10637215" cy="5943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715768"/>
            <a:ext cx="9905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Consolas"/>
              </a:rPr>
              <a:t>VOLUME LOGIC  ·  7 of 8 pillars are volume-derived; we detect spikes vs each firm's own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337560"/>
            <a:ext cx="10637215" cy="15087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56432"/>
            <a:ext cx="9905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EWMA  =  exponentially-weighted moving average  ·  half-life H = 250 trading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22191"/>
            <a:ext cx="99056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F1B16"/>
                </a:solidFill>
                <a:latin typeface="Consolas"/>
              </a:rPr>
              <a:t>BSIₜ  =  Σᵢ  γᵢ · wᵢ · z^EWMA(Xᵢ,ₜ)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34840"/>
            <a:ext cx="9905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Consolas"/>
              </a:rPr>
              <a:t>γᵢ ∈ {0,1}  ·  coverage gate fires only when pillar density ≥ θᵢ  ·  no imputation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4A27"/>
                </a:solidFill>
                <a:latin typeface="Segoe UI"/>
              </a:rPr>
              <a:t>EWMA half-life H = 250d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λ ≈ 0.00277  →  ~1-year effective memory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938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6818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8841C"/>
                </a:solidFill>
                <a:latin typeface="Segoe UI"/>
              </a:rPr>
              <a:t>Coverage gates, no imputation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6818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synthesised false positives cost more than missed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0636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D7A4F"/>
                </a:solidFill>
                <a:latin typeface="Segoe UI"/>
              </a:rPr>
              <a:t>Pre-registered weights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{wᵢ} hash-locked before any out-of-sample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09 / 29</a:t>
            </a:r>
          </a:p>
        </p:txBody>
      </p:sp>
      <p:pic>
        <p:nvPicPr>
          <p:cNvPr id="26" name="Picture 2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REGRESSION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Two specifications. Independent failure modes.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Granger pins down direction. Panel pins down magnitude — and rules out macro confound.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DIRECTION  ·  GRANGER F-TEST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00400"/>
            <a:ext cx="44956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F1B16"/>
                </a:solidFill>
                <a:latin typeface="Consolas"/>
              </a:rPr>
              <a:t>Δ log CFPBₜ = α + Σ φₖ Δ log CFPBₜ₋ₖ + Σ βₖ BSIₜ₋ₖ + εₜ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449564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8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H₀ :  βₖ = 0  ∀ k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Per-firm test, 1-month lag, FDR-corrected across 27 firms.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MAGNITUDE  ·  PANEL REGRESSION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3200400"/>
            <a:ext cx="44956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F1B16"/>
                </a:solidFill>
                <a:latin typeface="Consolas"/>
              </a:rPr>
              <a:t>CARᵢ,ₜ:ₜ₊₃₀ = α + β · BSIᵢ,ₜ₋₁ + γ' Mₜ + μᵢ + εᵢ,ₜ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8767" y="3794760"/>
            <a:ext cx="4495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247"/>
                </a:solidFill>
                <a:latin typeface="Segoe UI"/>
              </a:rPr>
              <a:t>CAR = cumulative abnormal returns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4206240"/>
            <a:ext cx="449564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8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Mₜ  =  UNRATE, STLFSI4, NFCI, high-yield option-adjusted spread (HY OAS)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μᵢ  =  firm fixed effects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Six SE (standard-error) estimators applied — see Results slide.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10 / 29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ANALYSIS &amp; ROBUSTNESS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Five canonical events.  27-firm population.  Six robustness layers.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Designed to fail independently if the headline result is artefactual.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337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CANONICAL EVENTS  ·  n = 5 (15 with sub-events)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CVNA  ·  Carvana liquidity scare 2022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AFRM  ·  Affirm guidance cut 2022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KLAR  ·  Klarna IPO complaint pulse 2024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AFRM  ·  spread widening 2025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BNPL  ·  industry pulse 2024</a:t>
            </a:r>
          </a:p>
          <a:p>
            <a:pPr algn="l">
              <a:lnSpc>
                <a:spcPct val="150000"/>
              </a:lnSpc>
              <a:spcBef>
                <a:spcPts val="16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Full universe — not a curated subset.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337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ROBUSTNESS  ·  6 INDEPENDENT STANDARD-ERROR (SE) LAYERS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1.  White heteroskedasticity-consistent (HC1) White heteroskedasticity-robust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2.  HAC Newey-West (12-lag)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3.  Cluster-robust by firm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4.  Two-way clustering (firm × month)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1" i="0">
                <a:solidFill>
                  <a:srgbClr val="E84A27"/>
                </a:solidFill>
                <a:latin typeface="Segoe UI"/>
              </a:rPr>
              <a:t>5.  Driscoll-Kraay  ★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6.  Block-bootstrap CI (10k iters)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+ permutation null  +  Holm + BH-false discovery rate (FDR)  +  Wilson CIs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11 / 29</a:t>
            </a:r>
          </a:p>
        </p:txBody>
      </p:sp>
      <p:pic>
        <p:nvPicPr>
          <p:cNvPr id="17" name="Picture 1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FINDINGS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Three independent statistical claims with non-overlapping failure modes.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2D7A4F"/>
                </a:solidFill>
                <a:latin typeface="Cambria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event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5 / 5 events caught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2263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E84A27"/>
                </a:solidFill>
                <a:latin typeface="Cambria"/>
              </a:rPr>
              <a:t>23 /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2263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firms Granger+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423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p &lt; 0.05  ·  median p = 0.0005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7287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B83518"/>
                </a:solidFill>
                <a:latin typeface="Cambria"/>
              </a:rPr>
              <a:t>p = 0.007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Driscoll-Kraay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headline survives strictest 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311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2311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4A6E8F"/>
                </a:solidFill>
                <a:latin typeface="Cambria"/>
              </a:rPr>
              <a:t>86–100%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2311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specificity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471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across 2.5σ – 3.0σ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The equity-side leading-indicator claim survives every standard econometric test.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12 / 29</a:t>
            </a:r>
          </a:p>
        </p:txBody>
      </p:sp>
      <p:pic>
        <p:nvPicPr>
          <p:cNvPr id="28" name="Picture 2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EVIDENCE · CANONICAL EVENTS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Five events.  Five hits.  All cleared SCOUT (z ≥ 2.0).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tab:sens — full universe (n = 27 firms), no curated subset.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697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Firm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97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Trigger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6974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BSI z @ fire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97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Lead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6974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Outcome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310896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32918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CVNA-2022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918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Carvana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2918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Nov 2021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29184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4.20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2918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578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29184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−97%  /  ABS spread +600 bp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1560" y="367588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1560" y="37947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AFRM-2022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7947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Affirm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37947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Feb 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379476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7947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60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79476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−65%  in 2 months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51560" y="417880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51560" y="42976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KLAR-2024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2976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Klarna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42976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Sep 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2976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3.10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2976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50 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2976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−40%  pre-initial public offering (IPO) valuation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51560" y="468172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51560" y="48006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AFRM-2025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8006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Affirm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8006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Q1 2025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48006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8006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90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0060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junior I-spread widening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51560" y="518464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51560" y="53035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BNPL-pulse-2024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53035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industry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53035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Q3 2024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530352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53035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varies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5303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sector drawdown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51560" y="5532120"/>
            <a:ext cx="10088575" cy="5029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62356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5 of 5 detected  ·  Wilson 95% CI [56.6, 100]  ·  86–100% specificity across 2.5σ – 3.0σ thresholds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13 / 29</a:t>
            </a:r>
          </a:p>
        </p:txBody>
      </p:sp>
      <p:pic>
        <p:nvPicPr>
          <p:cNvPr id="54" name="Picture 53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EVENT CALENDAR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When BSI has fired across the universe.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The most recent five SCOUT-or-stronger fires plotted on a calendar.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3383280"/>
            <a:ext cx="9539935" cy="109728"/>
          </a:xfrm>
          <a:prstGeom prst="roundRect">
            <a:avLst>
              <a:gd name="adj" fmla="val 3000"/>
            </a:avLst>
          </a:prstGeom>
          <a:solidFill>
            <a:srgbClr val="E9DFC4"/>
          </a:solidFill>
          <a:ln w="6350">
            <a:solidFill>
              <a:srgbClr val="C0B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16736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9547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4723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7534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2710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75521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697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3508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48684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56671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11436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1857740.75" y="2606040"/>
            <a:ext cx="0.0" cy="685800"/>
          </a:xfrm>
          <a:prstGeom prst="line">
            <a:avLst/>
          </a:prstGeom>
          <a:ln w="1270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1900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340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Nov 2021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34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CVNA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340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z = 4.20</a:t>
            </a:r>
          </a:p>
        </p:txBody>
      </p:sp>
      <p:sp>
        <p:nvSpPr>
          <p:cNvPr id="28" name="Oval 27"/>
          <p:cNvSpPr/>
          <p:nvPr/>
        </p:nvSpPr>
        <p:spPr>
          <a:xfrm>
            <a:off x="2474631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2620935.55" y="3584448"/>
            <a:ext cx="0.0" cy="685800"/>
          </a:xfrm>
          <a:prstGeom prst="line">
            <a:avLst/>
          </a:prstGeom>
          <a:ln w="1270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615095" y="42702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06535" y="4343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Feb 2022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535" y="45445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AFRM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6535" y="47731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z = 2.50</a:t>
            </a:r>
          </a:p>
        </p:txBody>
      </p:sp>
      <p:sp>
        <p:nvSpPr>
          <p:cNvPr id="34" name="Oval 33"/>
          <p:cNvSpPr/>
          <p:nvPr/>
        </p:nvSpPr>
        <p:spPr>
          <a:xfrm>
            <a:off x="7435397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581701.75" y="2606040"/>
            <a:ext cx="0.0" cy="685800"/>
          </a:xfrm>
          <a:prstGeom prst="line">
            <a:avLst/>
          </a:prstGeom>
          <a:ln w="1270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575861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301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6E8F"/>
                </a:solidFill>
                <a:latin typeface="Consolas"/>
              </a:rPr>
              <a:t>Aug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301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TRICOLOR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7301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6E8F"/>
                </a:solidFill>
                <a:latin typeface="Consolas"/>
              </a:rPr>
              <a:t>z = 3.40</a:t>
            </a:r>
          </a:p>
        </p:txBody>
      </p:sp>
      <p:sp>
        <p:nvSpPr>
          <p:cNvPr id="40" name="Oval 39"/>
          <p:cNvSpPr/>
          <p:nvPr/>
        </p:nvSpPr>
        <p:spPr>
          <a:xfrm>
            <a:off x="8007793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54097.85" y="3584448"/>
            <a:ext cx="0.0" cy="685800"/>
          </a:xfrm>
          <a:prstGeom prst="line">
            <a:avLst/>
          </a:prstGeom>
          <a:ln w="1270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148257" y="42702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9697" y="4343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Sep 2024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39697" y="45445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KLAR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9697" y="47731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z = 3.10</a:t>
            </a:r>
          </a:p>
        </p:txBody>
      </p:sp>
      <p:sp>
        <p:nvSpPr>
          <p:cNvPr id="46" name="Oval 45"/>
          <p:cNvSpPr/>
          <p:nvPr/>
        </p:nvSpPr>
        <p:spPr>
          <a:xfrm>
            <a:off x="9152586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9298890.05" y="2606040"/>
            <a:ext cx="0.0" cy="685800"/>
          </a:xfrm>
          <a:prstGeom prst="line">
            <a:avLst/>
          </a:prstGeom>
          <a:ln w="1270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293050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4490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Jan 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449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AFRM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4490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z = 2.70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4406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Each marker is a SCOUT-or-stronger fire (z ≥ 2.0) on a real consumer-credit issuer.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7607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Consolas"/>
              </a:rPr>
              <a:t>Most recent: AFRM-2025 (Jan 2025) — first AFRMT junior-tranche-relevant signal in the shelf.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14 / 29</a:t>
            </a:r>
          </a:p>
        </p:txBody>
      </p:sp>
      <p:pic>
        <p:nvPicPr>
          <p:cNvPr id="56" name="Picture 5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CASE STUDY · CVNA-2022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Carvana 2022.  The canonical event.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Subprime auto. BSI fired. Equity collapsed ~98% from peak.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WHAT BSI SAW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Q1 2022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CFPB complaint volume on Carvana / Bridgecrest spikes 4-6x baseline.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Apr 2022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BSI z crosses 2.5  ·  all five gates clear  ·  SCOUT fires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WHAT THE MARKET DID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B85638"/>
                </a:solidFill>
                <a:latin typeface="Consolas"/>
              </a:rPr>
              <a:t>$130 (Apr '22)  →  $4 (Dec '22)   ·   −97%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Credit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Senior unsecured spread  +400 → +2,500 bp   ·   credit default swap (CDS)-implied 5y probability of default (PD)  12% → 52%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Junior ABS (Bridgecrest)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Class C OAS  +600 bp  ·  the natural Tier 2a vehicle.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B83518"/>
                </a:solidFill>
                <a:latin typeface="Segoe UI"/>
              </a:rPr>
              <a:t>Lead time on equity bottom: ~180 days.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15 / 29</a:t>
            </a:r>
          </a:p>
        </p:txBody>
      </p:sp>
      <p:pic>
        <p:nvPicPr>
          <p:cNvPr id="18" name="Picture 1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CASE STUDIES · TWO MINI-EVENTS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Generalisation across BNPL.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Same engine, same gates. Two issuers structurally different from Carvana.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AFRM  ·  AFFIRM GUIDANCE CUT  ·  FEB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BSI saw  ·  CFPB billing-dispute spike + app-store rating decay 60d before guidance.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Trigger  ·  Feb 10, 2022 — early Twitter print + downward FY guide.</a:t>
            </a:r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300" b="1" i="0">
                <a:solidFill>
                  <a:srgbClr val="B85638"/>
                </a:solidFill>
                <a:latin typeface="Segoe UI"/>
              </a:rPr>
              <a:t>Market  ·  −21% in one session  ·  −65% over two months.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400" b="1" i="0">
                <a:solidFill>
                  <a:srgbClr val="B83518"/>
                </a:solidFill>
                <a:latin typeface="Consolas"/>
              </a:rPr>
              <a:t>Lead time:  ~60 days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KLAR  ·  KLARNA IPO COMPLAINT PULSE  · 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BSI saw  ·  CFPB volume on Klarna AB tripled  ·  Reddit + Bluesky concordance.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Trigger  ·  IPO postponement + EU regulatory scrutiny on BNPL.</a:t>
            </a:r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300" b="1" i="0">
                <a:solidFill>
                  <a:srgbClr val="B85638"/>
                </a:solidFill>
                <a:latin typeface="Segoe UI"/>
              </a:rPr>
              <a:t>Market  ·  pre-IPO secondary  −40% from peak.  AFRM contagion  −18%.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400" b="1" i="0">
                <a:solidFill>
                  <a:srgbClr val="B83518"/>
                </a:solidFill>
                <a:latin typeface="Consolas"/>
              </a:rPr>
              <a:t>Lead time:  ~50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A5247"/>
                </a:solidFill>
                <a:latin typeface="Segoe UI"/>
              </a:rPr>
              <a:t>Both fired SCOUT (z ≥ 2.0) and cleared 4 of 5 gates.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16 / 29</a:t>
            </a:r>
          </a:p>
        </p:txBody>
      </p:sp>
      <p:pic>
        <p:nvPicPr>
          <p:cNvPr id="18" name="Picture 1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SCOPE CONDITIONS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Honest disclosures.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Every weakness, surfaced before the reviewer asks.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42616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n = 15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71800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Small. FDR correction across 27 firms mitigates.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55848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19272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Equity calendar-time α  = 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85032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t = 0.08. Reported, not concealed. Motivates fixed-income deployment.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32504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CURO conditional on event-date convention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98264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Detected at 720d under filing date; near-miss under earnings-warning.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782312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45736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Long-pod survivorship bias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111496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+34.9% mean 365d return is conditional on equity survival.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495544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58968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No firm-level fixed-income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24728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TRACE / Markit / Intex outside warehouse — paper makes no FI alpha claim.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17 / 29</a:t>
            </a:r>
          </a:p>
        </p:txBody>
      </p:sp>
      <p:pic>
        <p:nvPicPr>
          <p:cNvPr id="26" name="Picture 2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PANEL REGRESSION · HEADLINE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z is significant.  Macro controls are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tab:panel_full — saturated firm-fixed-effects specification.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9748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Variable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9748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Coefficient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69748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 (cluster)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69748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t-stat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69748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p-value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43000" y="3063240"/>
            <a:ext cx="990569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43000" y="317296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3518"/>
                </a:solidFill>
                <a:latin typeface="Consolas"/>
              </a:rPr>
              <a:t>BSI_{i,t-1}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17296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−0.0820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317296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0.0300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7296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−2.73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172968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0.007  ★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538728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55701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UNRATE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5570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−0.0041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5570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55701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−1.18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55701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941064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STLFSI4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94106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94106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394106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+1.21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4106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0.230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325112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NFCI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4325112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4325112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325112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+0.83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325112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470916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BAMLH0A0HYM2 (HY OAS)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70916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470916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70916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7091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0.520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143000" y="5074920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143000" y="509320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Firm fixed effects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509320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6440" y="509320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509320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5093208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Yes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547725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 (firm-month obs)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547725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6440" y="547725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547725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47725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1,917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5861304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R² within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586130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586130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586130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86130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0.061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51560" y="5943600"/>
            <a:ext cx="10088575" cy="45720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" y="6016752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Segoe UI"/>
              </a:rPr>
              <a:t>BSI carries the predictive content. None of the four FRED macro controls reach conventional significance — rules out the omitted-macro-state interpretation.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18 / 29</a:t>
            </a:r>
          </a:p>
        </p:txBody>
      </p:sp>
      <p:pic>
        <p:nvPicPr>
          <p:cNvPr id="61" name="Picture 60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NORMALISED BSI · VS REVENUE-GROWTH PROXY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is not just a revenue-growth proxy.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tab:normalised_panel — 13 firms × 972 firm-months, cluster-robust 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Pillar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97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974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Coef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1560" y="310896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1560" y="3246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A. Absolute BSI lag-1 + firm FE (baseline)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2461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absolute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461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972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2461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−0.1155***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246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0.0224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246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−5.17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32461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&lt;0.001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B. Normalised BSI lag-1 + firm 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703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c̃ 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703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972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033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−0.1017***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0.0199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703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−5.12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3703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&lt;0.001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C. Normalised BSI + revenue YoY ctrl + firm 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160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c̃ 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1605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1605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−0.1040***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160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0.0206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4160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−5.06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4160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&lt;0.001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6177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       (revenue YoY control)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617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617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6177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−0.0054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617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617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−1.63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4617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0.103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1560" y="5806440"/>
            <a:ext cx="10088575" cy="5943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879592"/>
            <a:ext cx="97228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B83518"/>
                </a:solidFill>
                <a:latin typeface="Segoe UI"/>
              </a:rPr>
              <a:t>KEY · normalised BSI remains highly significant (p &lt; 0.001) with revenue-YoY as a separate control. Revenue-YoY itself is not significant (p = 0.103). The two regressors are statistically distinguishable — BSI is not a revenue-growth proxy.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19 / 29</a:t>
            </a:r>
          </a:p>
        </p:txBody>
      </p:sp>
      <p:pic>
        <p:nvPicPr>
          <p:cNvPr id="49" name="Picture 48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GRANGER F-TESTS · DIRECTION OF CAUSATION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Granger-causes complaints at every horizon ≤ 3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tab:granger — per-firm F-tests, aggregated across 27 firms.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Lag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7432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Firms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7432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Significant (p&lt;0.05)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Significant (p&lt;0.01)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7432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Median 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27432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Median 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320040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33375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83518"/>
                </a:solidFill>
                <a:latin typeface="Consolas"/>
              </a:rPr>
              <a:t>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33756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33756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23 (85%)  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3756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20 (74%)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337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5.11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337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0.0005 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84048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2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84048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16 (59%)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16 (59%)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40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3.10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40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0.0021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434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3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43434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3434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17 (63%)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3434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15 (56%)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343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2.33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4343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0.0072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8463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6 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84632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1960" y="48463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13 (48%)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8463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11 (41%)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48463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1.44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48463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0.0824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8521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B83518"/>
                </a:solidFill>
                <a:latin typeface="Segoe UI"/>
              </a:rPr>
              <a:t>1-month lag is the central empirical finding — 23 of 27 firms reject no-Granger-causality at p &lt; 0.05; median p = 0.0005. Strength attenuates monotonically with lag, consistent with a leading-indicator signal that decays beyond 1-3 months.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20 / 29</a:t>
            </a:r>
          </a:p>
        </p:txBody>
      </p:sp>
      <p:pic>
        <p:nvPicPr>
          <p:cNvPr id="43" name="Picture 4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BASELINE COMPARISON · HONEST DISCLOSURE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Raw log-volume marginally beats EWMA composite in panel-fit.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tab:baseline_models — BSI's payoff is in event-detection, not panel R².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8892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788920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788920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2788920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Adj. R²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2788920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AIC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51560" y="3218688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51560" y="335584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A. Macro controls only (no BSI)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355848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2,268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355848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3355848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3355848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2,582.0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831336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841C"/>
                </a:solidFill>
                <a:latin typeface="Consolas"/>
              </a:rPr>
              <a:t>B. Raw log-CFPB-volume only (no z-scoring)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831336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2,241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831336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0.0043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831336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0.0038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831336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2,551.6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306824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C. BSI z + macro controls (full Eq. 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06824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2,268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306824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430682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430682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2,581.4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4937760"/>
            <a:ext cx="10088575" cy="1005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4440" y="50292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HONEST FINDING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03520"/>
            <a:ext cx="972281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EWMA z-scoring throws away level information that has predictive content for the panel-regression mean-reversion question. We disclose this openly. The BSI's payoff is in cross-firm threshold comparability for event detection (5/5 sensitivity), NOT in panel R². The panel and event-detection results test distinct claims.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21 / 29</a:t>
            </a:r>
          </a:p>
        </p:txBody>
      </p:sp>
      <p:pic>
        <p:nvPicPr>
          <p:cNvPr id="35" name="Picture 34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RESULTS · SE-SENSITIVITY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Same coefficient.  Six standard-error (SE) specifications.  All reject H₀.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Driscoll-Kraay survives at p = 0.007 — the strongest defensive result in the paper.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97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974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β̂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6974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974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t-stat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974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6974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verdict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3081528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43000" y="31546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Naive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1546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1546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154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−3.42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154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31546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661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HC1 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35661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5661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661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5661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356616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9776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heteroskedasticity- and autocorrelation-consistent (HAC) Newey-West (12)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97764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97764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977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977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97764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3891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Cluster (firm)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3891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3891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4800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Two-way (firm × month)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8006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8006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48006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48006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80060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212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4A27"/>
                </a:solidFill>
                <a:latin typeface="Consolas"/>
              </a:rPr>
              <a:t>Driscoll-Kraay  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52120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−0.082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0680" y="52120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0.030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52120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−2.71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52120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0.007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52120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rejects H₀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B83518"/>
                </a:solidFill>
                <a:latin typeface="Segoe UI"/>
              </a:rPr>
              <a:t>Driscoll-Kraay handles cross-sectional dependence and serial correlation simultaneously. Survival here ends the SE-robustness conversation.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22 / 29</a:t>
            </a:r>
          </a:p>
        </p:txBody>
      </p:sp>
      <p:pic>
        <p:nvPicPr>
          <p:cNvPr id="55" name="Picture 54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FUTURE RESEARCH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Two open threads.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Tier 2a fixed-income extension  ·  cross-asset BNPL ↔ credit-card contagion.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2743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THREAD 1  ·  TIER 2a  ·  fixed-income LHS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54680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1F1B16"/>
                </a:solidFill>
                <a:latin typeface="Consolas"/>
              </a:rPr>
              <a:t>Δ Spreadₜ:ₜ₊₃₀  =  α + β · BSIₜ₋₁ + γ' Mₜ + εₜ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840480"/>
            <a:ext cx="458708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8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AFRMT junior I-spread, daily  ·  same six standard-error suite  ·  pre-registered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Addresses the equity calendar-time α null directly.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1" i="0">
                <a:solidFill>
                  <a:srgbClr val="B8841C"/>
                </a:solidFill>
                <a:latin typeface="Consolas"/>
              </a:rPr>
              <a:t>Data needed:  TRACE  ·  Markit CDS  ·  Intex trustee 10-D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606040"/>
            <a:ext cx="5135727" cy="2743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THREAD 2  ·  CROSS-ASSET CONTAGION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154680"/>
            <a:ext cx="45870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1B16"/>
                </a:solidFill>
                <a:latin typeface="Segoe UI"/>
              </a:rPr>
              <a:t>BNPL stress  ⇄  credit-card stress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6576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1" i="0">
                <a:solidFill>
                  <a:srgbClr val="1F1B16"/>
                </a:solidFill>
                <a:latin typeface="Segoe UI"/>
              </a:rPr>
              <a:t>Does BNPL distress lead credit-card delinquencies — or vice versa?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BNPL borrowers are 2.4× more likely to be subprime  →  same wallet, two products, one stress signal?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1" i="0">
                <a:solidFill>
                  <a:srgbClr val="6B4A7F"/>
                </a:solidFill>
                <a:latin typeface="Consolas"/>
              </a:rPr>
              <a:t>Methodology: same panel regression, LHS = card-monoline charge-offs; RHS = BNPL-firm BSI.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Segoe UI"/>
              </a:rPr>
              <a:t>Both threads use the same engine. Tier 2a is data-bound; cross-asset is methodology-design-bound.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23 / 29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CONTRIBUTION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Three things this paper contributes.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What is established, what is new, what is deliberately not claimed.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7A4F"/>
                </a:solidFill>
                <a:latin typeface="Consolas"/>
              </a:rPr>
              <a:t>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Generalises to non-bank consumer credit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BNPL · subprime auto · marketplace lending.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 LHS panel result is robust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Driscoll-Kraay  p = 0.007.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8258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METHODOLOGICALLY 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Multi-pillar pre-registered composite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First fusion of CFPB with seven additional pillars under hash-locked weights.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Six-estimator robustness suite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More demanding than typical alt-data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7756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2076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NOT YET CLAIMED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2076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 calendar-time alpha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Honest null  t = 0.08.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Fixed-income alpha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Tier 2a positioned, not yet executed.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1F1B16"/>
                </a:solidFill>
                <a:latin typeface="Segoe UI"/>
              </a:rPr>
              <a:t>The discipline of not overclaiming is what makes the established claims defensible.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24 / 29</a:t>
            </a:r>
          </a:p>
        </p:txBody>
      </p:sp>
      <p:pic>
        <p:nvPicPr>
          <p:cNvPr id="21" name="Picture 20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BRIDGE TO THE POD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One known false positive.  One open opportunity.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Sezzle shows where the methodology mis-fires; junior-tranche TRS shows where it pays 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5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5638"/>
                </a:solidFill>
                <a:latin typeface="Consolas"/>
              </a:rPr>
              <a:t>FALSE POSITIVE  ·  SEZL 2023-2025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BSI fired repeatedly. Equity went +600%.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Why  ·  growth-stage issuer; complaint volume scaled with active-customer expansion.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Numerator rose mechanically. Per-customer rate stayed stable.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B8841C"/>
                </a:solidFill>
                <a:latin typeface="Consolas"/>
              </a:rPr>
              <a:t>Documented in §13.3. Denominator-normalisation refinement addresses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7A4F"/>
                </a:solidFill>
                <a:latin typeface="Consolas"/>
              </a:rPr>
              <a:t>OPPORTUNITY  ·  JUNIOR TRANCHE TRS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The instrument structure dodges the failure modes.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Tranche cashflow doesn't care about customer growth — filters the SEZL case.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Spreads price default risk directly — addresses the equity-α null.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2D7A4F"/>
                </a:solidFill>
                <a:latin typeface="Consolas"/>
              </a:rPr>
              <a:t>Methodology and trade vehicle are co-designed.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25 / 29</a:t>
            </a:r>
          </a:p>
        </p:txBody>
      </p:sp>
      <p:pic>
        <p:nvPicPr>
          <p:cNvPr id="17" name="Picture 1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CASE STUDY (CVNA)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vna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97280"/>
            <a:ext cx="10637215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/case-study  ·  CVNA 2022 deep-dive  ·  +96.3% short, 540d hold, 5/5 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26 / 29</a:t>
            </a:r>
          </a:p>
        </p:txBody>
      </p:sp>
      <p:pic>
        <p:nvPicPr>
          <p:cNvPr id="11" name="Picture 10" descr="Illinois-Logo-No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CASE STUDY (CVNA · TRADE MATH + PLAYBOOK)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vna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20447"/>
            <a:ext cx="5204307" cy="2440067"/>
          </a:xfrm>
          <a:prstGeom prst="rect">
            <a:avLst/>
          </a:prstGeom>
        </p:spPr>
      </p:pic>
      <p:pic>
        <p:nvPicPr>
          <p:cNvPr id="8" name="Picture 7" descr="cvna_play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3053029"/>
            <a:ext cx="5204307" cy="15749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64008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Segoe UI"/>
              </a:rPr>
              <a:t>Trade math (left)  ·  Three-leg playbook (right)  ·  short equity + short credit + long-pod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27 / 29</a:t>
            </a:r>
          </a:p>
        </p:txBody>
      </p:sp>
      <p:pic>
        <p:nvPicPr>
          <p:cNvPr id="12" name="Picture 11" descr="Illinois-Logo-No-back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LIVE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40" y="1097280"/>
            <a:ext cx="10637215" cy="5029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A5247"/>
                </a:solidFill>
                <a:latin typeface="Consolas"/>
              </a:rPr>
              <a:t>[ /live screenshot — capture instructions in build log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8C8476"/>
                </a:solidFill>
                <a:latin typeface="Segoe UI"/>
              </a:rPr>
              <a:t>Save to  screenshots/live_pod.png  and rebuild.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/live  ·  4-stage pipeline  ·  5-gate evaluation  ·  technical-override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28 / 29</a:t>
            </a:r>
          </a:p>
        </p:txBody>
      </p:sp>
      <p:pic>
        <p:nvPicPr>
          <p:cNvPr id="13" name="Picture 1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799" y="502920"/>
            <a:ext cx="96012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1417320"/>
            <a:ext cx="10637215" cy="3657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 i="0">
                <a:solidFill>
                  <a:srgbClr val="1F1B16"/>
                </a:solidFill>
                <a:latin typeface="Cambria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2788920"/>
            <a:ext cx="6979615" cy="1920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40" y="2953512"/>
            <a:ext cx="6979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ACKNOWLEDGEMENTS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3337560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630168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Tony Zhang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922776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Martin Widdicks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4215384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Neil Pearson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B83518"/>
                </a:solidFill>
                <a:latin typeface="Cambria"/>
              </a:rPr>
              <a:t>Q &amp;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23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A5247"/>
                </a:solidFill>
                <a:latin typeface="Segoe UI"/>
              </a:rPr>
              <a:t>questions, comments, criticisms welcome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465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Siddharth Verma  ·  FIN 580  ·  University of Illinois Urbana-Champaign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