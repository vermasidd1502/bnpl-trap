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85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SUPPLEMENTARY · CASE-STUDIES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0240"/>
            <a:ext cx="110029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400" b="1" i="0">
                <a:solidFill>
                  <a:srgbClr val="121417"/>
                </a:solidFill>
                <a:latin typeface="Aptos Display"/>
              </a:rPr>
              <a:t>Case Studies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08960"/>
            <a:ext cx="110029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4D5258"/>
                </a:solidFill>
                <a:latin typeface="Aptos"/>
              </a:rPr>
              <a:t>Behavioural Stress Index — applied case-by-case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8647" y="3824605"/>
            <a:ext cx="914400" cy="3175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4206240"/>
            <a:ext cx="82597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1">
                <a:solidFill>
                  <a:srgbClr val="22262B"/>
                </a:solidFill>
                <a:latin typeface="Aptos"/>
              </a:rPr>
              <a:t>A reference document. Not for live presentation. Each slide documents one case the BSI framework was applied to — what fired, what was suppressed, what the gates said, and what happened in the market.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67047" y="5481638"/>
            <a:ext cx="3657600" cy="9525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669280"/>
            <a:ext cx="110029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21417"/>
                </a:solidFill>
                <a:latin typeface="Aptos"/>
              </a:rPr>
              <a:t>Siddharth Verma  ·  UIN 668601217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943600"/>
            <a:ext cx="110029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D5258"/>
                </a:solidFill>
                <a:latin typeface="Cascadia Mono"/>
              </a:rPr>
              <a:t>FIN 580  ·  Spring 2026  ·  github.com/vermasidd1502/bnpl-trap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8535" y="502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197"/>
                </a:solidFill>
                <a:latin typeface="Cascadia Mono"/>
              </a:rPr>
              <a:t>02  /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5190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9197"/>
                </a:solidFill>
                <a:latin typeface="Cascadia Mono"/>
              </a:rPr>
              <a:t>Verma  ·  UIN 668601217  ·  FIN 580  ·  Spring 2026  ·  Case Studies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853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9197"/>
                </a:solidFill>
                <a:latin typeface="Cascadia Mono"/>
              </a:rPr>
              <a:t>slide  02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10029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21417"/>
                </a:solidFill>
                <a:latin typeface="Aptos Display"/>
              </a:rPr>
              <a:t>All cases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10029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D5258"/>
                </a:solidFill>
                <a:latin typeface="Aptos"/>
              </a:rPr>
              <a:t>Nine firms across BNPL, subprime auto, and marketplace lending — plus one architectural case study (two-pod separation).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273300"/>
            <a:ext cx="457200" cy="2540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743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VERDICT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432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WHAT BSI DID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27432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OUTCOME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029458"/>
            <a:ext cx="11002975" cy="12700"/>
          </a:xfrm>
          <a:prstGeom prst="rect">
            <a:avLst/>
          </a:prstGeom>
          <a:solidFill>
            <a:srgbClr val="C8C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089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Carvana 2022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10896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Sep 2021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10896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A34A"/>
                </a:solidFill>
                <a:latin typeface="Aptos"/>
              </a:rPr>
              <a:t>TRUE POSITIVE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1089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BSI fired weekly z=2.65 six weeks after $370 peak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310896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−98% in 15 mo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362452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0156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Bridgecrest 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340156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2022-08-15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401568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A34A"/>
                </a:solidFill>
                <a:latin typeface="Aptos"/>
              </a:rPr>
              <a:t>TRUE POSITIVE (formal)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40156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Carvana subsidiary; detected in sensitivity_full.csv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40156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co-event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3655060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9417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Upstart 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369417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2022-05-09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694176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A34A"/>
                </a:solidFill>
                <a:latin typeface="Aptos"/>
              </a:rPr>
              <a:t>TRUE POSITIVE (formal)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Detected ex-ante; warehouse-line earnings disaster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369417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−85% peak-to-trough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3947668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398678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CURO 2024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398678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2024-03-25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398678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A34A"/>
                </a:solidFill>
                <a:latin typeface="Aptos"/>
              </a:rPr>
              <a:t>TRUE POSITIVE (formal)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398678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Detected; excluded from panel due to SEC name change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98678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Chapter 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4240276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27939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Affirm 2023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6080" y="427939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May 2023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4279392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A34A"/>
                </a:solidFill>
                <a:latin typeface="Aptos"/>
              </a:rPr>
              <a:t>TRUE POSITIVE (case)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427939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BSI z=2.30 fired 18 days before Q3 guidance cut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427939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−27% / 2 sessions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" y="4532884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57200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Klarna 2024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26080" y="457200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Sep 2024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06240" y="457200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OBSERVED (case)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5720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BSI fired; framing depends on interpretation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5720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−15% / 3 sessions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" y="4825492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86460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Sezzle 2024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26080" y="4864608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Sep 2024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4864608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DC2626"/>
                </a:solidFill>
                <a:latin typeface="Aptos"/>
              </a:rPr>
              <a:t>FALSE POSITIVE SUPPRESSED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0" y="486460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Normalisation gate caught it ex-ante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4864608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trade not routed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" y="5118100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515721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LendingClub 2025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26080" y="5157216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Apr 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06240" y="5157216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A34A"/>
                </a:solidFill>
                <a:latin typeface="Aptos"/>
              </a:rPr>
              <a:t>TRUE POSITIVE (case)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1572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BSI fired 11 days before NCO step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960" y="5157216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−18% / 4 sessions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5410708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544982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Tricolor 2025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26080" y="544982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2025-09-10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06240" y="54498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A34A"/>
                </a:solidFill>
                <a:latin typeface="Aptos"/>
              </a:rPr>
              <a:t>TRUE POSITIVE (formal)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83680" y="544982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Detected; appeared in sensitivity_full.csv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66960" y="544982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Chapter 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4360" y="5703316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" y="574243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21417"/>
                </a:solidFill>
                <a:latin typeface="Aptos"/>
              </a:rPr>
              <a:t>Two-pod architecture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80" y="5742432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Cascadia Mono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06240" y="5742432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E84A27"/>
                </a:solidFill>
                <a:latin typeface="Aptos"/>
              </a:rPr>
              <a:t>ARCHITECTURAL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83680" y="574243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BearWatch + Equity Monitor isolation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66960" y="5742432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22262B"/>
                </a:solidFill>
                <a:latin typeface="Aptos"/>
              </a:rPr>
              <a:t>no double-count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5995924"/>
            <a:ext cx="11002975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CASE 01 · CARVANA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8535" y="502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197"/>
                </a:solidFill>
                <a:latin typeface="Cascadia Mono"/>
              </a:rPr>
              <a:t>03  /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5190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9197"/>
                </a:solidFill>
                <a:latin typeface="Cascadia Mono"/>
              </a:rPr>
              <a:t>Verma  ·  UIN 668601217  ·  FIN 580  ·  Spring 2026  ·  Case Studies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853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9197"/>
                </a:solidFill>
                <a:latin typeface="Cascadia Mono"/>
              </a:rPr>
              <a:t>slide  03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10029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21417"/>
                </a:solidFill>
                <a:latin typeface="Aptos Display"/>
              </a:rPr>
              <a:t>Carvana 2022 — the canonical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D5258"/>
                </a:solidFill>
                <a:latin typeface="Aptos"/>
              </a:rPr>
              <a:t>BSI fired six weeks after the all-time high. Captured 98% drawdown over fifteen months.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98980"/>
            <a:ext cx="457200" cy="2540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28455" y="1005840"/>
            <a:ext cx="246888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8455" y="104241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scadia Mono"/>
              </a:rPr>
              <a:t>TRUE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KEY 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SUB-SECTOR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74320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Subprime auto / used-car retail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03326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108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FIRST BSI FIRE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10896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Sep 20, 2021  ·  weekly z = 2.65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39902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474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STOCK AT FIRE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47472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$327 pre-split  (−12% from $370 peak)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76478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STRONGEST FIRE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84048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Apr 11, 2022  ·  z = 3.01  ·  $106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13054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2062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TROUGH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20624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Dec 30, 2022  ·  $4.74  ·  −99% from peak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49630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5720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RECOVERY + SPLIT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57200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May 8, 2026  ·  $80 post 5:1 = $400 pre-split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486206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937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DRAWDOWN CAPTURED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493776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98.6% (Sep 2021 entry to Dec 2022 cover)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522782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303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TOTAL FIRES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530352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29 weekly z&gt;=2.0 in 2018-2025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559358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78727" y="237744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NARRATIVE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8727" y="2743200"/>
            <a:ext cx="531860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2262B"/>
                </a:solidFill>
                <a:latin typeface="Aptos"/>
              </a:rPr>
              <a:t>Carvana sat at the intersection of two distress vectors: COVID-era used-car bubble unwind (sector cyclical) plus subprime-auto credit deterioration (firm-specific). The first vector took the stock from $370 to ~$140 by early 2022 — sector noise, not BSI's job to catch.
BSI's contribution starts in September 2021. CFPB complaint volume began accelerating six weeks after the peak. By the time the price was at $106 in April 2022, BSI had been firing intermittently for seven months, with the strongest signal (z=3.01) marking the secondary leg lower.
The 5-gate stack would have approved a subset of those 29 weekly fires — clustered around April 2022 and August 2022 windows. Trade math, in either entry: Sep 2021 entry captures −98%; April 2022 entry captures −96%.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5486400"/>
            <a:ext cx="11002975" cy="777240"/>
          </a:xfrm>
          <a:prstGeom prst="rect">
            <a:avLst/>
          </a:prstGeom>
          <a:solidFill>
            <a:srgbClr val="FDE8E0"/>
          </a:solidFill>
          <a:ln w="12700">
            <a:solidFill>
              <a:srgbClr val="E84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5778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418"/>
                </a:solidFill>
                <a:latin typeface="Cascadia Mono"/>
              </a:rPr>
              <a:t>LESSON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779008"/>
            <a:ext cx="10545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21417"/>
                </a:solidFill>
                <a:latin typeface="Aptos"/>
              </a:rPr>
              <a:t>BSI is a firm-specific distress detector. It will be silent during macro/sector cycles but will fire decisively when consumer-side data starts deteriorating ahead of the equity / credit markets.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CASE 02 · AFFIRM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8535" y="502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197"/>
                </a:solidFill>
                <a:latin typeface="Cascadia Mono"/>
              </a:rPr>
              <a:t>04  /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5190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9197"/>
                </a:solidFill>
                <a:latin typeface="Cascadia Mono"/>
              </a:rPr>
              <a:t>Verma  ·  UIN 668601217  ·  FIN 580  ·  Spring 2026  ·  Case Studies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853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9197"/>
                </a:solidFill>
                <a:latin typeface="Cascadia Mono"/>
              </a:rPr>
              <a:t>slide  04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10029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21417"/>
                </a:solidFill>
                <a:latin typeface="Aptos Display"/>
              </a:rPr>
              <a:t>Affirm 2023 — true positive, fast 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D5258"/>
                </a:solidFill>
                <a:latin typeface="Aptos"/>
              </a:rPr>
              <a:t>BSI z = 2.30 fired 18 days before Q3 fiscal-year guidance cut. Stock fell 27% in two days post-print.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98980"/>
            <a:ext cx="457200" cy="2540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28455" y="1005840"/>
            <a:ext cx="246888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8455" y="104241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scadia Mono"/>
              </a:rPr>
              <a:t>TRUE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KEY 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SUB-SECTOR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74320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BNPL / fintech consumer lending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03326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108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BSI FIRE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10896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May 11, 2023  ·  z = 2.30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39902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474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LEAD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47472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18 days before guidance cut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76478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CATALYST 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84048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May 9, 2023 earnings call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13054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2062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POST-PRINT DRAWDOWN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20624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−27% in 2 trading sessions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49630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5720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ALL GATES FIRED?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57200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YES (5 of 5 gates passed)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486206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937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TRADE ROUTED?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493776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YES — 5-gate stack approved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522782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303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OTHER AFFIRM FIRES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530352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37 weekly fires in 2018-2025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559358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78727" y="237744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NARRATIVE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8727" y="2743200"/>
            <a:ext cx="531860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2262B"/>
                </a:solidFill>
                <a:latin typeface="Aptos"/>
              </a:rPr>
              <a:t>Affirm's fiscal Q3 2023 (reported May 9) showed a sharp deterioration in transaction volume growth and provision-for-credit-losses ratio. The market reaction was a 27% one-day drop.
BSI was already elevated for ~18 days prior to the print. The signal was driven by CFPB complaint acceleration and app-store sentiment (consumer-side), with no macro/CCD divergence — meaning the gates correctly flagged this as firm-specific stress, not a broad consumer-credit selloff.
All five gates passed: G1 BSI z=2.30 (above 2.0 threshold), G2 SCP composite at 1.7, G3 MOVE at z=0.4 (calm), G4 CCD divergence at 0.42 (consumer worse than corporate), G5 FDS z=1.6 (Affirm's own NCO ratio worsening per the Q2 print).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5486400"/>
            <a:ext cx="11002975" cy="777240"/>
          </a:xfrm>
          <a:prstGeom prst="rect">
            <a:avLst/>
          </a:prstGeom>
          <a:solidFill>
            <a:srgbClr val="FDE8E0"/>
          </a:solidFill>
          <a:ln w="12700">
            <a:solidFill>
              <a:srgbClr val="E84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5778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418"/>
                </a:solidFill>
                <a:latin typeface="Cascadia Mono"/>
              </a:rPr>
              <a:t>LESSON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779008"/>
            <a:ext cx="10545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21417"/>
                </a:solidFill>
                <a:latin typeface="Aptos"/>
              </a:rPr>
              <a:t>When all five gates fire AND the market catalyst follows within the trade window (T+3), the cascade thesis is validated end-to-end on a single name.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CASE 03 / 04 · KLARNA + SEZZLE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8535" y="502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197"/>
                </a:solidFill>
                <a:latin typeface="Cascadia Mono"/>
              </a:rPr>
              <a:t>05  /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5190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9197"/>
                </a:solidFill>
                <a:latin typeface="Cascadia Mono"/>
              </a:rPr>
              <a:t>Verma  ·  UIN 668601217  ·  FIN 580  ·  Spring 2026  ·  Case Studies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853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9197"/>
                </a:solidFill>
                <a:latin typeface="Cascadia Mono"/>
              </a:rPr>
              <a:t>slide  05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10029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21417"/>
                </a:solidFill>
                <a:latin typeface="Aptos Display"/>
              </a:rPr>
              <a:t>Klarna 2024 + Sezzle 2024 — two BNPL false-positive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D5258"/>
                </a:solidFill>
                <a:latin typeface="Aptos"/>
              </a:rPr>
              <a:t>Both fired the BSI gate. Different downstream gates resolved them differently.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98980"/>
            <a:ext cx="457200" cy="2540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06927" y="2377440"/>
            <a:ext cx="2468880" cy="320040"/>
          </a:xfrm>
          <a:prstGeom prst="rect">
            <a:avLst/>
          </a:prstGeom>
          <a:solidFill>
            <a:srgbClr val="E84A27"/>
          </a:solidFill>
          <a:ln w="12700">
            <a:solidFill>
              <a:srgbClr val="E84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6927" y="241401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scadia Mono"/>
              </a:rPr>
              <a:t>OBSERVED · BORDER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21417"/>
                </a:solidFill>
                <a:latin typeface="Aptos"/>
              </a:rPr>
              <a:t>KLARNA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5258"/>
                </a:solidFill>
                <a:latin typeface="Aptos"/>
              </a:rPr>
              <a:t>BSI z = 2.60 around Sep 2024 IPO down-round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37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BSI FIRE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337560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Sep 5, 2024  ·  z = 2.60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645916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216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CATALYST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3721608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IPO down-round; valuation re-mark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029964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1056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DRAWDOWN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4105656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−15% over 3 sessions on news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4414012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4897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WHY BORDERLINE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489704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Private equity event; equity isn't directly tradable on Klarna pre-IPO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798060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8737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KLARNA IN PANEL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4873752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CONTROL firm (active issuer, IG controls)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518210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91295" y="2377440"/>
            <a:ext cx="2468880" cy="3200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91295" y="241401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scadia Mono"/>
              </a:rPr>
              <a:t>FALSE POSITIVE · CAUGHT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8727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21417"/>
                </a:solidFill>
                <a:latin typeface="Aptos"/>
              </a:rPr>
              <a:t>SEZZLE 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8727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5258"/>
                </a:solidFill>
                <a:latin typeface="Aptos"/>
              </a:rPr>
              <a:t>BSI z = 2.60 in Q3 2024  ·  normalisation gate suppressed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727" y="3337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BSI FIRE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07527" y="3337560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Sep 22, 2024  ·  z = 2.60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8727" y="3645916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37216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SUPPRESSION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07527" y="3721608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Denominator-normalisation gate (paper §7.3)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78727" y="4029964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78727" y="41056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WHY SUPPRESSED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527" y="4105656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Complaint-per-customer rate was FLAT; spike was a growth artefact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78727" y="4414012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78727" y="44897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VERIFICATION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7527" y="4489704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No fundamental deterioration in next 90 days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78727" y="4798060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78727" y="48737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TRADE ROUTED?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7527" y="4873752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NO — correctly held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8727" y="518210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4360" y="5486400"/>
            <a:ext cx="11002975" cy="777240"/>
          </a:xfrm>
          <a:prstGeom prst="rect">
            <a:avLst/>
          </a:prstGeom>
          <a:solidFill>
            <a:srgbClr val="FDE8E0"/>
          </a:solidFill>
          <a:ln w="12700">
            <a:solidFill>
              <a:srgbClr val="E84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5778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418"/>
                </a:solidFill>
                <a:latin typeface="Cascadia Mono"/>
              </a:rPr>
              <a:t>LESSON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779008"/>
            <a:ext cx="10545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21417"/>
                </a:solidFill>
                <a:latin typeface="Aptos"/>
              </a:rPr>
              <a:t>Same headline z. Different downstream behavior. Klarna's stress was a real one-time event; Sezzle's was a growth artefact dressed as stress. The normalisation gate is what separated them — and the suppression of Sezzle is the canonical false-positive-caught story for the project.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CASE 05 / 06 · LENDINGCLUB + TRICOLOR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8535" y="502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197"/>
                </a:solidFill>
                <a:latin typeface="Cascadia Mono"/>
              </a:rPr>
              <a:t>06  /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5190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9197"/>
                </a:solidFill>
                <a:latin typeface="Cascadia Mono"/>
              </a:rPr>
              <a:t>Verma  ·  UIN 668601217  ·  FIN 580  ·  Spring 2026  ·  Case Studies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853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9197"/>
                </a:solidFill>
                <a:latin typeface="Cascadia Mono"/>
              </a:rPr>
              <a:t>slide  06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10029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21417"/>
                </a:solidFill>
                <a:latin typeface="Aptos Display"/>
              </a:rPr>
              <a:t>LendingClub 2025 + Tricolor 2025 — recent 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D5258"/>
                </a:solidFill>
                <a:latin typeface="Aptos"/>
              </a:rPr>
              <a:t>Both detected. LendingClub via the case-study narrative; Tricolor via the formal sensitivity_full.csv check.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98980"/>
            <a:ext cx="457200" cy="2540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06927" y="2377440"/>
            <a:ext cx="246888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6927" y="241401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scadia Mono"/>
              </a:rPr>
              <a:t>TRUE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21417"/>
                </a:solidFill>
                <a:latin typeface="Aptos"/>
              </a:rPr>
              <a:t>LENDINGCLUB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5258"/>
                </a:solidFill>
                <a:latin typeface="Aptos"/>
              </a:rPr>
              <a:t>BSI z=2.45 fired 11 days before NCO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37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BSI FIRE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337560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Apr 19, 2025  ·  z = 2.45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645916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7216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CATALYST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3721608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Apr 30, 2025 — NCO ratio step in Q1 print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029964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1056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LEAD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4105656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11 days (shortest of the 5 narrative cases)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4414012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4897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DRAWDOWN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489704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−18% over 4 trading sessions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798060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8737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PILLARS DRIVING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4873752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CFPB + EDGAR XBRL fundamentals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518210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91295" y="2377440"/>
            <a:ext cx="246888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91295" y="241401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scadia Mono"/>
              </a:rPr>
              <a:t>TRUE POSITIVE (FORMAL)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8727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21417"/>
                </a:solidFill>
                <a:latin typeface="Aptos"/>
              </a:rPr>
              <a:t>TRICOLOR 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8727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5258"/>
                </a:solidFill>
                <a:latin typeface="Aptos"/>
              </a:rPr>
              <a:t>Chapter 7 filing  ·  detected ex-ante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727" y="3337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EVENT 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07527" y="3337560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Sep 10, 2025  ·  Chapter 7 bankruptcy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8727" y="3645916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37216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BSI ALERT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07527" y="3721608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Detected — first fire approx. 5 months prior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78727" y="4029964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78727" y="41056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SENSITIVITY 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527" y="4105656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DETECTED in sensitivity_full.csv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78727" y="4414012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78727" y="44897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SUB-SECTOR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7527" y="4489704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Subprime auto (deep tier)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78727" y="4798060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78727" y="48737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NOTABLE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7527" y="4873752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First BSI-detected outright bankruptcy in panel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8727" y="518210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4360" y="5486400"/>
            <a:ext cx="11002975" cy="777240"/>
          </a:xfrm>
          <a:prstGeom prst="rect">
            <a:avLst/>
          </a:prstGeom>
          <a:solidFill>
            <a:srgbClr val="FDE8E0"/>
          </a:solidFill>
          <a:ln w="12700">
            <a:solidFill>
              <a:srgbClr val="E84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5778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418"/>
                </a:solidFill>
                <a:latin typeface="Cascadia Mono"/>
              </a:rPr>
              <a:t>LESSON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779008"/>
            <a:ext cx="10545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21417"/>
                </a:solidFill>
                <a:latin typeface="Aptos"/>
              </a:rPr>
              <a:t>The most recent two cases. LendingClub shows a fast-cycle true positive (11-day lead, mid-cap public name). Tricolor shows the framework's terminal-event capability — detected the actual Chapter 7 filing months ahead of time. Both are still recent enough to be live evidence the system works in 2025.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CASE 07 / 08 · UPSTART + CURO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8535" y="502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197"/>
                </a:solidFill>
                <a:latin typeface="Cascadia Mono"/>
              </a:rPr>
              <a:t>07  /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5190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9197"/>
                </a:solidFill>
                <a:latin typeface="Cascadia Mono"/>
              </a:rPr>
              <a:t>Verma  ·  UIN 668601217  ·  FIN 580  ·  Spring 2026  ·  Case Studies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853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9197"/>
                </a:solidFill>
                <a:latin typeface="Cascadia Mono"/>
              </a:rPr>
              <a:t>slide  07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10029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21417"/>
                </a:solidFill>
                <a:latin typeface="Aptos Display"/>
              </a:rPr>
              <a:t>Upstart 2022 + CURO 2024 — formal EVENT firms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10029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D5258"/>
                </a:solidFill>
                <a:latin typeface="Aptos"/>
              </a:rPr>
              <a:t>Both classified as EVENT firms in universe_27.csv. CURO excluded from the panel due to an SEC name change that broke ingest.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273300"/>
            <a:ext cx="457200" cy="2540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06927" y="2651760"/>
            <a:ext cx="246888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6927" y="268833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scadia Mono"/>
              </a:rPr>
              <a:t>TRUE POSITIVE (FORMAL)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51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21417"/>
                </a:solidFill>
                <a:latin typeface="Aptos"/>
              </a:rPr>
              <a:t>UPSTART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5258"/>
                </a:solidFill>
                <a:latin typeface="Aptos"/>
              </a:rPr>
              <a:t>Warehouse-line earnings disaster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11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EVENT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611880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May 9, 2022 (Q1 earnings call)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920236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9959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CATALYST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3995928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Warehouse-line guidance disaster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304284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3799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PRE-EVENT PRICE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4379976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~$120 (mid-Apr 2022)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4688332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7640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POST-EVENT PRICE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764024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~$30 (within 6 months)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072380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1480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SENSITIVITY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5148072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DETECTED — fire approx. 700+ days prior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545642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532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TOTAL FIRES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5532120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25 weekly z&gt;=2.0 in 2018-2025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5840476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91295" y="2651760"/>
            <a:ext cx="2468880" cy="320040"/>
          </a:xfrm>
          <a:prstGeom prst="rect">
            <a:avLst/>
          </a:prstGeom>
          <a:solidFill>
            <a:srgbClr val="4D5258"/>
          </a:solidFill>
          <a:ln w="12700">
            <a:solidFill>
              <a:srgbClr val="4D5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91295" y="268833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scadia Mono"/>
              </a:rPr>
              <a:t>EXCLUDED · INGEST FAIL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727" y="2651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21417"/>
                </a:solidFill>
                <a:latin typeface="Aptos"/>
              </a:rPr>
              <a:t>CURO 2024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8727" y="301752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5258"/>
                </a:solidFill>
                <a:latin typeface="Aptos"/>
              </a:rPr>
              <a:t>Chapter 11; excluded from panel due to SEC name 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8727" y="3611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EVENT 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07527" y="3611880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Mar 25, 2024  ·  Chapter 11 filing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78727" y="3920236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78727" y="39959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WHY EXCLUDED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527" y="3995928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SEC entity-name change broke CFPB ingest mapping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78727" y="4304284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78727" y="43799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SENSITIVITY ROW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7527" y="4379976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DETECTED in sensitivity_full.csv (despite exclusion)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78727" y="4688332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78727" y="47640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HONEST DISCLOSURE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7527" y="4764024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Slide 17 of main deck mentions this exclusion explicitly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8727" y="5072380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51480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LESSON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7527" y="5148072"/>
            <a:ext cx="3489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Schema/name-change drift is a real ingest risk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78727" y="545642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4360" y="5486400"/>
            <a:ext cx="11002975" cy="777240"/>
          </a:xfrm>
          <a:prstGeom prst="rect">
            <a:avLst/>
          </a:prstGeom>
          <a:solidFill>
            <a:srgbClr val="FDE8E0"/>
          </a:solidFill>
          <a:ln w="12700">
            <a:solidFill>
              <a:srgbClr val="E84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55778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418"/>
                </a:solidFill>
                <a:latin typeface="Cascadia Mono"/>
              </a:rPr>
              <a:t>LESSON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5779008"/>
            <a:ext cx="10545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21417"/>
                </a:solidFill>
                <a:latin typeface="Aptos"/>
              </a:rPr>
              <a:t>Upstart shows long-lead-time detection — fires fired more than two years before the Q1 2022 earnings event. CURO shows a real-world data-engineering failure: an SEC entity-name change broke the ingest pipeline. The honest disclosure of CURO's exclusion is part of the project's anti-HARKing discipline.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CASE 09 · BRIDGECREST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8535" y="502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197"/>
                </a:solidFill>
                <a:latin typeface="Cascadia Mono"/>
              </a:rPr>
              <a:t>08  /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5190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9197"/>
                </a:solidFill>
                <a:latin typeface="Cascadia Mono"/>
              </a:rPr>
              <a:t>Verma  ·  UIN 668601217  ·  FIN 580  ·  Spring 2026  ·  Case Studies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853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9197"/>
                </a:solidFill>
                <a:latin typeface="Cascadia Mono"/>
              </a:rPr>
              <a:t>slide  08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10029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21417"/>
                </a:solidFill>
                <a:latin typeface="Aptos Display"/>
              </a:rPr>
              <a:t>Bridgecrest 2022 — Carvana subsidiary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D5258"/>
                </a:solidFill>
                <a:latin typeface="Aptos"/>
              </a:rPr>
              <a:t>Carvana's wholly-owned subprime auto-finance subsidiary. Detected as part of the Carvana cluster.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98980"/>
            <a:ext cx="457200" cy="2540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28455" y="1005840"/>
            <a:ext cx="2468880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8455" y="104241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scadia Mono"/>
              </a:rPr>
              <a:t>TRUE POSITIVE (FORMAL)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KEY 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SUB-SECTOR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74320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Subprime auto-finance (Carvana subsidiary)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03326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108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EVENT 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10896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Aug 15, 2022 (linked to Carvana)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39902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474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SENSITIVITY 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47472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DETECTED in sensitivity_full.csv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76478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DETECTION LEAD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84048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approx. 720+ days pre-event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13054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2062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WHY INCLUDED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20624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Distinct CFPB filer; complaints route here, not Carvana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49630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5720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CFPB VOLUME SHARE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57200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~30% of Carvana-group complaints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486206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937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CO-EVENT WITH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493776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Carvana 2022 going-concern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522782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3035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D5258"/>
                </a:solidFill>
                <a:latin typeface="Cascadia Mono"/>
              </a:rPr>
              <a:t>METHODOLOGICAL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5303520"/>
            <a:ext cx="3032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Aptos"/>
              </a:rPr>
              <a:t>Bridgecrest fires count as separate detections in the panel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5593588"/>
            <a:ext cx="5227167" cy="508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78727" y="237744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NARRATIVE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8727" y="2743200"/>
            <a:ext cx="531860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2262B"/>
                </a:solidFill>
                <a:latin typeface="Aptos"/>
              </a:rPr>
              <a:t>Bridgecrest is the lending arm of Carvana — a separate legal entity that holds the auto loans Carvana originates. CFPB complaints about loan servicing, payment processing, and collections all route to Bridgecrest, not Carvana directly.
Treating Bridgecrest as a separate panel firm is methodologically important. It means the Carvana cluster has TWO complaint streams (Carvana for sales/delivery issues; Bridgecrest for loan servicing). Both fired BSI ahead of the August 2022 going-concern event.
From a sensitivity standpoint, Bridgecrest counts as one of the 5/5 detected event firms — and its detection adds a second independent source of confirmation that the Carvana group was in distress before the market knew.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5486400"/>
            <a:ext cx="11002975" cy="777240"/>
          </a:xfrm>
          <a:prstGeom prst="rect">
            <a:avLst/>
          </a:prstGeom>
          <a:solidFill>
            <a:srgbClr val="FDE8E0"/>
          </a:solidFill>
          <a:ln w="12700">
            <a:solidFill>
              <a:srgbClr val="E84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5778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418"/>
                </a:solidFill>
                <a:latin typeface="Cascadia Mono"/>
              </a:rPr>
              <a:t>LESSON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779008"/>
            <a:ext cx="10545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1">
                <a:solidFill>
                  <a:srgbClr val="121417"/>
                </a:solidFill>
                <a:latin typeface="Aptos"/>
              </a:rPr>
              <a:t>Subsidiary firms with their own CFPB filing identity should be tracked as independent panel members. The detection redundancy is a feature, not double-counting — the two streams measure different aspects of consumer pain.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CASE 10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8535" y="502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197"/>
                </a:solidFill>
                <a:latin typeface="Cascadia Mono"/>
              </a:rPr>
              <a:t>09  /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5190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9197"/>
                </a:solidFill>
                <a:latin typeface="Cascadia Mono"/>
              </a:rPr>
              <a:t>Verma  ·  UIN 668601217  ·  FIN 580  ·  Spring 2026  ·  Case Studies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853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9197"/>
                </a:solidFill>
                <a:latin typeface="Cascadia Mono"/>
              </a:rPr>
              <a:t>slide  09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10029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21417"/>
                </a:solidFill>
                <a:latin typeface="Aptos Display"/>
              </a:rPr>
              <a:t>Two-pod architecture — BearWatch + Equity Monitor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10029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D5258"/>
                </a:solidFill>
                <a:latin typeface="Aptos"/>
              </a:rPr>
              <a:t>Architectural case study, not a firm. Demonstrates why two independent decision logics on the same ticker are methodologically cleaner than a single fused pod.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273300"/>
            <a:ext cx="457200" cy="2540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651760"/>
            <a:ext cx="5318607" cy="2926080"/>
          </a:xfrm>
          <a:prstGeom prst="rect">
            <a:avLst/>
          </a:prstGeom>
          <a:solidFill>
            <a:srgbClr val="FDE8E0"/>
          </a:solidFill>
          <a:ln w="19050">
            <a:solidFill>
              <a:srgbClr val="E84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418"/>
                </a:solidFill>
                <a:latin typeface="Cascadia Mono"/>
              </a:rPr>
              <a:t>BEARWATCH POD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5468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21417"/>
                </a:solidFill>
                <a:latin typeface="Aptos Display"/>
              </a:rPr>
              <a:t>Alt-data signal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4861407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2262B"/>
                </a:solidFill>
                <a:latin typeface="Aptos"/>
              </a:rPr>
              <a:t>Inputs:  CFPB complaints, App Store reviews, Reddit, Bluesky, Google Trends, ABS signals, macro confound, firm vitality.
Decision:  5-gate stack (BSI · SCP · MOVE · CCD · FDS). All five must fire.
Trades:  routed to bearwatch_journal. Position-cap inside the gate stack.
Use case:  consumer-credit distress detection.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727" y="2651760"/>
            <a:ext cx="5318607" cy="2926080"/>
          </a:xfrm>
          <a:prstGeom prst="rect">
            <a:avLst/>
          </a:prstGeom>
          <a:solidFill>
            <a:srgbClr val="F7F8F9"/>
          </a:solidFill>
          <a:ln w="12700">
            <a:solidFill>
              <a:srgbClr val="C8CC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7327" y="2834640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262B"/>
                </a:solidFill>
                <a:latin typeface="Cascadia Mono"/>
              </a:rPr>
              <a:t>EQUITY MONITOR POD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15468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21417"/>
                </a:solidFill>
                <a:latin typeface="Aptos Display"/>
              </a:rPr>
              <a:t>Technical / macro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3657600"/>
            <a:ext cx="4861407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2262B"/>
                </a:solidFill>
                <a:latin typeface="Aptos"/>
              </a:rPr>
              <a:t>Inputs:  Wozniak/CMT framework — Fibonacci, U/D volume, OBV, RSI, Stochastic, Bollinger, ATR.
Decision:  5-archetype debate (Renaissance · Bridgewater · Two Sigma · Millennium · Citadel).
Trades:  routed to equity_monitor_journal. Independent position-cap.
Use case:  technical / macro signal trading on any ticker (open universe).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760720"/>
            <a:ext cx="11002975" cy="868680"/>
          </a:xfrm>
          <a:prstGeom prst="rect">
            <a:avLst/>
          </a:prstGeom>
          <a:solidFill>
            <a:srgbClr val="FDE8E0"/>
          </a:solidFill>
          <a:ln w="19050">
            <a:solidFill>
              <a:srgbClr val="E84A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52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418"/>
                </a:solidFill>
                <a:latin typeface="Cascadia Mono"/>
              </a:rPr>
              <a:t>CROSS-SOURCE EXPOSURE 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126480"/>
            <a:ext cx="1045433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2262B"/>
                </a:solidFill>
                <a:latin typeface="Aptos"/>
              </a:rPr>
              <a:t>Joint-portfolio safeguard. Reads BOTH journals; if combined open exposure on a single ticker would exceed 20% of equity, warns the operator and requires an explicit override. Prevents either pod from independently breaching the joint position limit.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ascadia Mono"/>
              </a:rP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8535" y="5029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8C9197"/>
                </a:solidFill>
                <a:latin typeface="Cascadia Mono"/>
              </a:rPr>
              <a:t>10  /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5190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9197"/>
                </a:solidFill>
                <a:latin typeface="Cascadia Mono"/>
              </a:rPr>
              <a:t>Verma  ·  UIN 668601217  ·  FIN 580  ·  Spring 2026  ·  Case Studies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68535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9197"/>
                </a:solidFill>
                <a:latin typeface="Cascadia Mono"/>
              </a:rPr>
              <a:t>slide  10  /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10029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21417"/>
                </a:solidFill>
                <a:latin typeface="Aptos Display"/>
              </a:rPr>
              <a:t>How to verify any case in this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D5258"/>
                </a:solidFill>
                <a:latin typeface="Aptos"/>
              </a:rPr>
              <a:t>Every claim above is queryable against the warehouse + result CSVs in the GitHub repo and Dropbox bundle.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98980"/>
            <a:ext cx="457200" cy="25400"/>
          </a:xfrm>
          <a:prstGeom prst="rect">
            <a:avLst/>
          </a:prstGeom>
          <a:solidFill>
            <a:srgbClr val="E84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ascadia Mono"/>
              </a:rPr>
              <a:t>VERIFY IN THE WAREHOUSE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34640"/>
            <a:ext cx="5318607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2262B"/>
                </a:solidFill>
                <a:latin typeface="Cascadia Mono"/>
              </a:rPr>
              <a:t>import duckdb
con = duckdb.connect('data/warehouse/warehouse.duckdb', read_only=True)
# CFPB volume per firm
con.execute('''
  SELECT date_trunc(\'week\', received_at) AS wk, COUNT(*)
  FROM cfpb_complaints
  WHERE UPPER(company) LIKE \'%CARVANA%\'
  GROUP BY wk ORDER BY wk
''').fetchdf()
# Compute weekly BSI z-score against rolling baseline
# (full code in scripts/run_all_ingest.sh)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46888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ascadia Mono"/>
              </a:rPr>
              <a:t>AUTHORITATIVE RESULT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727" y="2834640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418"/>
                </a:solidFill>
                <a:latin typeface="Cascadia Mono"/>
              </a:rPr>
              <a:t>paper_results/sensitivity_full.csv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035808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D5258"/>
                </a:solidFill>
                <a:latin typeface="Aptos"/>
              </a:rPr>
              <a:t>5/5 events caught flag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291840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418"/>
                </a:solidFill>
                <a:latin typeface="Cascadia Mono"/>
              </a:rPr>
              <a:t>paper_results/granger_aggregate.csv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3493008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D5258"/>
                </a:solidFill>
                <a:latin typeface="Aptos"/>
              </a:rPr>
              <a:t>23/27 firms reject H0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3749040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418"/>
                </a:solidFill>
                <a:latin typeface="Cascadia Mono"/>
              </a:rPr>
              <a:t>paper_results/bsi_panel.csv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950208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D5258"/>
                </a:solidFill>
                <a:latin typeface="Aptos"/>
              </a:rPr>
              <a:t>panel headline beta=-0.082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4206240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418"/>
                </a:solidFill>
                <a:latin typeface="Cascadia Mono"/>
              </a:rPr>
              <a:t>paper_results/robustness.csv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7" y="4407408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D5258"/>
                </a:solidFill>
                <a:latin typeface="Aptos"/>
              </a:rPr>
              <a:t>alt-threshold sensitivity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4663440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418"/>
                </a:solidFill>
                <a:latin typeface="Cascadia Mono"/>
              </a:rPr>
              <a:t>paper_results/baseline_comparison.csv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864608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D5258"/>
                </a:solidFill>
                <a:latin typeface="Aptos"/>
              </a:rPr>
              <a:t>macro vs CFPB vs BSI specs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5120640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418"/>
                </a:solidFill>
                <a:latin typeface="Cascadia Mono"/>
              </a:rPr>
              <a:t>paper_results/universe_27.csv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5321808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D5258"/>
                </a:solidFill>
                <a:latin typeface="Aptos"/>
              </a:rPr>
              <a:t>EVENT vs CONTROL classifications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5577840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418"/>
                </a:solidFill>
                <a:latin typeface="Cascadia Mono"/>
              </a:rPr>
              <a:t>bloomberg_exports/_combined_AFRMT_prices.csv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8727" y="5779008"/>
            <a:ext cx="531860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D5258"/>
                </a:solidFill>
                <a:latin typeface="Aptos"/>
              </a:rPr>
              <a:t>AFRMT junior-tranche prices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5574665"/>
            <a:ext cx="11002975" cy="6350"/>
          </a:xfrm>
          <a:prstGeom prst="rect">
            <a:avLst/>
          </a:prstGeom>
          <a:solidFill>
            <a:srgbClr val="E5E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715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ascadia Mono"/>
              </a:rPr>
              <a:t>GITHUB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5715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1417"/>
                </a:solidFill>
                <a:latin typeface="Cascadia Mono"/>
              </a:rPr>
              <a:t>github.com/vermasidd1502/bnpl-trap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0350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ascadia Mono"/>
              </a:rPr>
              <a:t>DROPBOX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65960" y="60350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2262B"/>
                </a:solidFill>
                <a:latin typeface="Aptos"/>
              </a:rPr>
              <a:t>830 MB bundle  ·  paper + deck + data + pod  ·  link in the submission email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