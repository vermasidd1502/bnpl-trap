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85800"/>
            <a:ext cx="9144000" cy="274320"/>
          </a:xfrm>
          <a:prstGeom prst="rect">
            <a:avLst/>
          </a:prstGeom>
          <a:noFill/>
        </p:spPr>
        <p:txBody>
          <a:bodyPr wrap="square" lIns="0" rIns="0" tIns="0" bIns="0" anchor="t">
            <a:spAutoFit/>
          </a:bodyPr>
          <a:lstStyle/>
          <a:p>
            <a:pPr algn="l"/>
            <a:r>
              <a:rPr sz="1000" b="1" i="0">
                <a:solidFill>
                  <a:srgbClr val="E84A27"/>
                </a:solidFill>
                <a:latin typeface="Cascadia Mono"/>
              </a:rPr>
              <a:t>SUPPLEMENTARY · CASE-STUDIES REFERENCE</a:t>
            </a:r>
          </a:p>
        </p:txBody>
      </p:sp>
      <p:sp>
        <p:nvSpPr>
          <p:cNvPr id="4" name="TextBox 3"/>
          <p:cNvSpPr txBox="1"/>
          <p:nvPr/>
        </p:nvSpPr>
        <p:spPr>
          <a:xfrm>
            <a:off x="594360" y="1920240"/>
            <a:ext cx="11002975" cy="1097280"/>
          </a:xfrm>
          <a:prstGeom prst="rect">
            <a:avLst/>
          </a:prstGeom>
          <a:noFill/>
        </p:spPr>
        <p:txBody>
          <a:bodyPr wrap="square" lIns="0" rIns="0" tIns="0" bIns="0" anchor="t">
            <a:spAutoFit/>
          </a:bodyPr>
          <a:lstStyle/>
          <a:p>
            <a:pPr algn="ctr">
              <a:lnSpc>
                <a:spcPct val="105000"/>
              </a:lnSpc>
            </a:pPr>
            <a:r>
              <a:rPr sz="6400" b="1" i="0">
                <a:solidFill>
                  <a:srgbClr val="121417"/>
                </a:solidFill>
                <a:latin typeface="Aptos Display"/>
              </a:rPr>
              <a:t>Case Studies</a:t>
            </a:r>
          </a:p>
        </p:txBody>
      </p:sp>
      <p:sp>
        <p:nvSpPr>
          <p:cNvPr id="5" name="TextBox 4"/>
          <p:cNvSpPr txBox="1"/>
          <p:nvPr/>
        </p:nvSpPr>
        <p:spPr>
          <a:xfrm>
            <a:off x="594360" y="3108960"/>
            <a:ext cx="11002975" cy="502920"/>
          </a:xfrm>
          <a:prstGeom prst="rect">
            <a:avLst/>
          </a:prstGeom>
          <a:noFill/>
        </p:spPr>
        <p:txBody>
          <a:bodyPr wrap="square" lIns="0" rIns="0" tIns="0" bIns="0" anchor="t">
            <a:spAutoFit/>
          </a:bodyPr>
          <a:lstStyle/>
          <a:p>
            <a:pPr algn="ctr"/>
            <a:r>
              <a:rPr sz="2200" b="0" i="0">
                <a:solidFill>
                  <a:srgbClr val="4D5258"/>
                </a:solidFill>
                <a:latin typeface="Aptos"/>
              </a:rPr>
              <a:t>Behavioural Stress Index — applied case-by-case</a:t>
            </a:r>
          </a:p>
        </p:txBody>
      </p:sp>
      <p:sp>
        <p:nvSpPr>
          <p:cNvPr id="6" name="Rectangle 5"/>
          <p:cNvSpPr/>
          <p:nvPr/>
        </p:nvSpPr>
        <p:spPr>
          <a:xfrm>
            <a:off x="5638647" y="3824605"/>
            <a:ext cx="914400" cy="3175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4206240"/>
            <a:ext cx="8259775" cy="1097280"/>
          </a:xfrm>
          <a:prstGeom prst="rect">
            <a:avLst/>
          </a:prstGeom>
          <a:noFill/>
        </p:spPr>
        <p:txBody>
          <a:bodyPr wrap="square" lIns="0" rIns="0" tIns="0" bIns="0" anchor="t">
            <a:spAutoFit/>
          </a:bodyPr>
          <a:lstStyle/>
          <a:p>
            <a:pPr algn="ctr">
              <a:lnSpc>
                <a:spcPct val="140000"/>
              </a:lnSpc>
            </a:pPr>
            <a:r>
              <a:rPr sz="1400" b="0" i="1">
                <a:solidFill>
                  <a:srgbClr val="22262B"/>
                </a:solidFill>
                <a:latin typeface="Aptos"/>
              </a:rPr>
              <a:t>A reference document — not for live presentation. Each slide documents one case the framework was applied to: what fired, what was suppressed, what the gates said, what happened.</a:t>
            </a:r>
          </a:p>
        </p:txBody>
      </p:sp>
      <p:sp>
        <p:nvSpPr>
          <p:cNvPr id="8" name="Rectangle 7"/>
          <p:cNvSpPr/>
          <p:nvPr/>
        </p:nvSpPr>
        <p:spPr>
          <a:xfrm>
            <a:off x="4267047" y="5481638"/>
            <a:ext cx="3657600" cy="9525"/>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669280"/>
            <a:ext cx="11002975" cy="320040"/>
          </a:xfrm>
          <a:prstGeom prst="rect">
            <a:avLst/>
          </a:prstGeom>
          <a:noFill/>
        </p:spPr>
        <p:txBody>
          <a:bodyPr wrap="square" lIns="0" rIns="0" tIns="0" bIns="0" anchor="t">
            <a:spAutoFit/>
          </a:bodyPr>
          <a:lstStyle/>
          <a:p>
            <a:pPr algn="ctr"/>
            <a:r>
              <a:rPr sz="1400" b="1" i="0">
                <a:solidFill>
                  <a:srgbClr val="121417"/>
                </a:solidFill>
                <a:latin typeface="Aptos"/>
              </a:rPr>
              <a:t>Siddharth Verma  ·  UIN 668601217</a:t>
            </a:r>
          </a:p>
        </p:txBody>
      </p:sp>
      <p:sp>
        <p:nvSpPr>
          <p:cNvPr id="10" name="TextBox 9"/>
          <p:cNvSpPr txBox="1"/>
          <p:nvPr/>
        </p:nvSpPr>
        <p:spPr>
          <a:xfrm>
            <a:off x="594360" y="5943600"/>
            <a:ext cx="11002975" cy="274320"/>
          </a:xfrm>
          <a:prstGeom prst="rect">
            <a:avLst/>
          </a:prstGeom>
          <a:noFill/>
        </p:spPr>
        <p:txBody>
          <a:bodyPr wrap="square" lIns="0" rIns="0" tIns="0" bIns="0" anchor="t">
            <a:spAutoFit/>
          </a:bodyPr>
          <a:lstStyle/>
          <a:p>
            <a:pPr algn="ctr"/>
            <a:r>
              <a:rPr sz="1100" b="0" i="0">
                <a:solidFill>
                  <a:srgbClr val="4D5258"/>
                </a:solidFill>
                <a:latin typeface="Cascadia Mono"/>
              </a:rPr>
              <a:t>FIN 580  ·  Spring 2026  ·  github.com/vermasidd1502/bnpl-trap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INDEX</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02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02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All cases at a glance</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Nine firms across BNPL, subprime auto, and marketplace lending — plus one architectural case study.</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95728"/>
            <a:ext cx="2286000" cy="256032"/>
          </a:xfrm>
          <a:prstGeom prst="rect">
            <a:avLst/>
          </a:prstGeom>
          <a:noFill/>
        </p:spPr>
        <p:txBody>
          <a:bodyPr wrap="square" lIns="0" rIns="0" tIns="0" bIns="0" anchor="t">
            <a:spAutoFit/>
          </a:bodyPr>
          <a:lstStyle/>
          <a:p>
            <a:pPr algn="l"/>
            <a:r>
              <a:rPr sz="900" b="1" i="0">
                <a:solidFill>
                  <a:srgbClr val="E84A27"/>
                </a:solidFill>
                <a:latin typeface="Cascadia Mono"/>
              </a:rPr>
              <a:t>CASE</a:t>
            </a:r>
          </a:p>
        </p:txBody>
      </p:sp>
      <p:sp>
        <p:nvSpPr>
          <p:cNvPr id="12" name="TextBox 11"/>
          <p:cNvSpPr txBox="1"/>
          <p:nvPr/>
        </p:nvSpPr>
        <p:spPr>
          <a:xfrm>
            <a:off x="3017520" y="2395728"/>
            <a:ext cx="1188720" cy="256032"/>
          </a:xfrm>
          <a:prstGeom prst="rect">
            <a:avLst/>
          </a:prstGeom>
          <a:noFill/>
        </p:spPr>
        <p:txBody>
          <a:bodyPr wrap="square" lIns="0" rIns="0" tIns="0" bIns="0" anchor="t">
            <a:spAutoFit/>
          </a:bodyPr>
          <a:lstStyle/>
          <a:p>
            <a:pPr algn="l"/>
            <a:r>
              <a:rPr sz="900" b="1" i="0">
                <a:solidFill>
                  <a:srgbClr val="E84A27"/>
                </a:solidFill>
                <a:latin typeface="Cascadia Mono"/>
              </a:rPr>
              <a:t>DATE</a:t>
            </a:r>
          </a:p>
        </p:txBody>
      </p:sp>
      <p:sp>
        <p:nvSpPr>
          <p:cNvPr id="13" name="TextBox 12"/>
          <p:cNvSpPr txBox="1"/>
          <p:nvPr/>
        </p:nvSpPr>
        <p:spPr>
          <a:xfrm>
            <a:off x="4297680" y="2395728"/>
            <a:ext cx="2377440" cy="256032"/>
          </a:xfrm>
          <a:prstGeom prst="rect">
            <a:avLst/>
          </a:prstGeom>
          <a:noFill/>
        </p:spPr>
        <p:txBody>
          <a:bodyPr wrap="square" lIns="0" rIns="0" tIns="0" bIns="0" anchor="t">
            <a:spAutoFit/>
          </a:bodyPr>
          <a:lstStyle/>
          <a:p>
            <a:pPr algn="l"/>
            <a:r>
              <a:rPr sz="900" b="1" i="0">
                <a:solidFill>
                  <a:srgbClr val="E84A27"/>
                </a:solidFill>
                <a:latin typeface="Cascadia Mono"/>
              </a:rPr>
              <a:t>VERDICT</a:t>
            </a:r>
          </a:p>
        </p:txBody>
      </p:sp>
      <p:sp>
        <p:nvSpPr>
          <p:cNvPr id="14" name="TextBox 13"/>
          <p:cNvSpPr txBox="1"/>
          <p:nvPr/>
        </p:nvSpPr>
        <p:spPr>
          <a:xfrm>
            <a:off x="6766560" y="2395728"/>
            <a:ext cx="3200400" cy="256032"/>
          </a:xfrm>
          <a:prstGeom prst="rect">
            <a:avLst/>
          </a:prstGeom>
          <a:noFill/>
        </p:spPr>
        <p:txBody>
          <a:bodyPr wrap="square" lIns="0" rIns="0" tIns="0" bIns="0" anchor="t">
            <a:spAutoFit/>
          </a:bodyPr>
          <a:lstStyle/>
          <a:p>
            <a:pPr algn="l"/>
            <a:r>
              <a:rPr sz="900" b="1" i="0">
                <a:solidFill>
                  <a:srgbClr val="E84A27"/>
                </a:solidFill>
                <a:latin typeface="Cascadia Mono"/>
              </a:rPr>
              <a:t>WHAT BSI DID</a:t>
            </a:r>
          </a:p>
        </p:txBody>
      </p:sp>
      <p:sp>
        <p:nvSpPr>
          <p:cNvPr id="15" name="TextBox 14"/>
          <p:cNvSpPr txBox="1"/>
          <p:nvPr/>
        </p:nvSpPr>
        <p:spPr>
          <a:xfrm>
            <a:off x="10058400" y="2395728"/>
            <a:ext cx="1463040" cy="256032"/>
          </a:xfrm>
          <a:prstGeom prst="rect">
            <a:avLst/>
          </a:prstGeom>
          <a:noFill/>
        </p:spPr>
        <p:txBody>
          <a:bodyPr wrap="square" lIns="0" rIns="0" tIns="0" bIns="0" anchor="t">
            <a:spAutoFit/>
          </a:bodyPr>
          <a:lstStyle/>
          <a:p>
            <a:pPr algn="l"/>
            <a:r>
              <a:rPr sz="900" b="1" i="0">
                <a:solidFill>
                  <a:srgbClr val="E84A27"/>
                </a:solidFill>
                <a:latin typeface="Cascadia Mono"/>
              </a:rPr>
              <a:t>OUTCOME</a:t>
            </a:r>
          </a:p>
        </p:txBody>
      </p:sp>
      <p:sp>
        <p:nvSpPr>
          <p:cNvPr id="16" name="Rectangle 15"/>
          <p:cNvSpPr/>
          <p:nvPr/>
        </p:nvSpPr>
        <p:spPr>
          <a:xfrm>
            <a:off x="594360" y="2681986"/>
            <a:ext cx="11002975" cy="12700"/>
          </a:xfrm>
          <a:prstGeom prst="rect">
            <a:avLst/>
          </a:prstGeom>
          <a:solidFill>
            <a:srgbClr val="C8CC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779776"/>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Carvana 2022</a:t>
            </a:r>
          </a:p>
        </p:txBody>
      </p:sp>
      <p:sp>
        <p:nvSpPr>
          <p:cNvPr id="18" name="TextBox 17"/>
          <p:cNvSpPr txBox="1"/>
          <p:nvPr/>
        </p:nvSpPr>
        <p:spPr>
          <a:xfrm>
            <a:off x="3017520" y="2779776"/>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Sep 2021</a:t>
            </a:r>
          </a:p>
        </p:txBody>
      </p:sp>
      <p:sp>
        <p:nvSpPr>
          <p:cNvPr id="19" name="TextBox 18"/>
          <p:cNvSpPr txBox="1"/>
          <p:nvPr/>
        </p:nvSpPr>
        <p:spPr>
          <a:xfrm>
            <a:off x="4297680" y="2779776"/>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a:t>
            </a:r>
          </a:p>
        </p:txBody>
      </p:sp>
      <p:sp>
        <p:nvSpPr>
          <p:cNvPr id="20" name="TextBox 19"/>
          <p:cNvSpPr txBox="1"/>
          <p:nvPr/>
        </p:nvSpPr>
        <p:spPr>
          <a:xfrm>
            <a:off x="6766560" y="2779776"/>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weekly z=2.65 fired six weeks after $370 peak</a:t>
            </a:r>
          </a:p>
        </p:txBody>
      </p:sp>
      <p:sp>
        <p:nvSpPr>
          <p:cNvPr id="21" name="TextBox 20"/>
          <p:cNvSpPr txBox="1"/>
          <p:nvPr/>
        </p:nvSpPr>
        <p:spPr>
          <a:xfrm>
            <a:off x="10058400" y="2779776"/>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−98% in 15 mo</a:t>
            </a:r>
          </a:p>
        </p:txBody>
      </p:sp>
      <p:sp>
        <p:nvSpPr>
          <p:cNvPr id="22" name="Rectangle 21"/>
          <p:cNvSpPr/>
          <p:nvPr/>
        </p:nvSpPr>
        <p:spPr>
          <a:xfrm>
            <a:off x="594360" y="3051556"/>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090672"/>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Bridgecrest 2022</a:t>
            </a:r>
          </a:p>
        </p:txBody>
      </p:sp>
      <p:sp>
        <p:nvSpPr>
          <p:cNvPr id="24" name="TextBox 23"/>
          <p:cNvSpPr txBox="1"/>
          <p:nvPr/>
        </p:nvSpPr>
        <p:spPr>
          <a:xfrm>
            <a:off x="3017520" y="3090672"/>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2022-08-15</a:t>
            </a:r>
          </a:p>
        </p:txBody>
      </p:sp>
      <p:sp>
        <p:nvSpPr>
          <p:cNvPr id="25" name="TextBox 24"/>
          <p:cNvSpPr txBox="1"/>
          <p:nvPr/>
        </p:nvSpPr>
        <p:spPr>
          <a:xfrm>
            <a:off x="4297680" y="3090672"/>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 (formal)</a:t>
            </a:r>
          </a:p>
        </p:txBody>
      </p:sp>
      <p:sp>
        <p:nvSpPr>
          <p:cNvPr id="26" name="TextBox 25"/>
          <p:cNvSpPr txBox="1"/>
          <p:nvPr/>
        </p:nvSpPr>
        <p:spPr>
          <a:xfrm>
            <a:off x="6766560" y="3090672"/>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Carvana subsidiary; co-event detection</a:t>
            </a:r>
          </a:p>
        </p:txBody>
      </p:sp>
      <p:sp>
        <p:nvSpPr>
          <p:cNvPr id="27" name="TextBox 26"/>
          <p:cNvSpPr txBox="1"/>
          <p:nvPr/>
        </p:nvSpPr>
        <p:spPr>
          <a:xfrm>
            <a:off x="10058400" y="3090672"/>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co-event</a:t>
            </a:r>
          </a:p>
        </p:txBody>
      </p:sp>
      <p:sp>
        <p:nvSpPr>
          <p:cNvPr id="28" name="Rectangle 27"/>
          <p:cNvSpPr/>
          <p:nvPr/>
        </p:nvSpPr>
        <p:spPr>
          <a:xfrm>
            <a:off x="594360" y="3362452"/>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401568"/>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Upstart 2022</a:t>
            </a:r>
          </a:p>
        </p:txBody>
      </p:sp>
      <p:sp>
        <p:nvSpPr>
          <p:cNvPr id="30" name="TextBox 29"/>
          <p:cNvSpPr txBox="1"/>
          <p:nvPr/>
        </p:nvSpPr>
        <p:spPr>
          <a:xfrm>
            <a:off x="3017520" y="3401568"/>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2022-05-09</a:t>
            </a:r>
          </a:p>
        </p:txBody>
      </p:sp>
      <p:sp>
        <p:nvSpPr>
          <p:cNvPr id="31" name="TextBox 30"/>
          <p:cNvSpPr txBox="1"/>
          <p:nvPr/>
        </p:nvSpPr>
        <p:spPr>
          <a:xfrm>
            <a:off x="4297680" y="3401568"/>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 (formal)</a:t>
            </a:r>
          </a:p>
        </p:txBody>
      </p:sp>
      <p:sp>
        <p:nvSpPr>
          <p:cNvPr id="32" name="TextBox 31"/>
          <p:cNvSpPr txBox="1"/>
          <p:nvPr/>
        </p:nvSpPr>
        <p:spPr>
          <a:xfrm>
            <a:off x="6766560" y="3401568"/>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detected ex-ante; warehouse-line earnings</a:t>
            </a:r>
          </a:p>
        </p:txBody>
      </p:sp>
      <p:sp>
        <p:nvSpPr>
          <p:cNvPr id="33" name="TextBox 32"/>
          <p:cNvSpPr txBox="1"/>
          <p:nvPr/>
        </p:nvSpPr>
        <p:spPr>
          <a:xfrm>
            <a:off x="10058400" y="3401568"/>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−85% peak-to-trough</a:t>
            </a:r>
          </a:p>
        </p:txBody>
      </p:sp>
      <p:sp>
        <p:nvSpPr>
          <p:cNvPr id="34" name="Rectangle 33"/>
          <p:cNvSpPr/>
          <p:nvPr/>
        </p:nvSpPr>
        <p:spPr>
          <a:xfrm>
            <a:off x="594360" y="3673348"/>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712464"/>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CURO 2024</a:t>
            </a:r>
          </a:p>
        </p:txBody>
      </p:sp>
      <p:sp>
        <p:nvSpPr>
          <p:cNvPr id="36" name="TextBox 35"/>
          <p:cNvSpPr txBox="1"/>
          <p:nvPr/>
        </p:nvSpPr>
        <p:spPr>
          <a:xfrm>
            <a:off x="3017520" y="3712464"/>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2024-03-25</a:t>
            </a:r>
          </a:p>
        </p:txBody>
      </p:sp>
      <p:sp>
        <p:nvSpPr>
          <p:cNvPr id="37" name="TextBox 36"/>
          <p:cNvSpPr txBox="1"/>
          <p:nvPr/>
        </p:nvSpPr>
        <p:spPr>
          <a:xfrm>
            <a:off x="4297680" y="3712464"/>
            <a:ext cx="2377440" cy="310896"/>
          </a:xfrm>
          <a:prstGeom prst="rect">
            <a:avLst/>
          </a:prstGeom>
          <a:noFill/>
        </p:spPr>
        <p:txBody>
          <a:bodyPr wrap="square" lIns="0" rIns="0" tIns="0" bIns="0" anchor="t">
            <a:spAutoFit/>
          </a:bodyPr>
          <a:lstStyle/>
          <a:p>
            <a:pPr algn="l">
              <a:lnSpc>
                <a:spcPct val="120000"/>
              </a:lnSpc>
            </a:pPr>
            <a:r>
              <a:rPr sz="950" b="1" i="0">
                <a:solidFill>
                  <a:srgbClr val="6B727C"/>
                </a:solidFill>
                <a:latin typeface="Aptos"/>
              </a:rPr>
              <a:t>EXCLUDED (ingest)</a:t>
            </a:r>
          </a:p>
        </p:txBody>
      </p:sp>
      <p:sp>
        <p:nvSpPr>
          <p:cNvPr id="38" name="TextBox 37"/>
          <p:cNvSpPr txBox="1"/>
          <p:nvPr/>
        </p:nvSpPr>
        <p:spPr>
          <a:xfrm>
            <a:off x="6766560" y="3712464"/>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detected; SEC name change broke ingest</a:t>
            </a:r>
          </a:p>
        </p:txBody>
      </p:sp>
      <p:sp>
        <p:nvSpPr>
          <p:cNvPr id="39" name="TextBox 38"/>
          <p:cNvSpPr txBox="1"/>
          <p:nvPr/>
        </p:nvSpPr>
        <p:spPr>
          <a:xfrm>
            <a:off x="10058400" y="3712464"/>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Chapter 11</a:t>
            </a:r>
          </a:p>
        </p:txBody>
      </p:sp>
      <p:sp>
        <p:nvSpPr>
          <p:cNvPr id="40" name="Rectangle 39"/>
          <p:cNvSpPr/>
          <p:nvPr/>
        </p:nvSpPr>
        <p:spPr>
          <a:xfrm>
            <a:off x="594360" y="3984244"/>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023360"/>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Affirm 2023</a:t>
            </a:r>
          </a:p>
        </p:txBody>
      </p:sp>
      <p:sp>
        <p:nvSpPr>
          <p:cNvPr id="42" name="TextBox 41"/>
          <p:cNvSpPr txBox="1"/>
          <p:nvPr/>
        </p:nvSpPr>
        <p:spPr>
          <a:xfrm>
            <a:off x="3017520" y="4023360"/>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May 2023</a:t>
            </a:r>
          </a:p>
        </p:txBody>
      </p:sp>
      <p:sp>
        <p:nvSpPr>
          <p:cNvPr id="43" name="TextBox 42"/>
          <p:cNvSpPr txBox="1"/>
          <p:nvPr/>
        </p:nvSpPr>
        <p:spPr>
          <a:xfrm>
            <a:off x="4297680" y="4023360"/>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a:t>
            </a:r>
          </a:p>
        </p:txBody>
      </p:sp>
      <p:sp>
        <p:nvSpPr>
          <p:cNvPr id="44" name="TextBox 43"/>
          <p:cNvSpPr txBox="1"/>
          <p:nvPr/>
        </p:nvSpPr>
        <p:spPr>
          <a:xfrm>
            <a:off x="6766560" y="4023360"/>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z=2.30 fired 18 days before Q3 guidance cut</a:t>
            </a:r>
          </a:p>
        </p:txBody>
      </p:sp>
      <p:sp>
        <p:nvSpPr>
          <p:cNvPr id="45" name="TextBox 44"/>
          <p:cNvSpPr txBox="1"/>
          <p:nvPr/>
        </p:nvSpPr>
        <p:spPr>
          <a:xfrm>
            <a:off x="10058400" y="4023360"/>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−27% / 2 sessions</a:t>
            </a:r>
          </a:p>
        </p:txBody>
      </p:sp>
      <p:sp>
        <p:nvSpPr>
          <p:cNvPr id="46" name="Rectangle 45"/>
          <p:cNvSpPr/>
          <p:nvPr/>
        </p:nvSpPr>
        <p:spPr>
          <a:xfrm>
            <a:off x="594360" y="4295140"/>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4334256"/>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Klarna 2024</a:t>
            </a:r>
          </a:p>
        </p:txBody>
      </p:sp>
      <p:sp>
        <p:nvSpPr>
          <p:cNvPr id="48" name="TextBox 47"/>
          <p:cNvSpPr txBox="1"/>
          <p:nvPr/>
        </p:nvSpPr>
        <p:spPr>
          <a:xfrm>
            <a:off x="3017520" y="4334256"/>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Sep 2024</a:t>
            </a:r>
          </a:p>
        </p:txBody>
      </p:sp>
      <p:sp>
        <p:nvSpPr>
          <p:cNvPr id="49" name="TextBox 48"/>
          <p:cNvSpPr txBox="1"/>
          <p:nvPr/>
        </p:nvSpPr>
        <p:spPr>
          <a:xfrm>
            <a:off x="4297680" y="4334256"/>
            <a:ext cx="2377440" cy="310896"/>
          </a:xfrm>
          <a:prstGeom prst="rect">
            <a:avLst/>
          </a:prstGeom>
          <a:noFill/>
        </p:spPr>
        <p:txBody>
          <a:bodyPr wrap="square" lIns="0" rIns="0" tIns="0" bIns="0" anchor="t">
            <a:spAutoFit/>
          </a:bodyPr>
          <a:lstStyle/>
          <a:p>
            <a:pPr algn="l">
              <a:lnSpc>
                <a:spcPct val="120000"/>
              </a:lnSpc>
            </a:pPr>
            <a:r>
              <a:rPr sz="950" b="1" i="0">
                <a:solidFill>
                  <a:srgbClr val="6B727C"/>
                </a:solidFill>
                <a:latin typeface="Aptos"/>
              </a:rPr>
              <a:t>OBSERVED</a:t>
            </a:r>
          </a:p>
        </p:txBody>
      </p:sp>
      <p:sp>
        <p:nvSpPr>
          <p:cNvPr id="50" name="TextBox 49"/>
          <p:cNvSpPr txBox="1"/>
          <p:nvPr/>
        </p:nvSpPr>
        <p:spPr>
          <a:xfrm>
            <a:off x="6766560" y="4334256"/>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BSI fired; framing depends on interpretation</a:t>
            </a:r>
          </a:p>
        </p:txBody>
      </p:sp>
      <p:sp>
        <p:nvSpPr>
          <p:cNvPr id="51" name="TextBox 50"/>
          <p:cNvSpPr txBox="1"/>
          <p:nvPr/>
        </p:nvSpPr>
        <p:spPr>
          <a:xfrm>
            <a:off x="10058400" y="4334256"/>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−15% / 3 sessions</a:t>
            </a:r>
          </a:p>
        </p:txBody>
      </p:sp>
      <p:sp>
        <p:nvSpPr>
          <p:cNvPr id="52" name="Rectangle 51"/>
          <p:cNvSpPr/>
          <p:nvPr/>
        </p:nvSpPr>
        <p:spPr>
          <a:xfrm>
            <a:off x="594360" y="4606036"/>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4645152"/>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Sezzle 2024</a:t>
            </a:r>
          </a:p>
        </p:txBody>
      </p:sp>
      <p:sp>
        <p:nvSpPr>
          <p:cNvPr id="54" name="TextBox 53"/>
          <p:cNvSpPr txBox="1"/>
          <p:nvPr/>
        </p:nvSpPr>
        <p:spPr>
          <a:xfrm>
            <a:off x="3017520" y="4645152"/>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Sep 2024</a:t>
            </a:r>
          </a:p>
        </p:txBody>
      </p:sp>
      <p:sp>
        <p:nvSpPr>
          <p:cNvPr id="55" name="TextBox 54"/>
          <p:cNvSpPr txBox="1"/>
          <p:nvPr/>
        </p:nvSpPr>
        <p:spPr>
          <a:xfrm>
            <a:off x="4297680" y="4645152"/>
            <a:ext cx="2377440" cy="310896"/>
          </a:xfrm>
          <a:prstGeom prst="rect">
            <a:avLst/>
          </a:prstGeom>
          <a:noFill/>
        </p:spPr>
        <p:txBody>
          <a:bodyPr wrap="square" lIns="0" rIns="0" tIns="0" bIns="0" anchor="t">
            <a:spAutoFit/>
          </a:bodyPr>
          <a:lstStyle/>
          <a:p>
            <a:pPr algn="l">
              <a:lnSpc>
                <a:spcPct val="120000"/>
              </a:lnSpc>
            </a:pPr>
            <a:r>
              <a:rPr sz="950" b="1" i="0">
                <a:solidFill>
                  <a:srgbClr val="991B1B"/>
                </a:solidFill>
                <a:latin typeface="Aptos"/>
              </a:rPr>
              <a:t>FALSE POS · SUPPRESSED</a:t>
            </a:r>
          </a:p>
        </p:txBody>
      </p:sp>
      <p:sp>
        <p:nvSpPr>
          <p:cNvPr id="56" name="TextBox 55"/>
          <p:cNvSpPr txBox="1"/>
          <p:nvPr/>
        </p:nvSpPr>
        <p:spPr>
          <a:xfrm>
            <a:off x="6766560" y="4645152"/>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normalisation gate caught it ex-ante</a:t>
            </a:r>
          </a:p>
        </p:txBody>
      </p:sp>
      <p:sp>
        <p:nvSpPr>
          <p:cNvPr id="57" name="TextBox 56"/>
          <p:cNvSpPr txBox="1"/>
          <p:nvPr/>
        </p:nvSpPr>
        <p:spPr>
          <a:xfrm>
            <a:off x="10058400" y="4645152"/>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trade not routed</a:t>
            </a:r>
          </a:p>
        </p:txBody>
      </p:sp>
      <p:sp>
        <p:nvSpPr>
          <p:cNvPr id="58" name="Rectangle 57"/>
          <p:cNvSpPr/>
          <p:nvPr/>
        </p:nvSpPr>
        <p:spPr>
          <a:xfrm>
            <a:off x="594360" y="4916932"/>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4956048"/>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LendingClub 2025</a:t>
            </a:r>
          </a:p>
        </p:txBody>
      </p:sp>
      <p:sp>
        <p:nvSpPr>
          <p:cNvPr id="60" name="TextBox 59"/>
          <p:cNvSpPr txBox="1"/>
          <p:nvPr/>
        </p:nvSpPr>
        <p:spPr>
          <a:xfrm>
            <a:off x="3017520" y="4956048"/>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Apr 2025</a:t>
            </a:r>
          </a:p>
        </p:txBody>
      </p:sp>
      <p:sp>
        <p:nvSpPr>
          <p:cNvPr id="61" name="TextBox 60"/>
          <p:cNvSpPr txBox="1"/>
          <p:nvPr/>
        </p:nvSpPr>
        <p:spPr>
          <a:xfrm>
            <a:off x="4297680" y="4956048"/>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a:t>
            </a:r>
          </a:p>
        </p:txBody>
      </p:sp>
      <p:sp>
        <p:nvSpPr>
          <p:cNvPr id="62" name="TextBox 61"/>
          <p:cNvSpPr txBox="1"/>
          <p:nvPr/>
        </p:nvSpPr>
        <p:spPr>
          <a:xfrm>
            <a:off x="6766560" y="4956048"/>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fired 11 days before NCO step</a:t>
            </a:r>
          </a:p>
        </p:txBody>
      </p:sp>
      <p:sp>
        <p:nvSpPr>
          <p:cNvPr id="63" name="TextBox 62"/>
          <p:cNvSpPr txBox="1"/>
          <p:nvPr/>
        </p:nvSpPr>
        <p:spPr>
          <a:xfrm>
            <a:off x="10058400" y="4956048"/>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−18% / 4 sessions</a:t>
            </a:r>
          </a:p>
        </p:txBody>
      </p:sp>
      <p:sp>
        <p:nvSpPr>
          <p:cNvPr id="64" name="Rectangle 63"/>
          <p:cNvSpPr/>
          <p:nvPr/>
        </p:nvSpPr>
        <p:spPr>
          <a:xfrm>
            <a:off x="594360" y="5227828"/>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5266944"/>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Tricolor 2025</a:t>
            </a:r>
          </a:p>
        </p:txBody>
      </p:sp>
      <p:sp>
        <p:nvSpPr>
          <p:cNvPr id="66" name="TextBox 65"/>
          <p:cNvSpPr txBox="1"/>
          <p:nvPr/>
        </p:nvSpPr>
        <p:spPr>
          <a:xfrm>
            <a:off x="3017520" y="5266944"/>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2025-09-10</a:t>
            </a:r>
          </a:p>
        </p:txBody>
      </p:sp>
      <p:sp>
        <p:nvSpPr>
          <p:cNvPr id="67" name="TextBox 66"/>
          <p:cNvSpPr txBox="1"/>
          <p:nvPr/>
        </p:nvSpPr>
        <p:spPr>
          <a:xfrm>
            <a:off x="4297680" y="5266944"/>
            <a:ext cx="2377440" cy="310896"/>
          </a:xfrm>
          <a:prstGeom prst="rect">
            <a:avLst/>
          </a:prstGeom>
          <a:noFill/>
        </p:spPr>
        <p:txBody>
          <a:bodyPr wrap="square" lIns="0" rIns="0" tIns="0" bIns="0" anchor="t">
            <a:spAutoFit/>
          </a:bodyPr>
          <a:lstStyle/>
          <a:p>
            <a:pPr algn="l">
              <a:lnSpc>
                <a:spcPct val="120000"/>
              </a:lnSpc>
            </a:pPr>
            <a:r>
              <a:rPr sz="950" b="1" i="0">
                <a:solidFill>
                  <a:srgbClr val="0E6F33"/>
                </a:solidFill>
                <a:latin typeface="Aptos"/>
              </a:rPr>
              <a:t>TRUE POSITIVE (formal)</a:t>
            </a:r>
          </a:p>
        </p:txBody>
      </p:sp>
      <p:sp>
        <p:nvSpPr>
          <p:cNvPr id="68" name="TextBox 67"/>
          <p:cNvSpPr txBox="1"/>
          <p:nvPr/>
        </p:nvSpPr>
        <p:spPr>
          <a:xfrm>
            <a:off x="6766560" y="5266944"/>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detected; appeared in sensitivity_full.csv</a:t>
            </a:r>
          </a:p>
        </p:txBody>
      </p:sp>
      <p:sp>
        <p:nvSpPr>
          <p:cNvPr id="69" name="TextBox 68"/>
          <p:cNvSpPr txBox="1"/>
          <p:nvPr/>
        </p:nvSpPr>
        <p:spPr>
          <a:xfrm>
            <a:off x="10058400" y="5266944"/>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Chapter 7</a:t>
            </a:r>
          </a:p>
        </p:txBody>
      </p:sp>
      <p:sp>
        <p:nvSpPr>
          <p:cNvPr id="70" name="Rectangle 69"/>
          <p:cNvSpPr/>
          <p:nvPr/>
        </p:nvSpPr>
        <p:spPr>
          <a:xfrm>
            <a:off x="594360" y="5538724"/>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0080" y="5577840"/>
            <a:ext cx="2286000" cy="310896"/>
          </a:xfrm>
          <a:prstGeom prst="rect">
            <a:avLst/>
          </a:prstGeom>
          <a:noFill/>
        </p:spPr>
        <p:txBody>
          <a:bodyPr wrap="square" lIns="0" rIns="0" tIns="0" bIns="0" anchor="t">
            <a:spAutoFit/>
          </a:bodyPr>
          <a:lstStyle/>
          <a:p>
            <a:pPr algn="l">
              <a:lnSpc>
                <a:spcPct val="120000"/>
              </a:lnSpc>
            </a:pPr>
            <a:r>
              <a:rPr sz="950" b="1" i="0">
                <a:solidFill>
                  <a:srgbClr val="121417"/>
                </a:solidFill>
                <a:latin typeface="Aptos"/>
              </a:rPr>
              <a:t>Two-pod architecture</a:t>
            </a:r>
          </a:p>
        </p:txBody>
      </p:sp>
      <p:sp>
        <p:nvSpPr>
          <p:cNvPr id="72" name="TextBox 71"/>
          <p:cNvSpPr txBox="1"/>
          <p:nvPr/>
        </p:nvSpPr>
        <p:spPr>
          <a:xfrm>
            <a:off x="3017520" y="5577840"/>
            <a:ext cx="118872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Cascadia Mono"/>
              </a:rPr>
              <a:t>—</a:t>
            </a:r>
          </a:p>
        </p:txBody>
      </p:sp>
      <p:sp>
        <p:nvSpPr>
          <p:cNvPr id="73" name="TextBox 72"/>
          <p:cNvSpPr txBox="1"/>
          <p:nvPr/>
        </p:nvSpPr>
        <p:spPr>
          <a:xfrm>
            <a:off x="4297680" y="5577840"/>
            <a:ext cx="2377440" cy="310896"/>
          </a:xfrm>
          <a:prstGeom prst="rect">
            <a:avLst/>
          </a:prstGeom>
          <a:noFill/>
        </p:spPr>
        <p:txBody>
          <a:bodyPr wrap="square" lIns="0" rIns="0" tIns="0" bIns="0" anchor="t">
            <a:spAutoFit/>
          </a:bodyPr>
          <a:lstStyle/>
          <a:p>
            <a:pPr algn="l">
              <a:lnSpc>
                <a:spcPct val="120000"/>
              </a:lnSpc>
            </a:pPr>
            <a:r>
              <a:rPr sz="950" b="1" i="0">
                <a:solidFill>
                  <a:srgbClr val="B83418"/>
                </a:solidFill>
                <a:latin typeface="Aptos"/>
              </a:rPr>
              <a:t>ARCHITECTURAL</a:t>
            </a:r>
          </a:p>
        </p:txBody>
      </p:sp>
      <p:sp>
        <p:nvSpPr>
          <p:cNvPr id="74" name="TextBox 73"/>
          <p:cNvSpPr txBox="1"/>
          <p:nvPr/>
        </p:nvSpPr>
        <p:spPr>
          <a:xfrm>
            <a:off x="6766560" y="5577840"/>
            <a:ext cx="320040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BearWatch + Equity Monitor isolation</a:t>
            </a:r>
          </a:p>
        </p:txBody>
      </p:sp>
      <p:sp>
        <p:nvSpPr>
          <p:cNvPr id="75" name="TextBox 74"/>
          <p:cNvSpPr txBox="1"/>
          <p:nvPr/>
        </p:nvSpPr>
        <p:spPr>
          <a:xfrm>
            <a:off x="10058400" y="5577840"/>
            <a:ext cx="1463040" cy="310896"/>
          </a:xfrm>
          <a:prstGeom prst="rect">
            <a:avLst/>
          </a:prstGeom>
          <a:noFill/>
        </p:spPr>
        <p:txBody>
          <a:bodyPr wrap="square" lIns="0" rIns="0" tIns="0" bIns="0" anchor="t">
            <a:spAutoFit/>
          </a:bodyPr>
          <a:lstStyle/>
          <a:p>
            <a:pPr algn="l">
              <a:lnSpc>
                <a:spcPct val="120000"/>
              </a:lnSpc>
            </a:pPr>
            <a:r>
              <a:rPr sz="950" b="0" i="0">
                <a:solidFill>
                  <a:srgbClr val="22262B"/>
                </a:solidFill>
                <a:latin typeface="Aptos"/>
              </a:rPr>
              <a:t>no double-count</a:t>
            </a:r>
          </a:p>
        </p:txBody>
      </p:sp>
      <p:sp>
        <p:nvSpPr>
          <p:cNvPr id="76" name="Rectangle 75"/>
          <p:cNvSpPr/>
          <p:nvPr/>
        </p:nvSpPr>
        <p:spPr>
          <a:xfrm>
            <a:off x="594360" y="5849620"/>
            <a:ext cx="11002975"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01 · CARVANA</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03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03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Carvana 2022 — the canonical case</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BSI fired six weeks after the all-time high. Captured 98% drawdown over fifteen months.</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TRUE POSITIVE  ·  98% drawdown captured</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Subprime auto / used-car retail</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FIRST BSI FIRE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Sep 20, 2021  ·  weekly z = 2.65</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STOCK AT FIRE</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$327 pre-split  (−12% from peak)</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PEAK</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Aug 10, 2021  ·  $370 (pre-split)</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STRONGEST FIRE</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Apr 11, 2022  ·  z = 3.01  ·  $106</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TROUGH</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Dec 30, 2022  ·  $4.74  ·  −99% peak</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5:1 SPLIT</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May 8, 2026  ·  $80 = $400 pre-split</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TOTAL WEEKLY FIRES</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29 firings at z &gt;= 2.0 (2018-2025)</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Carvana sat at the intersection of two distress vectors: the COVID-era used-car bubble unwind (sector cyclical) and subprime-auto credit deterioration (firm-specific). The first vector took the stock from $370 to roughly $140 by early 2022 — sector noise, not BSI's job to catch.
BSI's contribution starts in September 2021. CFPB complaint volume began accelerating six weeks after the peak. By April 2022, BSI had been firing intermittently for seven months, with the strongest signal (z = 3.01) marking the secondary leg lower.
Bridgecrest, Carvana's wholly-owned subprime auto-finance subsidiary, fired BSI as a separate panel firm — providing independent confirmation through a distinct CFPB complaint stream.</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BSI is a firm-specific distress detector. It stays silent during macro / sector cycles but fires decisively when consumer-side data starts deteriorating ahead of the equity / credit markets.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02 · AFFIRM</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04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04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Affirm 2023 — true positive, fast cycle</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BSI z = 2.30 fired 18 days before the Q3 fiscal-year guidance cut. Stock fell 27% in two days post-print.</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TRUE POSITIVE  ·  all 5 gates fired</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BNPL / fintech consumer lending</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BSI FIRE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May 11, 2023  ·  z = 2.30</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LEAD TIME</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18 days before guidance cut</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CATALYST</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May 9, 2023 earnings call</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DRAWDOWN</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−27% in 2 trading sessions</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ALL GATES FIRED?</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YES — 5 of 5 passed</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TRADE ROUTED?</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YES — 5-gate stack approved</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TOTAL WEEKLY FIRES</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37 firings (2018-2025)</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Affirm's fiscal Q3 2023 (reported May 9) showed sharp deterioration in transaction-volume growth and provision-for-credit-losses ratio. Market reaction was a 27% one-day drop.
BSI was elevated for ~18 days before the print. The signal was driven by CFPB complaint acceleration plus app-store sentiment — consumer-side, with no macro or CCD divergence. The gates correctly classified it as firm-specific stress, not a broad consumer-credit selloff.
All five gates passed: G1 BSI z=2.30, G2 SCP composite ~1.7, G3 MOVE z=0.4 (calm), G4 CCD divergence ~0.42 (consumer worse than corporate), G5 FDS z~1.6 (NCO ratio worsening per Q2 print).</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When all five gates fire AND the market catalyst follows within the trade window (T+3), the cascade thesis is validated end-to-end on a single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03 · SEZZLE</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05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05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Sezzle 2024 — false positive, suppressed</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Headline BSI fired at z = 2.60 in Q3 2024. The denominator-normalisation gate caught it ex-ante — no trade routed.</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FALSE POSITIVE  ·  normalisation gate suppressed</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BNPL / consumer-pay-in-4</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BSI FIRE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Sep 22, 2024  ·  z = 2.60</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SUPPRESSION GATE</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Denominator-normalisation (paper §7.3)</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WHY SUPPRESSED</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Complaint-per-customer rate FLAT</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UNDERLYING CAUSE</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Volume spike was a growth artefact</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VERIFICATION</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No fundamental deterioration in 90d</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TRADE ROUTED?</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NO — correctly held</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TOTAL WEEKLY FIRES</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18 firings (2018-2025)</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Sezzle was scaling its user base aggressively in 2024. Raw complaint volume rose because the customer base grew — not because per-customer satisfaction was deteriorating.
The denominator-normalisation gate (paper §7.3) is built for exactly this scenario. It divides complaint volume by an estimate of active customers, then re-z-scores. The normalised z stayed below threshold even as the raw z hit 2.60.
Klarna 2024 had a similar pattern around its IPO down-round (z = 2.60 on Sep 5). The framing is more borderline because Klarna's pre-IPO equity isn't directly tradable, but the underlying signal characteristics matched Sezzle's growth-artefact profile.</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Same headline z. Different downstream gate behaviour. The normalisation gate separates real consumer-pain spikes from volume-driven growth artefacts. This is the canonical false-positive-caught story for the framework.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04 · LENDINGCLUB</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06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06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LendingClub 2025 — fast-cycle true positive</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BSI z = 2.45 fired 11 days before the NCO ratio step in the Q1 2025 print. Stock fell 18% in 4 sessions.</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TRUE POSITIVE  ·  shortest lead in the panel (11 days)</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Marketplace lending / consumer</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BSI FIRE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Apr 19, 2025  ·  z = 2.45</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CATALYST</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Apr 30, 2025 — Q1 NCO ratio step</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LEAD TIME</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11 days (shortest in narrative cases)</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DRAWDOWN</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−18% in 4 trading sessions</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PILLARS DRIVING</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CFPB + EDGAR XBRL fundamentals</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 FIRST?</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YES — first marketplace-lending case</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TOTAL WEEKLY FIRES</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17 firings (2018-2025)</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LendingClub is the cleanest 2025 case. The Q1 print revealed a step-change in net charge-offs — not a smooth ramp, a step. That kind of discontinuity is exactly what the cascade thesis predicts: hard accounting metrics deteriorating after the soft signals have already moved.
BSI fired at z = 2.45 eleven days ahead of the print. That's the shortest lead time in the five narrative cases — but importantly, it was already accelerating in March, with weekly z values climbing from 1.6 → 1.9 → 2.45 over three weeks.
What made this detection possible: the EDGAR XBRL pipeline (G5 FDS gate) was reading the prior quarter's filings and noticed the provisions-for-credit-losses ratio was climbing while the loan book was steady. CFPB pillar then confirmed in the consumer-side complaint data.</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Marketplace-lending firms have similar cascade dynamics to BNPL — the framework generalises. The G5 FDS gate is essential when the lead time is tight; it reads the upstream accounting before the equity catches 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05 · TRICOLOR</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07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07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Tricolor 2025 — formal EVENT firm, terminal-stage detection</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Detected as one of the 5/5 events in sensitivity_full.csv. Filed Chapter 7 bankruptcy in September 2025.</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TRUE POSITIVE (FORMAL)  ·  first BSI-detected outright bankruptcy</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Subprime auto (deep tier)</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EVENT DATE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Sep 10, 2025  ·  Chapter 7 filing</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SENSITIVITY ROW</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DETECTED in sensitivity_full.csv</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LEAD TIME</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approx. 5 months prior — first fire</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LEGAL ENTITY</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Tag Intermediate Holding Company, LLC</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NOTABLE</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First terminal event in the panel</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CFPB COVERAGE</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Thin — private firm, retail consumer</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GENERALISATION</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BSI works on private firms via CFPB</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Tricolor is a deep-subprime auto lender — sub-FICO 550 borrowers, low-income consumers, often immigrant communities. Their 2025 Chapter 7 filing is the first terminal event the panel captured.
Methodologically important: Tricolor is a private company. There is no public equity to reference, no traditional analyst coverage, no Bloomberg sell-side notes. BSI detected the distress purely from CFPB complaint trajectory plus the firm's vitality measure.
This case extends the framework's reach: BSI is not just a public-equity tool. It works on any non-bank consumer lender that files with the CFPB. That expands the addressable universe to several hundred private subprime issuers nationwide.</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The framework generalises beyond public equities. Any non-bank consumer lender that has CFPB complaint history is reachable. Terminal-stage detection (Chapter 7) is feasible months ahead with adequate CFPB coverage.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06 · UPSTART</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08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08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Upstart 2022 — formal EVENT firm, long-lead detection</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Detected approximately 700+ days before the May 2022 warehouse-line earnings disaster.</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TRUE POSITIVE (FORMAL)  ·  long-lead detection</a:t>
            </a:r>
          </a:p>
        </p:txBody>
      </p:sp>
      <p:sp>
        <p:nvSpPr>
          <p:cNvPr id="13" name="TextBox 12"/>
          <p:cNvSpPr txBox="1"/>
          <p:nvPr/>
        </p:nvSpPr>
        <p:spPr>
          <a:xfrm>
            <a:off x="594360"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KEY FACTS</a:t>
            </a:r>
          </a:p>
        </p:txBody>
      </p:sp>
      <p:sp>
        <p:nvSpPr>
          <p:cNvPr id="14" name="TextBox 13"/>
          <p:cNvSpPr txBox="1"/>
          <p:nvPr/>
        </p:nvSpPr>
        <p:spPr>
          <a:xfrm>
            <a:off x="594360" y="31821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SUB-SECTOR</a:t>
            </a:r>
          </a:p>
        </p:txBody>
      </p:sp>
      <p:sp>
        <p:nvSpPr>
          <p:cNvPr id="15" name="TextBox 14"/>
          <p:cNvSpPr txBox="1"/>
          <p:nvPr/>
        </p:nvSpPr>
        <p:spPr>
          <a:xfrm>
            <a:off x="2423160" y="31638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Personal-loan / fintech lending</a:t>
            </a:r>
          </a:p>
        </p:txBody>
      </p:sp>
      <p:sp>
        <p:nvSpPr>
          <p:cNvPr id="16" name="Rectangle 15"/>
          <p:cNvSpPr/>
          <p:nvPr/>
        </p:nvSpPr>
        <p:spPr>
          <a:xfrm>
            <a:off x="594360" y="34721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478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EVENT DATE</a:t>
            </a:r>
          </a:p>
        </p:txBody>
      </p:sp>
      <p:sp>
        <p:nvSpPr>
          <p:cNvPr id="18" name="TextBox 17"/>
          <p:cNvSpPr txBox="1"/>
          <p:nvPr/>
        </p:nvSpPr>
        <p:spPr>
          <a:xfrm>
            <a:off x="2423160" y="35295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May 9, 2022 (Q1 earnings call)</a:t>
            </a:r>
          </a:p>
        </p:txBody>
      </p:sp>
      <p:sp>
        <p:nvSpPr>
          <p:cNvPr id="19" name="Rectangle 18"/>
          <p:cNvSpPr/>
          <p:nvPr/>
        </p:nvSpPr>
        <p:spPr>
          <a:xfrm>
            <a:off x="594360" y="38379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136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CATALYST</a:t>
            </a:r>
          </a:p>
        </p:txBody>
      </p:sp>
      <p:sp>
        <p:nvSpPr>
          <p:cNvPr id="21" name="TextBox 20"/>
          <p:cNvSpPr txBox="1"/>
          <p:nvPr/>
        </p:nvSpPr>
        <p:spPr>
          <a:xfrm>
            <a:off x="2423160" y="38953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Warehouse-line guidance disaster</a:t>
            </a:r>
          </a:p>
        </p:txBody>
      </p:sp>
      <p:sp>
        <p:nvSpPr>
          <p:cNvPr id="22" name="Rectangle 21"/>
          <p:cNvSpPr/>
          <p:nvPr/>
        </p:nvSpPr>
        <p:spPr>
          <a:xfrm>
            <a:off x="594360" y="420370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27939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PRE-EVENT PRICE</a:t>
            </a:r>
          </a:p>
        </p:txBody>
      </p:sp>
      <p:sp>
        <p:nvSpPr>
          <p:cNvPr id="24" name="TextBox 23"/>
          <p:cNvSpPr txBox="1"/>
          <p:nvPr/>
        </p:nvSpPr>
        <p:spPr>
          <a:xfrm>
            <a:off x="2423160" y="426110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approx. $120 (mid-Apr 2022)</a:t>
            </a:r>
          </a:p>
        </p:txBody>
      </p:sp>
      <p:sp>
        <p:nvSpPr>
          <p:cNvPr id="25" name="Rectangle 24"/>
          <p:cNvSpPr/>
          <p:nvPr/>
        </p:nvSpPr>
        <p:spPr>
          <a:xfrm>
            <a:off x="594360" y="456946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4515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POST-EVENT</a:t>
            </a:r>
          </a:p>
        </p:txBody>
      </p:sp>
      <p:sp>
        <p:nvSpPr>
          <p:cNvPr id="27" name="TextBox 26"/>
          <p:cNvSpPr txBox="1"/>
          <p:nvPr/>
        </p:nvSpPr>
        <p:spPr>
          <a:xfrm>
            <a:off x="2423160" y="462686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approx. $30 within 6 months</a:t>
            </a:r>
          </a:p>
        </p:txBody>
      </p:sp>
      <p:sp>
        <p:nvSpPr>
          <p:cNvPr id="28" name="Rectangle 27"/>
          <p:cNvSpPr/>
          <p:nvPr/>
        </p:nvSpPr>
        <p:spPr>
          <a:xfrm>
            <a:off x="594360" y="493522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01091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SENSITIVITY</a:t>
            </a:r>
          </a:p>
        </p:txBody>
      </p:sp>
      <p:sp>
        <p:nvSpPr>
          <p:cNvPr id="30" name="TextBox 29"/>
          <p:cNvSpPr txBox="1"/>
          <p:nvPr/>
        </p:nvSpPr>
        <p:spPr>
          <a:xfrm>
            <a:off x="2423160" y="499262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DETECTED — fire approx. 700+ days prior</a:t>
            </a:r>
          </a:p>
        </p:txBody>
      </p:sp>
      <p:sp>
        <p:nvSpPr>
          <p:cNvPr id="31" name="Rectangle 30"/>
          <p:cNvSpPr/>
          <p:nvPr/>
        </p:nvSpPr>
        <p:spPr>
          <a:xfrm>
            <a:off x="594360" y="530098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7667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LEAD TIME</a:t>
            </a:r>
          </a:p>
        </p:txBody>
      </p:sp>
      <p:sp>
        <p:nvSpPr>
          <p:cNvPr id="33" name="TextBox 32"/>
          <p:cNvSpPr txBox="1"/>
          <p:nvPr/>
        </p:nvSpPr>
        <p:spPr>
          <a:xfrm>
            <a:off x="2423160" y="535838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Long — multiple early fires + acceleration</a:t>
            </a:r>
          </a:p>
        </p:txBody>
      </p:sp>
      <p:sp>
        <p:nvSpPr>
          <p:cNvPr id="34" name="Rectangle 33"/>
          <p:cNvSpPr/>
          <p:nvPr/>
        </p:nvSpPr>
        <p:spPr>
          <a:xfrm>
            <a:off x="594360" y="5666740"/>
            <a:ext cx="5227167" cy="508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742432"/>
            <a:ext cx="1828800" cy="256032"/>
          </a:xfrm>
          <a:prstGeom prst="rect">
            <a:avLst/>
          </a:prstGeom>
          <a:noFill/>
        </p:spPr>
        <p:txBody>
          <a:bodyPr wrap="square" lIns="0" rIns="0" tIns="0" bIns="0" anchor="t">
            <a:spAutoFit/>
          </a:bodyPr>
          <a:lstStyle/>
          <a:p>
            <a:pPr algn="l"/>
            <a:r>
              <a:rPr sz="900" b="1" i="0">
                <a:solidFill>
                  <a:srgbClr val="4D5258"/>
                </a:solidFill>
                <a:latin typeface="Cascadia Mono"/>
              </a:rPr>
              <a:t>TOTAL WEEKLY FIRES</a:t>
            </a:r>
          </a:p>
        </p:txBody>
      </p:sp>
      <p:sp>
        <p:nvSpPr>
          <p:cNvPr id="36" name="TextBox 35"/>
          <p:cNvSpPr txBox="1"/>
          <p:nvPr/>
        </p:nvSpPr>
        <p:spPr>
          <a:xfrm>
            <a:off x="2423160" y="5724144"/>
            <a:ext cx="3352647" cy="292608"/>
          </a:xfrm>
          <a:prstGeom prst="rect">
            <a:avLst/>
          </a:prstGeom>
          <a:noFill/>
        </p:spPr>
        <p:txBody>
          <a:bodyPr wrap="square" lIns="0" rIns="0" tIns="0" bIns="0" anchor="t">
            <a:spAutoFit/>
          </a:bodyPr>
          <a:lstStyle/>
          <a:p>
            <a:pPr algn="l">
              <a:lnSpc>
                <a:spcPct val="120000"/>
              </a:lnSpc>
            </a:pPr>
            <a:r>
              <a:rPr sz="1150" b="1" i="0">
                <a:solidFill>
                  <a:srgbClr val="121417"/>
                </a:solidFill>
                <a:latin typeface="Aptos"/>
              </a:rPr>
              <a:t>25 firings (2018-2025)</a:t>
            </a:r>
          </a:p>
        </p:txBody>
      </p:sp>
      <p:sp>
        <p:nvSpPr>
          <p:cNvPr id="37" name="TextBox 36"/>
          <p:cNvSpPr txBox="1"/>
          <p:nvPr/>
        </p:nvSpPr>
        <p:spPr>
          <a:xfrm>
            <a:off x="6278727" y="280720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NARRATIVE</a:t>
            </a:r>
          </a:p>
        </p:txBody>
      </p:sp>
      <p:sp>
        <p:nvSpPr>
          <p:cNvPr id="38" name="TextBox 37"/>
          <p:cNvSpPr txBox="1"/>
          <p:nvPr/>
        </p:nvSpPr>
        <p:spPr>
          <a:xfrm>
            <a:off x="6278727" y="3127248"/>
            <a:ext cx="5318607" cy="1901952"/>
          </a:xfrm>
          <a:prstGeom prst="rect">
            <a:avLst/>
          </a:prstGeom>
          <a:noFill/>
        </p:spPr>
        <p:txBody>
          <a:bodyPr wrap="square" lIns="0" rIns="0" tIns="0" bIns="0" anchor="t">
            <a:spAutoFit/>
          </a:bodyPr>
          <a:lstStyle/>
          <a:p>
            <a:pPr algn="l">
              <a:lnSpc>
                <a:spcPct val="145000"/>
              </a:lnSpc>
            </a:pPr>
            <a:r>
              <a:rPr sz="1100" b="0" i="0">
                <a:solidFill>
                  <a:srgbClr val="22262B"/>
                </a:solidFill>
                <a:latin typeface="Aptos"/>
              </a:rPr>
              <a:t>Upstart is a credit-decisioning fintech that uses ML to underwrite personal loans, then funds them through a warehouse-line model. When the warehouse facilities tightened in early 2022, Upstart's funding capacity collapsed almost overnight — that was the May 2022 earnings event.
BSI's detection lead was unusually long: the first fire happened more than two years before the Q1 2022 print. Most of those early fires were below z = 3.0 — quieter signals — but the trend was clear in retrospect.
CURO 2024 (Chapter 11) is a related case worth noting. CURO was DETECTED in sensitivity_full.csv but was excluded from the live panel because an SEC entity-name change broke the CFPB ingest mapping. That exclusion is openly disclosed in slide 17 of the main deck.</a:t>
            </a:r>
          </a:p>
        </p:txBody>
      </p:sp>
      <p:sp>
        <p:nvSpPr>
          <p:cNvPr id="39" name="Rectangle 3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477256"/>
            <a:ext cx="1828800" cy="228600"/>
          </a:xfrm>
          <a:prstGeom prst="rect">
            <a:avLst/>
          </a:prstGeom>
          <a:noFill/>
        </p:spPr>
        <p:txBody>
          <a:bodyPr wrap="square" lIns="0" rIns="0" tIns="0" bIns="0" anchor="t">
            <a:spAutoFit/>
          </a:bodyPr>
          <a:lstStyle/>
          <a:p>
            <a:pPr algn="l"/>
            <a:r>
              <a:rPr sz="900" b="1" i="0">
                <a:solidFill>
                  <a:srgbClr val="B83418"/>
                </a:solidFill>
                <a:latin typeface="Cascadia Mono"/>
              </a:rPr>
              <a:t>LESSON</a:t>
            </a:r>
          </a:p>
        </p:txBody>
      </p:sp>
      <p:sp>
        <p:nvSpPr>
          <p:cNvPr id="41" name="TextBox 40"/>
          <p:cNvSpPr txBox="1"/>
          <p:nvPr/>
        </p:nvSpPr>
        <p:spPr>
          <a:xfrm>
            <a:off x="822960" y="5687568"/>
            <a:ext cx="10545775" cy="502920"/>
          </a:xfrm>
          <a:prstGeom prst="rect">
            <a:avLst/>
          </a:prstGeom>
          <a:noFill/>
        </p:spPr>
        <p:txBody>
          <a:bodyPr wrap="square" lIns="0" rIns="0" tIns="0" bIns="0" anchor="t">
            <a:spAutoFit/>
          </a:bodyPr>
          <a:lstStyle/>
          <a:p>
            <a:pPr algn="l">
              <a:lnSpc>
                <a:spcPct val="135000"/>
              </a:lnSpc>
            </a:pPr>
            <a:r>
              <a:rPr sz="1100" b="0" i="1">
                <a:solidFill>
                  <a:srgbClr val="121417"/>
                </a:solidFill>
                <a:latin typeface="Aptos"/>
              </a:rPr>
              <a:t>Long lead-time detection is possible when the cascade is slow-moving. Upstart's warehouse-line failure was visible in CFPB complaint patterns years before it crystallised in equity. CURO is a reminder that schema/name-change drift is a real ingest-pipeline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CASE 07 · ARCHITECTURE</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09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09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Two-pod architecture — BearWatch + Equity Monitor isolation</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Architectural case study, not a firm. Demonstrates why two independent decision logics on the same ticker are methodologically cleaner than one fused pod.</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212848"/>
            <a:ext cx="11002975" cy="365760"/>
          </a:xfrm>
          <a:prstGeom prst="rect">
            <a:avLst/>
          </a:prstGeom>
          <a:solidFill>
            <a:srgbClr val="B83418"/>
          </a:solidFill>
          <a:ln w="12700">
            <a:solidFill>
              <a:srgbClr val="B834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1002975" cy="365760"/>
          </a:xfrm>
          <a:prstGeom prst="rect">
            <a:avLst/>
          </a:prstGeom>
          <a:noFill/>
        </p:spPr>
        <p:txBody>
          <a:bodyPr wrap="square" lIns="0" rIns="0" tIns="0" bIns="0" anchor="t">
            <a:spAutoFit/>
          </a:bodyPr>
          <a:lstStyle/>
          <a:p>
            <a:pPr algn="ctr"/>
            <a:r>
              <a:rPr sz="1100" b="1" i="0">
                <a:solidFill>
                  <a:srgbClr val="FFFFFF"/>
                </a:solidFill>
                <a:latin typeface="Cascadia Mono"/>
              </a:rPr>
              <a:t>ARCHITECTURAL  ·  multi-strategy isolation by design</a:t>
            </a:r>
          </a:p>
        </p:txBody>
      </p:sp>
      <p:sp>
        <p:nvSpPr>
          <p:cNvPr id="13" name="Rectangle 12"/>
          <p:cNvSpPr/>
          <p:nvPr/>
        </p:nvSpPr>
        <p:spPr>
          <a:xfrm>
            <a:off x="594360" y="2807208"/>
            <a:ext cx="5318607" cy="2194560"/>
          </a:xfrm>
          <a:prstGeom prst="rect">
            <a:avLst/>
          </a:prstGeom>
          <a:solidFill>
            <a:srgbClr val="FDE8E0"/>
          </a:solidFill>
          <a:ln w="1905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71800"/>
            <a:ext cx="4861407" cy="274320"/>
          </a:xfrm>
          <a:prstGeom prst="rect">
            <a:avLst/>
          </a:prstGeom>
          <a:noFill/>
        </p:spPr>
        <p:txBody>
          <a:bodyPr wrap="square" lIns="0" rIns="0" tIns="0" bIns="0" anchor="t">
            <a:spAutoFit/>
          </a:bodyPr>
          <a:lstStyle/>
          <a:p>
            <a:pPr algn="l"/>
            <a:r>
              <a:rPr sz="1000" b="1" i="0">
                <a:solidFill>
                  <a:srgbClr val="B83418"/>
                </a:solidFill>
                <a:latin typeface="Cascadia Mono"/>
              </a:rPr>
              <a:t>BEARWATCH POD</a:t>
            </a:r>
          </a:p>
        </p:txBody>
      </p:sp>
      <p:sp>
        <p:nvSpPr>
          <p:cNvPr id="15" name="TextBox 14"/>
          <p:cNvSpPr txBox="1"/>
          <p:nvPr/>
        </p:nvSpPr>
        <p:spPr>
          <a:xfrm>
            <a:off x="822960" y="3264408"/>
            <a:ext cx="4861407" cy="365760"/>
          </a:xfrm>
          <a:prstGeom prst="rect">
            <a:avLst/>
          </a:prstGeom>
          <a:noFill/>
        </p:spPr>
        <p:txBody>
          <a:bodyPr wrap="square" lIns="0" rIns="0" tIns="0" bIns="0" anchor="t">
            <a:spAutoFit/>
          </a:bodyPr>
          <a:lstStyle/>
          <a:p>
            <a:pPr algn="l"/>
            <a:r>
              <a:rPr sz="1800" b="1" i="0">
                <a:solidFill>
                  <a:srgbClr val="121417"/>
                </a:solidFill>
                <a:latin typeface="Aptos Display"/>
              </a:rPr>
              <a:t>Alt-data signal layer</a:t>
            </a:r>
          </a:p>
        </p:txBody>
      </p:sp>
      <p:sp>
        <p:nvSpPr>
          <p:cNvPr id="16" name="TextBox 15"/>
          <p:cNvSpPr txBox="1"/>
          <p:nvPr/>
        </p:nvSpPr>
        <p:spPr>
          <a:xfrm>
            <a:off x="822960" y="3721608"/>
            <a:ext cx="4861407" cy="1234440"/>
          </a:xfrm>
          <a:prstGeom prst="rect">
            <a:avLst/>
          </a:prstGeom>
          <a:noFill/>
        </p:spPr>
        <p:txBody>
          <a:bodyPr wrap="square" lIns="0" rIns="0" tIns="0" bIns="0" anchor="t">
            <a:spAutoFit/>
          </a:bodyPr>
          <a:lstStyle/>
          <a:p>
            <a:pPr algn="l">
              <a:lnSpc>
                <a:spcPct val="145000"/>
              </a:lnSpc>
            </a:pPr>
            <a:r>
              <a:rPr sz="1050" b="0" i="0">
                <a:solidFill>
                  <a:srgbClr val="22262B"/>
                </a:solidFill>
                <a:latin typeface="Aptos"/>
              </a:rPr>
              <a:t>Inputs:  CFPB complaints, App Store, Reddit, Bluesky, Google Trends, ABS, macro confound, vitality.
Decision:  5-gate stack (BSI · SCP · MOVE · CCD · FDS).
Trades:  bearwatch journal · own position cap.
Use case:  consumer-credit distress detection.</a:t>
            </a:r>
          </a:p>
        </p:txBody>
      </p:sp>
      <p:sp>
        <p:nvSpPr>
          <p:cNvPr id="17" name="Rectangle 16"/>
          <p:cNvSpPr/>
          <p:nvPr/>
        </p:nvSpPr>
        <p:spPr>
          <a:xfrm>
            <a:off x="6278727" y="2807208"/>
            <a:ext cx="5318607" cy="2194560"/>
          </a:xfrm>
          <a:prstGeom prst="rect">
            <a:avLst/>
          </a:prstGeom>
          <a:solidFill>
            <a:srgbClr val="F7F8F9"/>
          </a:solidFill>
          <a:ln w="12700">
            <a:solidFill>
              <a:srgbClr val="C8CC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7327" y="2971800"/>
            <a:ext cx="4861407" cy="274320"/>
          </a:xfrm>
          <a:prstGeom prst="rect">
            <a:avLst/>
          </a:prstGeom>
          <a:noFill/>
        </p:spPr>
        <p:txBody>
          <a:bodyPr wrap="square" lIns="0" rIns="0" tIns="0" bIns="0" anchor="t">
            <a:spAutoFit/>
          </a:bodyPr>
          <a:lstStyle/>
          <a:p>
            <a:pPr algn="l"/>
            <a:r>
              <a:rPr sz="1000" b="1" i="0">
                <a:solidFill>
                  <a:srgbClr val="22262B"/>
                </a:solidFill>
                <a:latin typeface="Cascadia Mono"/>
              </a:rPr>
              <a:t>EQUITY MONITOR POD</a:t>
            </a:r>
          </a:p>
        </p:txBody>
      </p:sp>
      <p:sp>
        <p:nvSpPr>
          <p:cNvPr id="19" name="TextBox 18"/>
          <p:cNvSpPr txBox="1"/>
          <p:nvPr/>
        </p:nvSpPr>
        <p:spPr>
          <a:xfrm>
            <a:off x="6507327" y="3264408"/>
            <a:ext cx="4861407" cy="365760"/>
          </a:xfrm>
          <a:prstGeom prst="rect">
            <a:avLst/>
          </a:prstGeom>
          <a:noFill/>
        </p:spPr>
        <p:txBody>
          <a:bodyPr wrap="square" lIns="0" rIns="0" tIns="0" bIns="0" anchor="t">
            <a:spAutoFit/>
          </a:bodyPr>
          <a:lstStyle/>
          <a:p>
            <a:pPr algn="l"/>
            <a:r>
              <a:rPr sz="1800" b="1" i="0">
                <a:solidFill>
                  <a:srgbClr val="121417"/>
                </a:solidFill>
                <a:latin typeface="Aptos Display"/>
              </a:rPr>
              <a:t>Technical / macro layer</a:t>
            </a:r>
          </a:p>
        </p:txBody>
      </p:sp>
      <p:sp>
        <p:nvSpPr>
          <p:cNvPr id="20" name="TextBox 19"/>
          <p:cNvSpPr txBox="1"/>
          <p:nvPr/>
        </p:nvSpPr>
        <p:spPr>
          <a:xfrm>
            <a:off x="6507327" y="3721608"/>
            <a:ext cx="4861407" cy="1234440"/>
          </a:xfrm>
          <a:prstGeom prst="rect">
            <a:avLst/>
          </a:prstGeom>
          <a:noFill/>
        </p:spPr>
        <p:txBody>
          <a:bodyPr wrap="square" lIns="0" rIns="0" tIns="0" bIns="0" anchor="t">
            <a:spAutoFit/>
          </a:bodyPr>
          <a:lstStyle/>
          <a:p>
            <a:pPr algn="l">
              <a:lnSpc>
                <a:spcPct val="145000"/>
              </a:lnSpc>
            </a:pPr>
            <a:r>
              <a:rPr sz="1050" b="0" i="0">
                <a:solidFill>
                  <a:srgbClr val="22262B"/>
                </a:solidFill>
                <a:latin typeface="Aptos"/>
              </a:rPr>
              <a:t>Inputs:  Wozniak / CMT — Fibonacci, U/D volume, OBV, RSI, Stochastic, Bollinger, ATR.
Decision:  5-archetype debate (Renaissance · Bridgewater · Two Sigma · Millennium · Citadel).
Trades:  equity-monitor journal · own position cap.
Use case:  technical / macro signals on any ticker (open universe).</a:t>
            </a:r>
          </a:p>
        </p:txBody>
      </p:sp>
      <p:sp>
        <p:nvSpPr>
          <p:cNvPr id="21" name="Rectangle 20"/>
          <p:cNvSpPr/>
          <p:nvPr/>
        </p:nvSpPr>
        <p:spPr>
          <a:xfrm>
            <a:off x="594360" y="5230368"/>
            <a:ext cx="11002975" cy="868680"/>
          </a:xfrm>
          <a:prstGeom prst="rect">
            <a:avLst/>
          </a:prstGeom>
          <a:solidFill>
            <a:srgbClr val="FDE8E0"/>
          </a:solidFill>
          <a:ln w="1905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321808"/>
            <a:ext cx="6400800" cy="274320"/>
          </a:xfrm>
          <a:prstGeom prst="rect">
            <a:avLst/>
          </a:prstGeom>
          <a:noFill/>
        </p:spPr>
        <p:txBody>
          <a:bodyPr wrap="square" lIns="0" rIns="0" tIns="0" bIns="0" anchor="t">
            <a:spAutoFit/>
          </a:bodyPr>
          <a:lstStyle/>
          <a:p>
            <a:pPr algn="l"/>
            <a:r>
              <a:rPr sz="1000" b="1" i="0">
                <a:solidFill>
                  <a:srgbClr val="B83418"/>
                </a:solidFill>
                <a:latin typeface="Cascadia Mono"/>
              </a:rPr>
              <a:t>CROSS-SOURCE EXPOSURE CAP</a:t>
            </a:r>
          </a:p>
        </p:txBody>
      </p:sp>
      <p:sp>
        <p:nvSpPr>
          <p:cNvPr id="23" name="TextBox 22"/>
          <p:cNvSpPr txBox="1"/>
          <p:nvPr/>
        </p:nvSpPr>
        <p:spPr>
          <a:xfrm>
            <a:off x="868680" y="5596128"/>
            <a:ext cx="10454335" cy="502920"/>
          </a:xfrm>
          <a:prstGeom prst="rect">
            <a:avLst/>
          </a:prstGeom>
          <a:noFill/>
        </p:spPr>
        <p:txBody>
          <a:bodyPr wrap="square" lIns="0" rIns="0" tIns="0" bIns="0" anchor="t">
            <a:spAutoFit/>
          </a:bodyPr>
          <a:lstStyle/>
          <a:p>
            <a:pPr algn="l">
              <a:lnSpc>
                <a:spcPct val="135000"/>
              </a:lnSpc>
            </a:pPr>
            <a:r>
              <a:rPr sz="1100" b="0" i="0">
                <a:solidFill>
                  <a:srgbClr val="22262B"/>
                </a:solidFill>
                <a:latin typeface="Aptos"/>
              </a:rPr>
              <a:t>Joint-portfolio safeguard. Reads BOTH journals; if combined open exposure on a single ticker would exceed 20% of equity, the operator gets a warning and must explicitly override. Prevents either pod from independently breaching the joint position limit.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6400800" cy="228600"/>
          </a:xfrm>
          <a:prstGeom prst="rect">
            <a:avLst/>
          </a:prstGeom>
          <a:noFill/>
        </p:spPr>
        <p:txBody>
          <a:bodyPr wrap="square" lIns="0" rIns="0" tIns="0" bIns="0" anchor="t">
            <a:spAutoFit/>
          </a:bodyPr>
          <a:lstStyle/>
          <a:p>
            <a:pPr algn="l"/>
            <a:r>
              <a:rPr sz="900" b="1" i="0">
                <a:solidFill>
                  <a:srgbClr val="E84A27"/>
                </a:solidFill>
                <a:latin typeface="Cascadia Mono"/>
              </a:rPr>
              <a:t>REPRODUCIBILITY</a:t>
            </a:r>
          </a:p>
        </p:txBody>
      </p:sp>
      <p:sp>
        <p:nvSpPr>
          <p:cNvPr id="4" name="TextBox 3"/>
          <p:cNvSpPr txBox="1"/>
          <p:nvPr/>
        </p:nvSpPr>
        <p:spPr>
          <a:xfrm>
            <a:off x="9768535" y="502920"/>
            <a:ext cx="1828800" cy="228600"/>
          </a:xfrm>
          <a:prstGeom prst="rect">
            <a:avLst/>
          </a:prstGeom>
          <a:noFill/>
        </p:spPr>
        <p:txBody>
          <a:bodyPr wrap="square" lIns="0" rIns="0" tIns="0" bIns="0" anchor="t">
            <a:spAutoFit/>
          </a:bodyPr>
          <a:lstStyle/>
          <a:p>
            <a:pPr algn="r"/>
            <a:r>
              <a:rPr sz="900" b="1" i="0">
                <a:solidFill>
                  <a:srgbClr val="8C9197"/>
                </a:solidFill>
                <a:latin typeface="Cascadia Mono"/>
              </a:rPr>
              <a:t>10  /  10</a:t>
            </a:r>
          </a:p>
        </p:txBody>
      </p:sp>
      <p:sp>
        <p:nvSpPr>
          <p:cNvPr id="5" name="Rectangle 4"/>
          <p:cNvSpPr/>
          <p:nvPr/>
        </p:nvSpPr>
        <p:spPr>
          <a:xfrm>
            <a:off x="594360" y="6351905"/>
            <a:ext cx="11002975" cy="6350"/>
          </a:xfrm>
          <a:prstGeom prst="rect">
            <a:avLst/>
          </a:prstGeom>
          <a:solidFill>
            <a:srgbClr val="E5E7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00800"/>
            <a:ext cx="9144000" cy="274320"/>
          </a:xfrm>
          <a:prstGeom prst="rect">
            <a:avLst/>
          </a:prstGeom>
          <a:noFill/>
        </p:spPr>
        <p:txBody>
          <a:bodyPr wrap="square" lIns="0" rIns="0" tIns="0" bIns="0" anchor="t">
            <a:spAutoFit/>
          </a:bodyPr>
          <a:lstStyle/>
          <a:p>
            <a:pPr algn="l"/>
            <a:r>
              <a:rPr sz="900" b="0" i="0">
                <a:solidFill>
                  <a:srgbClr val="8C9197"/>
                </a:solidFill>
                <a:latin typeface="Cascadia Mono"/>
              </a:rPr>
              <a:t>Verma  ·  UIN 668601217  ·  FIN 580  ·  Spring 2026  ·  Case Studies Reference</a:t>
            </a:r>
          </a:p>
        </p:txBody>
      </p:sp>
      <p:sp>
        <p:nvSpPr>
          <p:cNvPr id="7" name="TextBox 6"/>
          <p:cNvSpPr txBox="1"/>
          <p:nvPr/>
        </p:nvSpPr>
        <p:spPr>
          <a:xfrm>
            <a:off x="9768535" y="6400800"/>
            <a:ext cx="1828800" cy="274320"/>
          </a:xfrm>
          <a:prstGeom prst="rect">
            <a:avLst/>
          </a:prstGeom>
          <a:noFill/>
        </p:spPr>
        <p:txBody>
          <a:bodyPr wrap="square" lIns="0" rIns="0" tIns="0" bIns="0" anchor="t">
            <a:spAutoFit/>
          </a:bodyPr>
          <a:lstStyle/>
          <a:p>
            <a:pPr algn="r"/>
            <a:r>
              <a:rPr sz="900" b="0" i="0">
                <a:solidFill>
                  <a:srgbClr val="8C9197"/>
                </a:solidFill>
                <a:latin typeface="Cascadia Mono"/>
              </a:rPr>
              <a:t>slide  10  /  10</a:t>
            </a:r>
          </a:p>
        </p:txBody>
      </p:sp>
      <p:sp>
        <p:nvSpPr>
          <p:cNvPr id="8" name="TextBox 7"/>
          <p:cNvSpPr txBox="1"/>
          <p:nvPr/>
        </p:nvSpPr>
        <p:spPr>
          <a:xfrm>
            <a:off x="594360" y="960120"/>
            <a:ext cx="11002975" cy="594360"/>
          </a:xfrm>
          <a:prstGeom prst="rect">
            <a:avLst/>
          </a:prstGeom>
          <a:noFill/>
        </p:spPr>
        <p:txBody>
          <a:bodyPr wrap="square" lIns="0" rIns="0" tIns="0" bIns="0" anchor="t">
            <a:spAutoFit/>
          </a:bodyPr>
          <a:lstStyle/>
          <a:p>
            <a:pPr algn="l">
              <a:lnSpc>
                <a:spcPct val="110000"/>
              </a:lnSpc>
            </a:pPr>
            <a:r>
              <a:rPr sz="2800" b="1" i="0">
                <a:solidFill>
                  <a:srgbClr val="121417"/>
                </a:solidFill>
                <a:latin typeface="Aptos Display"/>
              </a:rPr>
              <a:t>How to verify any case in this deck</a:t>
            </a:r>
          </a:p>
        </p:txBody>
      </p:sp>
      <p:sp>
        <p:nvSpPr>
          <p:cNvPr id="9" name="TextBox 8"/>
          <p:cNvSpPr txBox="1"/>
          <p:nvPr/>
        </p:nvSpPr>
        <p:spPr>
          <a:xfrm>
            <a:off x="594360" y="1554480"/>
            <a:ext cx="11002975" cy="384048"/>
          </a:xfrm>
          <a:prstGeom prst="rect">
            <a:avLst/>
          </a:prstGeom>
          <a:noFill/>
        </p:spPr>
        <p:txBody>
          <a:bodyPr wrap="square" lIns="0" rIns="0" tIns="0" bIns="0" anchor="t">
            <a:spAutoFit/>
          </a:bodyPr>
          <a:lstStyle/>
          <a:p>
            <a:pPr algn="l">
              <a:lnSpc>
                <a:spcPct val="130000"/>
              </a:lnSpc>
            </a:pPr>
            <a:r>
              <a:rPr sz="1500" b="0" i="0">
                <a:solidFill>
                  <a:srgbClr val="4D5258"/>
                </a:solidFill>
                <a:latin typeface="Aptos"/>
              </a:rPr>
              <a:t>Every claim above is queryable against the warehouse and result CSVs in the GitHub repo and Dropbox bundle.</a:t>
            </a:r>
          </a:p>
        </p:txBody>
      </p:sp>
      <p:sp>
        <p:nvSpPr>
          <p:cNvPr id="10" name="Rectangle 9"/>
          <p:cNvSpPr/>
          <p:nvPr/>
        </p:nvSpPr>
        <p:spPr>
          <a:xfrm>
            <a:off x="594360" y="2017268"/>
            <a:ext cx="457200" cy="25400"/>
          </a:xfrm>
          <a:prstGeom prst="rect">
            <a:avLst/>
          </a:prstGeom>
          <a:solidFill>
            <a:srgbClr val="E84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9572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VERIFY IN THE WAREHOUSE</a:t>
            </a:r>
          </a:p>
        </p:txBody>
      </p:sp>
      <p:sp>
        <p:nvSpPr>
          <p:cNvPr id="12" name="Rectangle 11"/>
          <p:cNvSpPr/>
          <p:nvPr/>
        </p:nvSpPr>
        <p:spPr>
          <a:xfrm>
            <a:off x="594360" y="2715768"/>
            <a:ext cx="5318607" cy="3291840"/>
          </a:xfrm>
          <a:prstGeom prst="rect">
            <a:avLst/>
          </a:prstGeom>
          <a:solidFill>
            <a:srgbClr val="F7F8F9"/>
          </a:solidFill>
          <a:ln w="6350">
            <a:solidFill>
              <a:srgbClr val="E5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52928"/>
            <a:ext cx="4861407" cy="3017520"/>
          </a:xfrm>
          <a:prstGeom prst="rect">
            <a:avLst/>
          </a:prstGeom>
          <a:noFill/>
        </p:spPr>
        <p:txBody>
          <a:bodyPr wrap="square" lIns="0" rIns="0" tIns="0" bIns="0" anchor="t">
            <a:spAutoFit/>
          </a:bodyPr>
          <a:lstStyle/>
          <a:p>
            <a:pPr algn="l">
              <a:lnSpc>
                <a:spcPct val="130000"/>
              </a:lnSpc>
            </a:pPr>
            <a:r>
              <a:rPr sz="1000" b="0" i="0">
                <a:solidFill>
                  <a:srgbClr val="22262B"/>
                </a:solidFill>
                <a:latin typeface="Cascadia Mono"/>
              </a:rPr>
              <a:t>import duckdb
con = duckdb.connect(
    'data/warehouse/warehouse.duckdb',
    read_only=True,
)
# CFPB volume per firm — weekly
df = con.execute('''
    SELECT
        date_trunc('week', received_at) AS wk,
        COUNT(*) AS n
    FROM cfpb_complaints
    WHERE UPPER(company) LIKE '%CARVANA%'
    GROUP BY wk ORDER BY wk
''').fetchdf()
# Compute weekly z-score against
# 26-week rolling baseline
# (full code in scripts/run_all_ingest.sh)</a:t>
            </a:r>
          </a:p>
        </p:txBody>
      </p:sp>
      <p:sp>
        <p:nvSpPr>
          <p:cNvPr id="14" name="TextBox 13"/>
          <p:cNvSpPr txBox="1"/>
          <p:nvPr/>
        </p:nvSpPr>
        <p:spPr>
          <a:xfrm>
            <a:off x="6278727" y="2395728"/>
            <a:ext cx="4572000" cy="228600"/>
          </a:xfrm>
          <a:prstGeom prst="rect">
            <a:avLst/>
          </a:prstGeom>
          <a:noFill/>
        </p:spPr>
        <p:txBody>
          <a:bodyPr wrap="square" lIns="0" rIns="0" tIns="0" bIns="0" anchor="t">
            <a:spAutoFit/>
          </a:bodyPr>
          <a:lstStyle/>
          <a:p>
            <a:pPr algn="l"/>
            <a:r>
              <a:rPr sz="900" b="1" i="0">
                <a:solidFill>
                  <a:srgbClr val="E84A27"/>
                </a:solidFill>
                <a:latin typeface="Cascadia Mono"/>
              </a:rPr>
              <a:t>AUTHORITATIVE RESULT FILES</a:t>
            </a:r>
          </a:p>
        </p:txBody>
      </p:sp>
      <p:sp>
        <p:nvSpPr>
          <p:cNvPr id="15" name="TextBox 14"/>
          <p:cNvSpPr txBox="1"/>
          <p:nvPr/>
        </p:nvSpPr>
        <p:spPr>
          <a:xfrm>
            <a:off x="6278727" y="2715768"/>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paper_results/sensitivity_full.csv</a:t>
            </a:r>
          </a:p>
        </p:txBody>
      </p:sp>
      <p:sp>
        <p:nvSpPr>
          <p:cNvPr id="16" name="TextBox 15"/>
          <p:cNvSpPr txBox="1"/>
          <p:nvPr/>
        </p:nvSpPr>
        <p:spPr>
          <a:xfrm>
            <a:off x="6278727" y="2898648"/>
            <a:ext cx="5318607" cy="201168"/>
          </a:xfrm>
          <a:prstGeom prst="rect">
            <a:avLst/>
          </a:prstGeom>
          <a:noFill/>
        </p:spPr>
        <p:txBody>
          <a:bodyPr wrap="square" lIns="0" rIns="0" tIns="0" bIns="0" anchor="t">
            <a:spAutoFit/>
          </a:bodyPr>
          <a:lstStyle/>
          <a:p>
            <a:pPr algn="l"/>
            <a:r>
              <a:rPr sz="1000" b="0" i="1">
                <a:solidFill>
                  <a:srgbClr val="4D5258"/>
                </a:solidFill>
                <a:latin typeface="Aptos"/>
              </a:rPr>
              <a:t>5/5 events caught — DETECTED flags</a:t>
            </a:r>
          </a:p>
        </p:txBody>
      </p:sp>
      <p:sp>
        <p:nvSpPr>
          <p:cNvPr id="17" name="TextBox 16"/>
          <p:cNvSpPr txBox="1"/>
          <p:nvPr/>
        </p:nvSpPr>
        <p:spPr>
          <a:xfrm>
            <a:off x="6278727" y="3136392"/>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paper_results/granger_aggregate.csv</a:t>
            </a:r>
          </a:p>
        </p:txBody>
      </p:sp>
      <p:sp>
        <p:nvSpPr>
          <p:cNvPr id="18" name="TextBox 17"/>
          <p:cNvSpPr txBox="1"/>
          <p:nvPr/>
        </p:nvSpPr>
        <p:spPr>
          <a:xfrm>
            <a:off x="6278727" y="3319272"/>
            <a:ext cx="5318607" cy="201168"/>
          </a:xfrm>
          <a:prstGeom prst="rect">
            <a:avLst/>
          </a:prstGeom>
          <a:noFill/>
        </p:spPr>
        <p:txBody>
          <a:bodyPr wrap="square" lIns="0" rIns="0" tIns="0" bIns="0" anchor="t">
            <a:spAutoFit/>
          </a:bodyPr>
          <a:lstStyle/>
          <a:p>
            <a:pPr algn="l"/>
            <a:r>
              <a:rPr sz="1000" b="0" i="1">
                <a:solidFill>
                  <a:srgbClr val="4D5258"/>
                </a:solidFill>
                <a:latin typeface="Aptos"/>
              </a:rPr>
              <a:t>23/27 firms reject H0</a:t>
            </a:r>
          </a:p>
        </p:txBody>
      </p:sp>
      <p:sp>
        <p:nvSpPr>
          <p:cNvPr id="19" name="TextBox 18"/>
          <p:cNvSpPr txBox="1"/>
          <p:nvPr/>
        </p:nvSpPr>
        <p:spPr>
          <a:xfrm>
            <a:off x="6278727" y="3557016"/>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paper_results/bsi_panel.csv</a:t>
            </a:r>
          </a:p>
        </p:txBody>
      </p:sp>
      <p:sp>
        <p:nvSpPr>
          <p:cNvPr id="20" name="TextBox 19"/>
          <p:cNvSpPr txBox="1"/>
          <p:nvPr/>
        </p:nvSpPr>
        <p:spPr>
          <a:xfrm>
            <a:off x="6278727" y="3739896"/>
            <a:ext cx="5318607" cy="201168"/>
          </a:xfrm>
          <a:prstGeom prst="rect">
            <a:avLst/>
          </a:prstGeom>
          <a:noFill/>
        </p:spPr>
        <p:txBody>
          <a:bodyPr wrap="square" lIns="0" rIns="0" tIns="0" bIns="0" anchor="t">
            <a:spAutoFit/>
          </a:bodyPr>
          <a:lstStyle/>
          <a:p>
            <a:pPr algn="l"/>
            <a:r>
              <a:rPr sz="1000" b="0" i="1">
                <a:solidFill>
                  <a:srgbClr val="4D5258"/>
                </a:solidFill>
                <a:latin typeface="Aptos"/>
              </a:rPr>
              <a:t>panel headline beta = -0.082</a:t>
            </a:r>
          </a:p>
        </p:txBody>
      </p:sp>
      <p:sp>
        <p:nvSpPr>
          <p:cNvPr id="21" name="TextBox 20"/>
          <p:cNvSpPr txBox="1"/>
          <p:nvPr/>
        </p:nvSpPr>
        <p:spPr>
          <a:xfrm>
            <a:off x="6278727" y="3977640"/>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paper_results/robustness.csv</a:t>
            </a:r>
          </a:p>
        </p:txBody>
      </p:sp>
      <p:sp>
        <p:nvSpPr>
          <p:cNvPr id="22" name="TextBox 21"/>
          <p:cNvSpPr txBox="1"/>
          <p:nvPr/>
        </p:nvSpPr>
        <p:spPr>
          <a:xfrm>
            <a:off x="6278727" y="4160520"/>
            <a:ext cx="5318607" cy="201168"/>
          </a:xfrm>
          <a:prstGeom prst="rect">
            <a:avLst/>
          </a:prstGeom>
          <a:noFill/>
        </p:spPr>
        <p:txBody>
          <a:bodyPr wrap="square" lIns="0" rIns="0" tIns="0" bIns="0" anchor="t">
            <a:spAutoFit/>
          </a:bodyPr>
          <a:lstStyle/>
          <a:p>
            <a:pPr algn="l"/>
            <a:r>
              <a:rPr sz="1000" b="0" i="1">
                <a:solidFill>
                  <a:srgbClr val="4D5258"/>
                </a:solidFill>
                <a:latin typeface="Aptos"/>
              </a:rPr>
              <a:t>alt-threshold sensitivity</a:t>
            </a:r>
          </a:p>
        </p:txBody>
      </p:sp>
      <p:sp>
        <p:nvSpPr>
          <p:cNvPr id="23" name="TextBox 22"/>
          <p:cNvSpPr txBox="1"/>
          <p:nvPr/>
        </p:nvSpPr>
        <p:spPr>
          <a:xfrm>
            <a:off x="6278727" y="4398264"/>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paper_results/baseline_comparison.csv</a:t>
            </a:r>
          </a:p>
        </p:txBody>
      </p:sp>
      <p:sp>
        <p:nvSpPr>
          <p:cNvPr id="24" name="TextBox 23"/>
          <p:cNvSpPr txBox="1"/>
          <p:nvPr/>
        </p:nvSpPr>
        <p:spPr>
          <a:xfrm>
            <a:off x="6278727" y="4581144"/>
            <a:ext cx="5318607" cy="201168"/>
          </a:xfrm>
          <a:prstGeom prst="rect">
            <a:avLst/>
          </a:prstGeom>
          <a:noFill/>
        </p:spPr>
        <p:txBody>
          <a:bodyPr wrap="square" lIns="0" rIns="0" tIns="0" bIns="0" anchor="t">
            <a:spAutoFit/>
          </a:bodyPr>
          <a:lstStyle/>
          <a:p>
            <a:pPr algn="l"/>
            <a:r>
              <a:rPr sz="1000" b="0" i="1">
                <a:solidFill>
                  <a:srgbClr val="4D5258"/>
                </a:solidFill>
                <a:latin typeface="Aptos"/>
              </a:rPr>
              <a:t>macro vs CFPB vs BSI specs</a:t>
            </a:r>
          </a:p>
        </p:txBody>
      </p:sp>
      <p:sp>
        <p:nvSpPr>
          <p:cNvPr id="25" name="TextBox 24"/>
          <p:cNvSpPr txBox="1"/>
          <p:nvPr/>
        </p:nvSpPr>
        <p:spPr>
          <a:xfrm>
            <a:off x="6278727" y="4818888"/>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paper_results/universe_27.csv</a:t>
            </a:r>
          </a:p>
        </p:txBody>
      </p:sp>
      <p:sp>
        <p:nvSpPr>
          <p:cNvPr id="26" name="TextBox 25"/>
          <p:cNvSpPr txBox="1"/>
          <p:nvPr/>
        </p:nvSpPr>
        <p:spPr>
          <a:xfrm>
            <a:off x="6278727" y="5001768"/>
            <a:ext cx="5318607" cy="201168"/>
          </a:xfrm>
          <a:prstGeom prst="rect">
            <a:avLst/>
          </a:prstGeom>
          <a:noFill/>
        </p:spPr>
        <p:txBody>
          <a:bodyPr wrap="square" lIns="0" rIns="0" tIns="0" bIns="0" anchor="t">
            <a:spAutoFit/>
          </a:bodyPr>
          <a:lstStyle/>
          <a:p>
            <a:pPr algn="l"/>
            <a:r>
              <a:rPr sz="1000" b="0" i="1">
                <a:solidFill>
                  <a:srgbClr val="4D5258"/>
                </a:solidFill>
                <a:latin typeface="Aptos"/>
              </a:rPr>
              <a:t>EVENT vs CONTROL classifications</a:t>
            </a:r>
          </a:p>
        </p:txBody>
      </p:sp>
      <p:sp>
        <p:nvSpPr>
          <p:cNvPr id="27" name="TextBox 26"/>
          <p:cNvSpPr txBox="1"/>
          <p:nvPr/>
        </p:nvSpPr>
        <p:spPr>
          <a:xfrm>
            <a:off x="6278727" y="5239512"/>
            <a:ext cx="5318607" cy="201168"/>
          </a:xfrm>
          <a:prstGeom prst="rect">
            <a:avLst/>
          </a:prstGeom>
          <a:noFill/>
        </p:spPr>
        <p:txBody>
          <a:bodyPr wrap="square" lIns="0" rIns="0" tIns="0" bIns="0" anchor="t">
            <a:spAutoFit/>
          </a:bodyPr>
          <a:lstStyle/>
          <a:p>
            <a:pPr algn="l"/>
            <a:r>
              <a:rPr sz="1000" b="1" i="0">
                <a:solidFill>
                  <a:srgbClr val="B83418"/>
                </a:solidFill>
                <a:latin typeface="Cascadia Mono"/>
              </a:rPr>
              <a:t>bloomberg_exports/_combined_AFRMT_prices.csv</a:t>
            </a:r>
          </a:p>
        </p:txBody>
      </p:sp>
      <p:sp>
        <p:nvSpPr>
          <p:cNvPr id="28" name="TextBox 27"/>
          <p:cNvSpPr txBox="1"/>
          <p:nvPr/>
        </p:nvSpPr>
        <p:spPr>
          <a:xfrm>
            <a:off x="6278727" y="5422392"/>
            <a:ext cx="5318607" cy="201168"/>
          </a:xfrm>
          <a:prstGeom prst="rect">
            <a:avLst/>
          </a:prstGeom>
          <a:noFill/>
        </p:spPr>
        <p:txBody>
          <a:bodyPr wrap="square" lIns="0" rIns="0" tIns="0" bIns="0" anchor="t">
            <a:spAutoFit/>
          </a:bodyPr>
          <a:lstStyle/>
          <a:p>
            <a:pPr algn="l"/>
            <a:r>
              <a:rPr sz="1000" b="0" i="1">
                <a:solidFill>
                  <a:srgbClr val="4D5258"/>
                </a:solidFill>
                <a:latin typeface="Aptos"/>
              </a:rPr>
              <a:t>AFRMT junior-tranche prices</a:t>
            </a:r>
          </a:p>
        </p:txBody>
      </p:sp>
      <p:sp>
        <p:nvSpPr>
          <p:cNvPr id="29" name="Rectangle 28"/>
          <p:cNvSpPr/>
          <p:nvPr/>
        </p:nvSpPr>
        <p:spPr>
          <a:xfrm>
            <a:off x="594360" y="5394960"/>
            <a:ext cx="11002975" cy="777240"/>
          </a:xfrm>
          <a:prstGeom prst="rect">
            <a:avLst/>
          </a:prstGeom>
          <a:solidFill>
            <a:srgbClr val="FDE8E0"/>
          </a:solidFill>
          <a:ln w="12700">
            <a:solidFill>
              <a:srgbClr val="E84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486400"/>
            <a:ext cx="1371600" cy="274320"/>
          </a:xfrm>
          <a:prstGeom prst="rect">
            <a:avLst/>
          </a:prstGeom>
          <a:noFill/>
        </p:spPr>
        <p:txBody>
          <a:bodyPr wrap="square" lIns="0" rIns="0" tIns="0" bIns="0" anchor="t">
            <a:spAutoFit/>
          </a:bodyPr>
          <a:lstStyle/>
          <a:p>
            <a:pPr algn="l"/>
            <a:r>
              <a:rPr sz="1000" b="1" i="0">
                <a:solidFill>
                  <a:srgbClr val="B83418"/>
                </a:solidFill>
                <a:latin typeface="Cascadia Mono"/>
              </a:rPr>
              <a:t>GITHUB</a:t>
            </a:r>
          </a:p>
        </p:txBody>
      </p:sp>
      <p:sp>
        <p:nvSpPr>
          <p:cNvPr id="31" name="TextBox 30"/>
          <p:cNvSpPr txBox="1"/>
          <p:nvPr/>
        </p:nvSpPr>
        <p:spPr>
          <a:xfrm>
            <a:off x="2286000" y="5486400"/>
            <a:ext cx="6400800" cy="274320"/>
          </a:xfrm>
          <a:prstGeom prst="rect">
            <a:avLst/>
          </a:prstGeom>
          <a:noFill/>
        </p:spPr>
        <p:txBody>
          <a:bodyPr wrap="square" lIns="0" rIns="0" tIns="0" bIns="0" anchor="t">
            <a:spAutoFit/>
          </a:bodyPr>
          <a:lstStyle/>
          <a:p>
            <a:pPr algn="l"/>
            <a:r>
              <a:rPr sz="1200" b="1" i="0">
                <a:solidFill>
                  <a:srgbClr val="121417"/>
                </a:solidFill>
                <a:latin typeface="Cascadia Mono"/>
              </a:rPr>
              <a:t>github.com/vermasidd1502/bnpl-trap</a:t>
            </a:r>
          </a:p>
        </p:txBody>
      </p:sp>
      <p:sp>
        <p:nvSpPr>
          <p:cNvPr id="32" name="TextBox 31"/>
          <p:cNvSpPr txBox="1"/>
          <p:nvPr/>
        </p:nvSpPr>
        <p:spPr>
          <a:xfrm>
            <a:off x="868680" y="5806440"/>
            <a:ext cx="1371600" cy="274320"/>
          </a:xfrm>
          <a:prstGeom prst="rect">
            <a:avLst/>
          </a:prstGeom>
          <a:noFill/>
        </p:spPr>
        <p:txBody>
          <a:bodyPr wrap="square" lIns="0" rIns="0" tIns="0" bIns="0" anchor="t">
            <a:spAutoFit/>
          </a:bodyPr>
          <a:lstStyle/>
          <a:p>
            <a:pPr algn="l"/>
            <a:r>
              <a:rPr sz="1000" b="1" i="0">
                <a:solidFill>
                  <a:srgbClr val="B83418"/>
                </a:solidFill>
                <a:latin typeface="Cascadia Mono"/>
              </a:rPr>
              <a:t>DROPBOX</a:t>
            </a:r>
          </a:p>
        </p:txBody>
      </p:sp>
      <p:sp>
        <p:nvSpPr>
          <p:cNvPr id="33" name="TextBox 32"/>
          <p:cNvSpPr txBox="1"/>
          <p:nvPr/>
        </p:nvSpPr>
        <p:spPr>
          <a:xfrm>
            <a:off x="2286000" y="5806440"/>
            <a:ext cx="9144000" cy="274320"/>
          </a:xfrm>
          <a:prstGeom prst="rect">
            <a:avLst/>
          </a:prstGeom>
          <a:noFill/>
        </p:spPr>
        <p:txBody>
          <a:bodyPr wrap="square" lIns="0" rIns="0" tIns="0" bIns="0" anchor="t">
            <a:spAutoFit/>
          </a:bodyPr>
          <a:lstStyle/>
          <a:p>
            <a:pPr algn="l"/>
            <a:r>
              <a:rPr sz="1200" b="0" i="0">
                <a:solidFill>
                  <a:srgbClr val="22262B"/>
                </a:solidFill>
                <a:latin typeface="Aptos"/>
              </a:rPr>
              <a:t>830 MB bundle  ·  paper + deck + data + pod  ·  link in submission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